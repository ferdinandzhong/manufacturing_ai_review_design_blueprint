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99" r:id="rId1"/>
  </p:sldMasterIdLst>
  <p:notesMasterIdLst>
    <p:notesMasterId r:id="rId106"/>
  </p:notesMasterIdLst>
  <p:sldIdLst>
    <p:sldId id="256" r:id="rId32"/>
    <p:sldId id="265" r:id="rId41"/>
    <p:sldId id="264" r:id="rId40"/>
    <p:sldId id="277" r:id="rId136"/>
    <p:sldId id="267" r:id="rId4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7"/>
      <p:bold r:id="rId108"/>
      <p:italic r:id="rId109"/>
      <p:boldItalic r:id="rId110"/>
    </p:embeddedFont>
    <p:embeddedFont>
      <p:font typeface="Ole" pitchFamily="2" charset="77"/>
      <p:regular r:id="rId111"/>
    </p:embeddedFont>
    <p:embeddedFont>
      <p:font typeface="Plus Jakarta Sans" pitchFamily="2" charset="77"/>
      <p:regular r:id="rId112"/>
      <p:bold r:id="rId113"/>
      <p:italic r:id="rId114"/>
      <p:boldItalic r:id="rId115"/>
    </p:embeddedFont>
    <p:embeddedFont>
      <p:font typeface="Plus Jakarta Sans Medium" pitchFamily="2" charset="77"/>
      <p:regular r:id="rId116"/>
      <p:bold r:id="rId117"/>
      <p:italic r:id="rId118"/>
      <p:boldItalic r:id="rId119"/>
    </p:embeddedFont>
    <p:embeddedFont>
      <p:font typeface="Plus Jakarta Sans SemiBold" pitchFamily="2" charset="77"/>
      <p:regular r:id="rId120"/>
      <p:bold r:id="rId121"/>
      <p:italic r:id="rId122"/>
      <p:boldItalic r:id="rId123"/>
    </p:embeddedFont>
    <p:embeddedFont>
      <p:font typeface="Roboto" panose="02000000000000000000" pitchFamily="2" charset="0"/>
      <p:regular r:id="rId124"/>
      <p:bold r:id="rId125"/>
      <p:italic r:id="rId126"/>
      <p:boldItalic r:id="rId127"/>
    </p:embeddedFont>
    <p:embeddedFont>
      <p:font typeface="Roboto Medium" panose="02000000000000000000" pitchFamily="2" charset="0"/>
      <p:regular r:id="rId128"/>
      <p:italic r:id="rId1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04">
          <p15:clr>
            <a:srgbClr val="A4A3A4"/>
          </p15:clr>
        </p15:guide>
        <p15:guide id="2" orient="horz" pos="111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468">
          <p15:clr>
            <a:srgbClr val="A4A3A4"/>
          </p15:clr>
        </p15:guide>
        <p15:guide id="5" pos="5712">
          <p15:clr>
            <a:srgbClr val="A4A3A4"/>
          </p15:clr>
        </p15:guide>
        <p15:guide id="6" pos="5472">
          <p15:clr>
            <a:srgbClr val="A4A3A4"/>
          </p15:clr>
        </p15:guide>
        <p15:guide id="7" pos="2406">
          <p15:clr>
            <a:srgbClr val="A4A3A4"/>
          </p15:clr>
        </p15:guide>
        <p15:guide id="8" pos="288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9582DA-7351-A646-8E96-B5D95B6C604D}" v="6" dt="2026-06-17T00:39:48.484"/>
  </p1510:revLst>
</p1510:revInfo>
</file>

<file path=ppt/tableStyles.xml><?xml version="1.0" encoding="utf-8"?>
<a:tblStyleLst xmlns:a="http://schemas.openxmlformats.org/drawingml/2006/main" def="{0CE11472-B178-4F18-A4E2-8DCD887C2EC8}">
  <a:tblStyle styleId="{0CE11472-B178-4F18-A4E2-8DCD887C2EC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897C94B-04B3-428A-A658-A1DC7A7E1A2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A3EDA7-44CA-48E2-94A0-D33B7F636C58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E9E6"/>
          </a:solidFill>
        </a:fill>
      </a:tcStyle>
    </a:wholeTbl>
    <a:band1H>
      <a:tcTxStyle/>
      <a:tcStyle>
        <a:tcBdr/>
        <a:fill>
          <a:solidFill>
            <a:srgbClr val="FFD0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D0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3204"/>
        <p:guide orient="horz" pos="1113"/>
        <p:guide orient="horz" pos="288"/>
        <p:guide orient="horz" pos="468"/>
        <p:guide pos="5712"/>
        <p:guide pos="5472"/>
        <p:guide pos="2406"/>
        <p:guide pos="288"/>
      </p:guideLst>
    </p:cSldViewPr>
  </p:slideViewPr>
  <p:notesTextViewPr>
    <p:cViewPr>
      <p:scale>
        <a:sx n="1" d="1"/>
        <a:sy n="1" d="1"/>
      </p:scale>
      <p:origin x="0" y="-1832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2" Type="http://schemas.openxmlformats.org/officeDocument/2006/relationships/slide" Target="slides/slide1.xml"/><Relationship Id="rId40" Type="http://schemas.openxmlformats.org/officeDocument/2006/relationships/slide" Target="slides/slide3.xml"/><Relationship Id="rId41" Type="http://schemas.openxmlformats.org/officeDocument/2006/relationships/slide" Target="slides/slide2.xml"/><Relationship Id="rId43" Type="http://schemas.openxmlformats.org/officeDocument/2006/relationships/slide" Target="slides/slide5.xml"/><Relationship Id="rId106" Type="http://schemas.openxmlformats.org/officeDocument/2006/relationships/notesMaster" Target="notesMasters/notesMaster1.xml"/><Relationship Id="rId107" Type="http://schemas.openxmlformats.org/officeDocument/2006/relationships/font" Target="fonts/font1.fntdata"/><Relationship Id="rId108" Type="http://schemas.openxmlformats.org/officeDocument/2006/relationships/font" Target="fonts/font2.fntdata"/><Relationship Id="rId109" Type="http://schemas.openxmlformats.org/officeDocument/2006/relationships/font" Target="fonts/font3.fntdata"/><Relationship Id="rId110" Type="http://schemas.openxmlformats.org/officeDocument/2006/relationships/font" Target="fonts/font4.fntdata"/><Relationship Id="rId111" Type="http://schemas.openxmlformats.org/officeDocument/2006/relationships/font" Target="fonts/font5.fntdata"/><Relationship Id="rId112" Type="http://schemas.openxmlformats.org/officeDocument/2006/relationships/font" Target="fonts/font6.fntdata"/><Relationship Id="rId113" Type="http://schemas.openxmlformats.org/officeDocument/2006/relationships/font" Target="fonts/font7.fntdata"/><Relationship Id="rId114" Type="http://schemas.openxmlformats.org/officeDocument/2006/relationships/font" Target="fonts/font8.fntdata"/><Relationship Id="rId115" Type="http://schemas.openxmlformats.org/officeDocument/2006/relationships/font" Target="fonts/font9.fntdata"/><Relationship Id="rId116" Type="http://schemas.openxmlformats.org/officeDocument/2006/relationships/font" Target="fonts/font10.fntdata"/><Relationship Id="rId117" Type="http://schemas.openxmlformats.org/officeDocument/2006/relationships/font" Target="fonts/font11.fntdata"/><Relationship Id="rId118" Type="http://schemas.openxmlformats.org/officeDocument/2006/relationships/font" Target="fonts/font12.fntdata"/><Relationship Id="rId119" Type="http://schemas.openxmlformats.org/officeDocument/2006/relationships/font" Target="fonts/font13.fntdata"/><Relationship Id="rId120" Type="http://schemas.openxmlformats.org/officeDocument/2006/relationships/font" Target="fonts/font14.fntdata"/><Relationship Id="rId121" Type="http://schemas.openxmlformats.org/officeDocument/2006/relationships/font" Target="fonts/font15.fntdata"/><Relationship Id="rId122" Type="http://schemas.openxmlformats.org/officeDocument/2006/relationships/font" Target="fonts/font16.fntdata"/><Relationship Id="rId123" Type="http://schemas.openxmlformats.org/officeDocument/2006/relationships/font" Target="fonts/font17.fntdata"/><Relationship Id="rId124" Type="http://schemas.openxmlformats.org/officeDocument/2006/relationships/font" Target="fonts/font18.fntdata"/><Relationship Id="rId125" Type="http://schemas.openxmlformats.org/officeDocument/2006/relationships/font" Target="fonts/font19.fntdata"/><Relationship Id="rId126" Type="http://schemas.openxmlformats.org/officeDocument/2006/relationships/font" Target="fonts/font20.fntdata"/><Relationship Id="rId127" Type="http://schemas.openxmlformats.org/officeDocument/2006/relationships/font" Target="fonts/font21.fntdata"/><Relationship Id="rId128" Type="http://schemas.openxmlformats.org/officeDocument/2006/relationships/font" Target="fonts/font22.fntdata"/><Relationship Id="rId129" Type="http://schemas.openxmlformats.org/officeDocument/2006/relationships/font" Target="fonts/font23.fntdata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Relationship Id="rId134" Type="http://schemas.microsoft.com/office/2016/11/relationships/changesInfo" Target="changesInfos/changesInfo1.xml"/><Relationship Id="rId135" Type="http://schemas.microsoft.com/office/2015/10/relationships/revisionInfo" Target="revisionInfo.xml"/><Relationship Id="rId13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 Zeng" userId="7e33f5047b6fb5ba" providerId="LiveId" clId="{446AF4C9-5D80-568D-8083-2D04ED5A5974}"/>
    <pc:docChg chg="undo custSel addSld delSld modSld sldOrd">
      <pc:chgData name="Zhen Zeng" userId="7e33f5047b6fb5ba" providerId="LiveId" clId="{446AF4C9-5D80-568D-8083-2D04ED5A5974}" dt="2026-06-16T23:45:43.615" v="25"/>
      <pc:docMkLst>
        <pc:docMk/>
      </pc:docMkLst>
      <pc:sldChg chg="ord">
        <pc:chgData name="Zhen Zeng" userId="7e33f5047b6fb5ba" providerId="LiveId" clId="{446AF4C9-5D80-568D-8083-2D04ED5A5974}" dt="2026-06-16T23:44:31.336" v="9" actId="20578"/>
        <pc:sldMkLst>
          <pc:docMk/>
          <pc:sldMk cId="0" sldId="256"/>
        </pc:sldMkLst>
      </pc:sldChg>
      <pc:sldChg chg="del">
        <pc:chgData name="Zhen Zeng" userId="7e33f5047b6fb5ba" providerId="LiveId" clId="{446AF4C9-5D80-568D-8083-2D04ED5A5974}" dt="2026-06-16T23:43:47.835" v="0" actId="2696"/>
        <pc:sldMkLst>
          <pc:docMk/>
          <pc:sldMk cId="0" sldId="259"/>
        </pc:sldMkLst>
      </pc:sldChg>
      <pc:sldChg chg="ord">
        <pc:chgData name="Zhen Zeng" userId="7e33f5047b6fb5ba" providerId="LiveId" clId="{446AF4C9-5D80-568D-8083-2D04ED5A5974}" dt="2026-06-16T23:43:54.298" v="1" actId="20578"/>
        <pc:sldMkLst>
          <pc:docMk/>
          <pc:sldMk cId="0" sldId="261"/>
        </pc:sldMkLst>
      </pc:sldChg>
      <pc:sldChg chg="del ord">
        <pc:chgData name="Zhen Zeng" userId="7e33f5047b6fb5ba" providerId="LiveId" clId="{446AF4C9-5D80-568D-8083-2D04ED5A5974}" dt="2026-06-16T23:44:58.904" v="10" actId="2696"/>
        <pc:sldMkLst>
          <pc:docMk/>
          <pc:sldMk cId="0" sldId="262"/>
        </pc:sldMkLst>
      </pc:sldChg>
      <pc:sldChg chg="add">
        <pc:chgData name="Zhen Zeng" userId="7e33f5047b6fb5ba" providerId="LiveId" clId="{446AF4C9-5D80-568D-8083-2D04ED5A5974}" dt="2026-06-16T23:45:35.293" v="23"/>
        <pc:sldMkLst>
          <pc:docMk/>
          <pc:sldMk cId="969059822" sldId="262"/>
        </pc:sldMkLst>
      </pc:sldChg>
      <pc:sldChg chg="modSp add del mod">
        <pc:chgData name="Zhen Zeng" userId="7e33f5047b6fb5ba" providerId="LiveId" clId="{446AF4C9-5D80-568D-8083-2D04ED5A5974}" dt="2026-06-16T23:45:21.890" v="22" actId="2696"/>
        <pc:sldMkLst>
          <pc:docMk/>
          <pc:sldMk cId="3536676793" sldId="262"/>
        </pc:sldMkLst>
        <pc:spChg chg="mod">
          <ac:chgData name="Zhen Zeng" userId="7e33f5047b6fb5ba" providerId="LiveId" clId="{446AF4C9-5D80-568D-8083-2D04ED5A5974}" dt="2026-06-16T23:45:16.597" v="21" actId="20577"/>
          <ac:spMkLst>
            <pc:docMk/>
            <pc:sldMk cId="3536676793" sldId="262"/>
            <ac:spMk id="411" creationId="{00000000-0000-0000-0000-000000000000}"/>
          </ac:spMkLst>
        </pc:spChg>
      </pc:sldChg>
      <pc:sldChg chg="del">
        <pc:chgData name="Zhen Zeng" userId="7e33f5047b6fb5ba" providerId="LiveId" clId="{446AF4C9-5D80-568D-8083-2D04ED5A5974}" dt="2026-06-16T23:44:03.867" v="3" actId="2696"/>
        <pc:sldMkLst>
          <pc:docMk/>
          <pc:sldMk cId="0" sldId="266"/>
        </pc:sldMkLst>
      </pc:sldChg>
      <pc:sldChg chg="add">
        <pc:chgData name="Zhen Zeng" userId="7e33f5047b6fb5ba" providerId="LiveId" clId="{446AF4C9-5D80-568D-8083-2D04ED5A5974}" dt="2026-06-16T23:44:06.659" v="5"/>
        <pc:sldMkLst>
          <pc:docMk/>
          <pc:sldMk cId="1870533493" sldId="266"/>
        </pc:sldMkLst>
      </pc:sldChg>
      <pc:sldChg chg="modSp">
        <pc:chgData name="Zhen Zeng" userId="7e33f5047b6fb5ba" providerId="LiveId" clId="{446AF4C9-5D80-568D-8083-2D04ED5A5974}" dt="2026-06-16T23:44:03.868" v="4"/>
        <pc:sldMkLst>
          <pc:docMk/>
          <pc:sldMk cId="0" sldId="267"/>
        </pc:sldMkLst>
        <pc:graphicFrameChg chg="mod">
          <ac:chgData name="Zhen Zeng" userId="7e33f5047b6fb5ba" providerId="LiveId" clId="{446AF4C9-5D80-568D-8083-2D04ED5A5974}" dt="2026-06-16T23:44:03.868" v="4"/>
          <ac:graphicFrameMkLst>
            <pc:docMk/>
            <pc:sldMk cId="0" sldId="267"/>
            <ac:graphicFrameMk id="448" creationId="{00000000-0000-0000-0000-000000000000}"/>
          </ac:graphicFrameMkLst>
        </pc:graphicFrameChg>
      </pc:sldChg>
      <pc:sldChg chg="del">
        <pc:chgData name="Zhen Zeng" userId="7e33f5047b6fb5ba" providerId="LiveId" clId="{446AF4C9-5D80-568D-8083-2D04ED5A5974}" dt="2026-06-16T23:44:24.026" v="6" actId="2696"/>
        <pc:sldMkLst>
          <pc:docMk/>
          <pc:sldMk cId="0" sldId="275"/>
        </pc:sldMkLst>
      </pc:sldChg>
      <pc:sldChg chg="add">
        <pc:chgData name="Zhen Zeng" userId="7e33f5047b6fb5ba" providerId="LiveId" clId="{446AF4C9-5D80-568D-8083-2D04ED5A5974}" dt="2026-06-16T23:44:27.469" v="7"/>
        <pc:sldMkLst>
          <pc:docMk/>
          <pc:sldMk cId="4167948949" sldId="275"/>
        </pc:sldMkLst>
      </pc:sldChg>
      <pc:sldChg chg="del">
        <pc:chgData name="Zhen Zeng" userId="7e33f5047b6fb5ba" providerId="LiveId" clId="{446AF4C9-5D80-568D-8083-2D04ED5A5974}" dt="2026-06-16T23:44:24.026" v="6" actId="2696"/>
        <pc:sldMkLst>
          <pc:docMk/>
          <pc:sldMk cId="0" sldId="277"/>
        </pc:sldMkLst>
      </pc:sldChg>
      <pc:sldChg chg="add">
        <pc:chgData name="Zhen Zeng" userId="7e33f5047b6fb5ba" providerId="LiveId" clId="{446AF4C9-5D80-568D-8083-2D04ED5A5974}" dt="2026-06-16T23:44:27.469" v="7"/>
        <pc:sldMkLst>
          <pc:docMk/>
          <pc:sldMk cId="1653770309" sldId="277"/>
        </pc:sldMkLst>
      </pc:sldChg>
      <pc:sldChg chg="del">
        <pc:chgData name="Zhen Zeng" userId="7e33f5047b6fb5ba" providerId="LiveId" clId="{446AF4C9-5D80-568D-8083-2D04ED5A5974}" dt="2026-06-16T23:45:36.918" v="24" actId="2696"/>
        <pc:sldMkLst>
          <pc:docMk/>
          <pc:sldMk cId="0" sldId="360"/>
        </pc:sldMkLst>
      </pc:sldChg>
      <pc:sldChg chg="add">
        <pc:chgData name="Zhen Zeng" userId="7e33f5047b6fb5ba" providerId="LiveId" clId="{446AF4C9-5D80-568D-8083-2D04ED5A5974}" dt="2026-06-16T23:45:43.615" v="25"/>
        <pc:sldMkLst>
          <pc:docMk/>
          <pc:sldMk cId="4171439880" sldId="360"/>
        </pc:sldMkLst>
      </pc:sldChg>
      <pc:sldMasterChg chg="delSldLayout">
        <pc:chgData name="Zhen Zeng" userId="7e33f5047b6fb5ba" providerId="LiveId" clId="{446AF4C9-5D80-568D-8083-2D04ED5A5974}" dt="2026-06-16T23:44:58.904" v="10" actId="2696"/>
        <pc:sldMasterMkLst>
          <pc:docMk/>
          <pc:sldMasterMk cId="0" sldId="2147483699"/>
        </pc:sldMasterMkLst>
        <pc:sldLayoutChg chg="del">
          <pc:chgData name="Zhen Zeng" userId="7e33f5047b6fb5ba" providerId="LiveId" clId="{446AF4C9-5D80-568D-8083-2D04ED5A5974}" dt="2026-06-16T23:43:47.835" v="0" actId="2696"/>
          <pc:sldLayoutMkLst>
            <pc:docMk/>
            <pc:sldMasterMk cId="0" sldId="2147483699"/>
            <pc:sldLayoutMk cId="0" sldId="2147483648"/>
          </pc:sldLayoutMkLst>
        </pc:sldLayoutChg>
        <pc:sldLayoutChg chg="del">
          <pc:chgData name="Zhen Zeng" userId="7e33f5047b6fb5ba" providerId="LiveId" clId="{446AF4C9-5D80-568D-8083-2D04ED5A5974}" dt="2026-06-16T23:44:58.904" v="10" actId="2696"/>
          <pc:sldLayoutMkLst>
            <pc:docMk/>
            <pc:sldMasterMk cId="0" sldId="2147483699"/>
            <pc:sldLayoutMk cId="0" sldId="214748365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le"/>
              <a:ea typeface="Ole"/>
              <a:cs typeface="Ole"/>
              <a:sym typeface="Ol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开场。客户看了demo后有尽快推进的意向(方向已定)。今天讲PH1(AI基座)提案+三阶段路径。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图2 在图1上叠 BI 前端(App Service)。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三入口一架构。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治理=PII三道防线。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Left | White">
  <p:cSld name="4_Custom Layout_2_1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sz="1300" b="0" i="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marL="1828800" lvl="3" indent="-2794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marL="2286000" lvl="4" indent="-279400" algn="l"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l="49" t="23652" r="28735" b="9228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2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Nodes on the Left | Twilight">
  <p:cSld name="4_Custom Layout_2_1_1">
    <p:bg>
      <p:bgPr>
        <a:solidFill>
          <a:schemeClr val="dk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sz="1300" b="0" i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794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marL="2286000" lvl="4" indent="-279400" algn="l"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l="-42" t="23551" r="28736" b="9175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Slide | Nodes at the Bottom | Orange">
  <p:cSld name="4_Custom Layout_1_1">
    <p:bg>
      <p:bgPr>
        <a:solidFill>
          <a:schemeClr val="accen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 l="16421" t="662" r="40903" b="3387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1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| Blue Nodes on the Right">
  <p:cSld name="3_Custom Layou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sz="1300" b="0" i="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body" idx="2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 l="36260" t="3129" r="-4650" b="1167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Orange">
  <p:cSld name="38_Title and Content">
    <p:bg>
      <p:bgPr>
        <a:solidFill>
          <a:schemeClr val="accen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"/>
          <p:cNvPicPr preferRelativeResize="0"/>
          <p:nvPr/>
        </p:nvPicPr>
        <p:blipFill rotWithShape="1">
          <a:blip r:embed="rId2">
            <a:alphaModFix/>
          </a:blip>
          <a:srcRect t="17801" r="31295" b="47334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 b="0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Page | Twilight">
  <p:cSld name="44_Title and Content">
    <p:bg>
      <p:bgPr>
        <a:solidFill>
          <a:schemeClr val="dk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t="17732" r="31295" b="4718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 b="0" i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75" name="Google Shape;7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MARY_Title &amp; Body | White">
  <p:cSld name="6_Title Only_3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954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MARY_Title &amp; Sub | White 1">
  <p:cSld name="6_Title Only_3_1_4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| Twilight">
  <p:cSld name="6_Title Only_3_1_2">
    <p:bg>
      <p:bgPr>
        <a:solidFill>
          <a:schemeClr val="dk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25980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">
  <p:cSld name="6_Title Only_3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body" idx="2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 rtl="0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marL="1371600" lvl="2" indent="-36576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 | Twilight">
  <p:cSld name="6_Title Only_3_1_1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body" idx="2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ubTitle" idx="3"/>
          </p:nvPr>
        </p:nvSpPr>
        <p:spPr>
          <a:xfrm>
            <a:off x="457200" y="631950"/>
            <a:ext cx="42477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y Nodes Top Right">
  <p:cSld name="6_Title Only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Headline | body">
  <p:cSld name="6_Title Only_2_4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2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spcFirstLastPara="1" wrap="square" lIns="0" tIns="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Headline | Image">
  <p:cSld name="6_Title Only_2_4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spcFirstLastPara="1" wrap="square" lIns="0" tIns="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7"/>
          <p:cNvSpPr>
            <a:spLocks noGrp="1"/>
          </p:cNvSpPr>
          <p:nvPr>
            <p:ph type="pic" idx="2"/>
          </p:nvPr>
        </p:nvSpPr>
        <p:spPr>
          <a:xfrm>
            <a:off x="3486875" y="487250"/>
            <a:ext cx="4138200" cy="4053300"/>
          </a:xfrm>
          <a:prstGeom prst="roundRect">
            <a:avLst>
              <a:gd name="adj" fmla="val 5883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Headline | images">
  <p:cSld name="6_Title Only_2_4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>
            <a:spLocks noGrp="1"/>
          </p:cNvSpPr>
          <p:nvPr>
            <p:ph type="pic" idx="2"/>
          </p:nvPr>
        </p:nvSpPr>
        <p:spPr>
          <a:xfrm>
            <a:off x="5630325" y="497825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24" name="Google Shape;124;p18"/>
          <p:cNvSpPr>
            <a:spLocks noGrp="1"/>
          </p:cNvSpPr>
          <p:nvPr>
            <p:ph type="pic" idx="3"/>
          </p:nvPr>
        </p:nvSpPr>
        <p:spPr>
          <a:xfrm>
            <a:off x="3471325" y="497825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25" name="Google Shape;125;p18"/>
          <p:cNvSpPr>
            <a:spLocks noGrp="1"/>
          </p:cNvSpPr>
          <p:nvPr>
            <p:ph type="pic" idx="4"/>
          </p:nvPr>
        </p:nvSpPr>
        <p:spPr>
          <a:xfrm>
            <a:off x="5630325" y="2603900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26" name="Google Shape;126;p18"/>
          <p:cNvSpPr>
            <a:spLocks noGrp="1"/>
          </p:cNvSpPr>
          <p:nvPr>
            <p:ph type="pic" idx="5"/>
          </p:nvPr>
        </p:nvSpPr>
        <p:spPr>
          <a:xfrm>
            <a:off x="3471325" y="2603900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spcFirstLastPara="1" wrap="square" lIns="0" tIns="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Headline | body _Twilight">
  <p:cSld name="6_Title Only_2_4_3">
    <p:bg>
      <p:bgPr>
        <a:solidFill>
          <a:schemeClr val="accent3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1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body" idx="2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spcFirstLastPara="1" wrap="square" lIns="0" tIns="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Headline | Image 1 _Twilight">
  <p:cSld name="6_Title Only_2_4_2_1">
    <p:bg>
      <p:bgPr>
        <a:solidFill>
          <a:schemeClr val="accent3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spcFirstLastPara="1" wrap="square" lIns="0" tIns="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0"/>
          <p:cNvSpPr>
            <a:spLocks noGrp="1"/>
          </p:cNvSpPr>
          <p:nvPr>
            <p:ph type="pic" idx="2"/>
          </p:nvPr>
        </p:nvSpPr>
        <p:spPr>
          <a:xfrm>
            <a:off x="3486875" y="487250"/>
            <a:ext cx="4138200" cy="4053300"/>
          </a:xfrm>
          <a:prstGeom prst="roundRect">
            <a:avLst>
              <a:gd name="adj" fmla="val 5883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Headline | images 1  _Twilight">
  <p:cSld name="6_Title Only_2_4_1_1">
    <p:bg>
      <p:bgPr>
        <a:solidFill>
          <a:schemeClr val="accent3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>
            <a:spLocks noGrp="1"/>
          </p:cNvSpPr>
          <p:nvPr>
            <p:ph type="pic" idx="2"/>
          </p:nvPr>
        </p:nvSpPr>
        <p:spPr>
          <a:xfrm>
            <a:off x="5630325" y="497825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40" name="Google Shape;140;p21"/>
          <p:cNvSpPr>
            <a:spLocks noGrp="1"/>
          </p:cNvSpPr>
          <p:nvPr>
            <p:ph type="pic" idx="3"/>
          </p:nvPr>
        </p:nvSpPr>
        <p:spPr>
          <a:xfrm>
            <a:off x="3471325" y="497825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41" name="Google Shape;141;p21"/>
          <p:cNvSpPr>
            <a:spLocks noGrp="1"/>
          </p:cNvSpPr>
          <p:nvPr>
            <p:ph type="pic" idx="4"/>
          </p:nvPr>
        </p:nvSpPr>
        <p:spPr>
          <a:xfrm>
            <a:off x="5630325" y="2603900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42" name="Google Shape;142;p21"/>
          <p:cNvSpPr>
            <a:spLocks noGrp="1"/>
          </p:cNvSpPr>
          <p:nvPr>
            <p:ph type="pic" idx="5"/>
          </p:nvPr>
        </p:nvSpPr>
        <p:spPr>
          <a:xfrm>
            <a:off x="3471325" y="2603900"/>
            <a:ext cx="1884000" cy="1884000"/>
          </a:xfrm>
          <a:prstGeom prst="roundRect">
            <a:avLst>
              <a:gd name="adj" fmla="val 8989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</p:spPr>
        <p:txBody>
          <a:bodyPr spcFirstLastPara="1" wrap="square" lIns="0" tIns="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Twilight">
  <p:cSld name="6_Title Only_2_3">
    <p:bg>
      <p:bgPr>
        <a:solidFill>
          <a:schemeClr val="accent3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1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White">
  <p:cSld name="6_Title Only_2_3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subTitle" idx="1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y Nodes Bottom Left">
  <p:cSld name="6_Title Only_2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4"/>
          <p:cNvPicPr preferRelativeResize="0"/>
          <p:nvPr/>
        </p:nvPicPr>
        <p:blipFill rotWithShape="1">
          <a:blip r:embed="rId2">
            <a:alphaModFix amt="30000"/>
          </a:blip>
          <a:srcRect t="24294" r="39649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Right">
  <p:cSld name="6_Title Only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>
            <a:spLocks noGrp="1"/>
          </p:cNvSpPr>
          <p:nvPr>
            <p:ph type="pic" idx="2"/>
          </p:nvPr>
        </p:nvSpPr>
        <p:spPr>
          <a:xfrm>
            <a:off x="4600100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61" name="Google Shape;161;p2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5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ubTitle" idx="3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Right | Twilight">
  <p:cSld name="6_Title Only_1_2">
    <p:bg>
      <p:bgPr>
        <a:solidFill>
          <a:schemeClr val="dk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body" idx="1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6"/>
          <p:cNvSpPr>
            <a:spLocks noGrp="1"/>
          </p:cNvSpPr>
          <p:nvPr>
            <p:ph type="pic" idx="2"/>
          </p:nvPr>
        </p:nvSpPr>
        <p:spPr>
          <a:xfrm>
            <a:off x="4600100" y="1283925"/>
            <a:ext cx="4064100" cy="3261600"/>
          </a:xfrm>
          <a:prstGeom prst="roundRect">
            <a:avLst>
              <a:gd name="adj" fmla="val 6744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68" name="Google Shape;168;p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subTitle" idx="3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line Image on the Left">
  <p:cSld name="6_Title Only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body" idx="1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7"/>
          <p:cNvSpPr>
            <a:spLocks noGrp="1"/>
          </p:cNvSpPr>
          <p:nvPr>
            <p:ph type="pic" idx="2"/>
          </p:nvPr>
        </p:nvSpPr>
        <p:spPr>
          <a:xfrm>
            <a:off x="457200" y="1181567"/>
            <a:ext cx="4064100" cy="3261600"/>
          </a:xfrm>
          <a:prstGeom prst="roundRect">
            <a:avLst>
              <a:gd name="adj" fmla="val 3945"/>
            </a:avLst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74" name="Google Shape;174;p2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ubTitle" idx="3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Layout">
  <p:cSld name="10_Title Only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body" idx="2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body" idx="3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subTitle" idx="4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Layout | Twilight">
  <p:cSld name="10_Title Only_1">
    <p:bg>
      <p:bgPr>
        <a:solidFill>
          <a:schemeClr val="dk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>
            <a:spLocks noGrp="1"/>
          </p:cNvSpPr>
          <p:nvPr>
            <p:ph type="body" idx="1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body" idx="2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body" idx="3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2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subTitle" idx="4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2">
  <p:cSld name="7_Title Onl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"/>
          </p:nvPr>
        </p:nvSpPr>
        <p:spPr>
          <a:xfrm>
            <a:off x="4267200" y="1370012"/>
            <a:ext cx="3962392" cy="1506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 txBox="1">
            <a:spLocks noGrp="1"/>
          </p:cNvSpPr>
          <p:nvPr>
            <p:ph type="subTitle" idx="2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2 1">
  <p:cSld name="7_Title Only_2">
    <p:bg>
      <p:bgPr>
        <a:solidFill>
          <a:schemeClr val="dk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>
            <a:spLocks noGrp="1"/>
          </p:cNvSpPr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1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3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1"/>
          <p:cNvSpPr txBox="1">
            <a:spLocks noGrp="1"/>
          </p:cNvSpPr>
          <p:nvPr>
            <p:ph type="subTitle" idx="2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Left Side Image Right">
  <p:cSld name="7_Title Only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>
            <a:spLocks noGrp="1"/>
          </p:cNvSpPr>
          <p:nvPr>
            <p:ph type="pic" idx="2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04" name="Google Shape;204;p32"/>
          <p:cNvSpPr txBox="1">
            <a:spLocks noGrp="1"/>
          </p:cNvSpPr>
          <p:nvPr>
            <p:ph type="body" idx="1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2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2"/>
          <p:cNvSpPr txBox="1">
            <a:spLocks noGrp="1"/>
          </p:cNvSpPr>
          <p:nvPr>
            <p:ph type="subTitle" idx="3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Left Side Image Right | Twilight">
  <p:cSld name="7_Title Only_1_3">
    <p:bg>
      <p:bgPr>
        <a:solidFill>
          <a:schemeClr val="dk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>
            <a:spLocks noGrp="1"/>
          </p:cNvSpPr>
          <p:nvPr>
            <p:ph type="pic" idx="2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10" name="Google Shape;210;p33"/>
          <p:cNvSpPr txBox="1">
            <a:spLocks noGrp="1"/>
          </p:cNvSpPr>
          <p:nvPr>
            <p:ph type="body" idx="1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3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3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subTitle" idx="3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Right Side Image Left">
  <p:cSld name="7_Title Only_1_2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4"/>
          <p:cNvSpPr txBox="1">
            <a:spLocks noGrp="1"/>
          </p:cNvSpPr>
          <p:nvPr>
            <p:ph type="body" idx="1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3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4"/>
          <p:cNvSpPr>
            <a:spLocks noGrp="1"/>
          </p:cNvSpPr>
          <p:nvPr>
            <p:ph type="pic" idx="2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19" name="Google Shape;219;p34"/>
          <p:cNvSpPr txBox="1">
            <a:spLocks noGrp="1"/>
          </p:cNvSpPr>
          <p:nvPr>
            <p:ph type="subTitle" idx="3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Right Side Image Left | Twilight">
  <p:cSld name="7_Title Only_1_2_1">
    <p:bg>
      <p:bgPr>
        <a:solidFill>
          <a:schemeClr val="dk1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>
            <a:spLocks noGrp="1"/>
          </p:cNvSpPr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35"/>
          <p:cNvSpPr txBox="1">
            <a:spLocks noGrp="1"/>
          </p:cNvSpPr>
          <p:nvPr>
            <p:ph type="body" idx="1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5"/>
          <p:cNvSpPr>
            <a:spLocks noGrp="1"/>
          </p:cNvSpPr>
          <p:nvPr>
            <p:ph type="pic" idx="2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25" name="Google Shape;225;p35"/>
          <p:cNvSpPr txBox="1">
            <a:spLocks noGrp="1"/>
          </p:cNvSpPr>
          <p:nvPr>
            <p:ph type="subTitle" idx="3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Image | White">
  <p:cSld name="7_Title Only_1_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36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36"/>
          <p:cNvSpPr txBox="1">
            <a:spLocks noGrp="1"/>
          </p:cNvSpPr>
          <p:nvPr>
            <p:ph type="body" idx="1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 rtl="0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 rtl="0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2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 rtl="0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 rtl="0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36"/>
          <p:cNvSpPr txBox="1">
            <a:spLocks noGrp="1"/>
          </p:cNvSpPr>
          <p:nvPr>
            <p:ph type="body" idx="3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3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>
            <a:spLocks noGrp="1"/>
          </p:cNvSpPr>
          <p:nvPr>
            <p:ph type="pic" idx="4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33" name="Google Shape;233;p36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6"/>
          <p:cNvSpPr txBox="1">
            <a:spLocks noGrp="1"/>
          </p:cNvSpPr>
          <p:nvPr>
            <p:ph type="subTitle" idx="5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Image | Twilight">
  <p:cSld name="7_Title Only_1_1_2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6" name="Google Shape;236;p37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37"/>
          <p:cNvSpPr txBox="1">
            <a:spLocks noGrp="1"/>
          </p:cNvSpPr>
          <p:nvPr>
            <p:ph type="body" idx="1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body" idx="2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37"/>
          <p:cNvSpPr txBox="1">
            <a:spLocks noGrp="1"/>
          </p:cNvSpPr>
          <p:nvPr>
            <p:ph type="body" idx="3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3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7"/>
          <p:cNvSpPr>
            <a:spLocks noGrp="1"/>
          </p:cNvSpPr>
          <p:nvPr>
            <p:ph type="pic" idx="4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7"/>
          <p:cNvSpPr txBox="1">
            <a:spLocks noGrp="1"/>
          </p:cNvSpPr>
          <p:nvPr>
            <p:ph type="subTitle" idx="5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Twilight">
  <p:cSld name="7_Title Only_1_1_1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8"/>
          <p:cNvPicPr preferRelativeResize="0"/>
          <p:nvPr/>
        </p:nvPicPr>
        <p:blipFill rotWithShape="1">
          <a:blip r:embed="rId2">
            <a:alphaModFix/>
          </a:blip>
          <a:srcRect b="7629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8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p38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48" name="Google Shape;24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8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" name="Google Shape;250;p38"/>
          <p:cNvSpPr txBox="1">
            <a:spLocks noGrp="1"/>
          </p:cNvSpPr>
          <p:nvPr>
            <p:ph type="body" idx="1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38"/>
          <p:cNvSpPr txBox="1">
            <a:spLocks noGrp="1"/>
          </p:cNvSpPr>
          <p:nvPr>
            <p:ph type="body" idx="2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38"/>
          <p:cNvSpPr txBox="1">
            <a:spLocks noGrp="1"/>
          </p:cNvSpPr>
          <p:nvPr>
            <p:ph type="body" idx="3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3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8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5" name="Google Shape;255;p38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Orange">
  <p:cSld name="7_Title Only_1_1_1_1">
    <p:bg>
      <p:bgPr>
        <a:solidFill>
          <a:schemeClr val="accent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39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39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0" name="Google Shape;26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39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2" name="Google Shape;262;p39"/>
          <p:cNvSpPr txBox="1">
            <a:spLocks noGrp="1"/>
          </p:cNvSpPr>
          <p:nvPr>
            <p:ph type="body" idx="1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39"/>
          <p:cNvSpPr txBox="1">
            <a:spLocks noGrp="1"/>
          </p:cNvSpPr>
          <p:nvPr>
            <p:ph type="body" idx="2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39"/>
          <p:cNvSpPr txBox="1">
            <a:spLocks noGrp="1"/>
          </p:cNvSpPr>
          <p:nvPr>
            <p:ph type="body" idx="3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67" name="Google Shape;267;p39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| White">
  <p:cSld name="7_Title Only_1_1_1_1_1">
    <p:bg>
      <p:bgPr>
        <a:solidFill>
          <a:schemeClr val="lt1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0"/>
          <p:cNvPicPr preferRelativeResize="0"/>
          <p:nvPr/>
        </p:nvPicPr>
        <p:blipFill rotWithShape="1">
          <a:blip r:embed="rId2">
            <a:alphaModFix/>
          </a:blip>
          <a:srcRect t="426" b="41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40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w="19050" cap="flat" cmpd="sng">
            <a:solidFill>
              <a:srgbClr val="FF55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40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72" name="Google Shape;27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40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" name="Google Shape;274;p40"/>
          <p:cNvSpPr txBox="1">
            <a:spLocks noGrp="1"/>
          </p:cNvSpPr>
          <p:nvPr>
            <p:ph type="body" idx="1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40"/>
          <p:cNvSpPr txBox="1">
            <a:spLocks noGrp="1"/>
          </p:cNvSpPr>
          <p:nvPr>
            <p:ph type="body" idx="2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40"/>
          <p:cNvSpPr txBox="1">
            <a:spLocks noGrp="1"/>
          </p:cNvSpPr>
          <p:nvPr>
            <p:ph type="body" idx="3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4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79" name="Google Shape;279;p40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1">
  <p:cSld name="8_Title Onl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>
            <a:spLocks noGrp="1"/>
          </p:cNvSpPr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41"/>
          <p:cNvSpPr txBox="1">
            <a:spLocks noGrp="1"/>
          </p:cNvSpPr>
          <p:nvPr>
            <p:ph type="body" idx="1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41"/>
          <p:cNvSpPr/>
          <p:nvPr/>
        </p:nvSpPr>
        <p:spPr>
          <a:xfrm>
            <a:off x="381000" y="0"/>
            <a:ext cx="381000" cy="1027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1"/>
          <p:cNvSpPr/>
          <p:nvPr/>
        </p:nvSpPr>
        <p:spPr>
          <a:xfrm>
            <a:off x="381000" y="897026"/>
            <a:ext cx="762000" cy="22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1"/>
          <p:cNvSpPr txBox="1">
            <a:spLocks noGrp="1"/>
          </p:cNvSpPr>
          <p:nvPr>
            <p:ph type="subTitle" idx="2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on the Right 1 1">
  <p:cSld name="8_Title Only_1"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>
            <a:spLocks noGrp="1"/>
          </p:cNvSpPr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42"/>
          <p:cNvSpPr txBox="1">
            <a:spLocks noGrp="1"/>
          </p:cNvSpPr>
          <p:nvPr>
            <p:ph type="body" idx="1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marL="1371600" lvl="2" indent="-36576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4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2"/>
          <p:cNvSpPr txBox="1">
            <a:spLocks noGrp="1"/>
          </p:cNvSpPr>
          <p:nvPr>
            <p:ph type="subTitle" idx="2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Background Nodes Top Right 2">
  <p:cSld name="32_Title and Content_1">
    <p:bg>
      <p:bgPr>
        <a:solidFill>
          <a:schemeClr val="accent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>
            <a:spLocks noGrp="1"/>
          </p:cNvSpPr>
          <p:nvPr>
            <p:ph type="body" idx="1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4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3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96" name="Google Shape;296;p43"/>
          <p:cNvPicPr preferRelativeResize="0"/>
          <p:nvPr/>
        </p:nvPicPr>
        <p:blipFill rotWithShape="1">
          <a:blip r:embed="rId2">
            <a:alphaModFix amt="30000"/>
          </a:blip>
          <a:srcRect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sz="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98" name="Google Shape;298;p4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3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ilight Background Nodes Top Right 2">
  <p:cSld name="41_Title and Content_1">
    <p:bg>
      <p:bgPr>
        <a:solidFill>
          <a:schemeClr val="dk1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>
            <a:spLocks noGrp="1"/>
          </p:cNvSpPr>
          <p:nvPr>
            <p:ph type="body" idx="1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4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4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4" name="Google Shape;304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ange Nodes Top Right 1">
  <p:cSld name="39_Title and Conten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>
            <a:spLocks noGrp="1"/>
          </p:cNvSpPr>
          <p:nvPr>
            <p:ph type="body" idx="1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308" name="Google Shape;308;p45"/>
          <p:cNvSpPr txBox="1">
            <a:spLocks noGrp="1"/>
          </p:cNvSpPr>
          <p:nvPr>
            <p:ph type="ftr" idx="11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4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5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1" name="Google Shape;311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5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Nodes Top Right">
  <p:cSld name="16_Title Only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46"/>
          <p:cNvSpPr txBox="1">
            <a:spLocks noGrp="1"/>
          </p:cNvSpPr>
          <p:nvPr>
            <p:ph type="body" idx="1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marL="914400" lvl="1" indent="-2286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317" name="Google Shape;317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6"/>
          <p:cNvSpPr txBox="1">
            <a:spLocks noGrp="1"/>
          </p:cNvSpPr>
          <p:nvPr>
            <p:ph type="subTitle" idx="2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Content">
  <p:cSld name="15_Title Only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1" name="Google Shape;321;p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_rounded">
  <p:cSld name="15_Title Only_1_2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4" name="Google Shape;324;p48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5" name="Google Shape;325;p48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8"/>
          <p:cNvSpPr>
            <a:spLocks noGrp="1"/>
          </p:cNvSpPr>
          <p:nvPr>
            <p:ph type="pic" idx="2"/>
          </p:nvPr>
        </p:nvSpPr>
        <p:spPr>
          <a:xfrm>
            <a:off x="103350" y="81900"/>
            <a:ext cx="8950800" cy="4979700"/>
          </a:xfrm>
          <a:prstGeom prst="roundRect">
            <a:avLst>
              <a:gd name="adj" fmla="val 3798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_bleed">
  <p:cSld name="15_Title Only_1_2_1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9" name="Google Shape;329;p49" descr=" 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9"/>
          <p:cNvSpPr>
            <a:spLocks noGrp="1"/>
          </p:cNvSpPr>
          <p:nvPr>
            <p:ph type="pic" idx="2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15_Title Only_1_1">
    <p:bg>
      <p:bgPr>
        <a:solidFill>
          <a:schemeClr val="dk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title | Twilight 3">
  <p:cSld name="6_Title Only_2_3_4">
    <p:bg>
      <p:bgPr>
        <a:solidFill>
          <a:schemeClr val="accent3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| Twilight 3 1">
  <p:cSld name="6_Title Only_2_3_4_1">
    <p:bg>
      <p:bgPr>
        <a:solidFill>
          <a:schemeClr val="accent3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2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52"/>
          <p:cNvSpPr txBox="1">
            <a:spLocks noGrp="1"/>
          </p:cNvSpPr>
          <p:nvPr>
            <p:ph type="subTitle" idx="1"/>
          </p:nvPr>
        </p:nvSpPr>
        <p:spPr>
          <a:xfrm>
            <a:off x="457200" y="631950"/>
            <a:ext cx="4707600" cy="3804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sz="2000" b="0" i="0" u="none" strike="noStrike" cap="non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 sz="1400" b="0" i="0" u="none" strike="noStrike" cap="none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 sz="1200" b="0" i="0" u="none" strike="noStrike" cap="none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SzPts val="1200"/>
              <a:buFont typeface="Arial"/>
              <a:buChar char="•"/>
              <a:defRPr sz="1000" b="0" i="0" u="none" strike="noStrike" cap="none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–"/>
              <a:defRPr sz="1000" b="0" i="0" u="none" strike="noStrike" cap="none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SzPts val="1000"/>
              <a:buFont typeface="Arial"/>
              <a:buChar char="»"/>
              <a:defRPr sz="1000" b="0" i="0" u="none" strike="noStrike" cap="none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sz="600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" name="Google Shape;13;p1" descr=" 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Generic playbook · Cloudera ·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Natural-language answers, reports and recommendations for business users, on the data assets you already own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AI on Your Existing BI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Shared Needs and Pain Points (Same Across Domains)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11480" y="1577379"/>
            <a:ext cx="914400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6344" y="1577379"/>
            <a:ext cx="822960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25880" y="1577379"/>
            <a:ext cx="1746504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0744" y="1577379"/>
            <a:ext cx="1655064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Typical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74215" y="1577379"/>
            <a:ext cx="3494827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9081" y="1577379"/>
            <a:ext cx="3385097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Common pain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69043" y="1577379"/>
            <a:ext cx="2163464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3909" y="1577379"/>
            <a:ext cx="2053733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Expected interaction &amp;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54578"/>
            <a:ext cx="914400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" y="1954578"/>
            <a:ext cx="82296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1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1954578"/>
            <a:ext cx="174650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0744" y="1954578"/>
            <a:ext cx="16550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Revenue Q&amp;A and insights, extensible to orders and opportunities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4215" y="1954578"/>
            <a:ext cx="3494827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2797" y="1954578"/>
            <a:ext cx="33576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Too many dashboards and metrics; the numbers you need are hard to find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9043" y="1954578"/>
            <a:ext cx="216346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7625" y="1954578"/>
            <a:ext cx="202630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Natural-language Q&amp;A · PC + mobile · charts /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606105"/>
            <a:ext cx="914400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" y="2606105"/>
            <a:ext cx="82296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1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Finance ·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2606105"/>
            <a:ext cx="1746504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744" y="2606105"/>
            <a:ext cx="16550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Revenue Q&amp;A and forecasting, ticket Q&amp;A and failure prediction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74215" y="2606105"/>
            <a:ext cx="3494827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2797" y="2606105"/>
            <a:ext cx="33576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Traditional BI delivery is slow and rigid, cannot respond quickly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9043" y="2606105"/>
            <a:ext cx="2163464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7625" y="2606105"/>
            <a:ext cx="202630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Guided dimension / metric filtering · conversation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257631"/>
            <a:ext cx="914400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3257631"/>
            <a:ext cx="82296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1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Quality · 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3257631"/>
            <a:ext cx="174650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3257631"/>
            <a:ext cx="16550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Chart generation, insight reports, root-cause analysis, forecasting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74215" y="3257631"/>
            <a:ext cx="3494827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2797" y="3257631"/>
            <a:ext cx="33576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No anomaly insight or root-cause analysis; recommendations stay manual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9043" y="3257631"/>
            <a:ext cx="216346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7625" y="3257631"/>
            <a:ext cx="202630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Domain analysis reports · charts / PPT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90" y="4046321"/>
            <a:ext cx="8321019" cy="41149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1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Every domain converges on the same ask: </a:t>
            </a:r>
            <a:r>
              <a:rPr b="1" sz="113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drive existing data assets with natural language</a:t>
            </a:r>
            <a:r>
              <a:rPr sz="11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b="1" sz="113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start with accurate answers, then grow into insight and recommendations</a:t>
            </a:r>
            <a:r>
              <a:rPr sz="11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Target Architecture: AI and BI Share One Backend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631950"/>
            <a:ext cx="7560000" cy="380400"/>
          </a:xfrm>
        </p:spPr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BI calls business APIs directly (deterministic); AI calls the same APIs via MCP, on the same governed data platform</a:t>
            </a:r>
          </a:p>
        </p:txBody>
      </p:sp>
      <p:pic>
        <p:nvPicPr>
          <p:cNvPr id="4" name="Picture 3" descr="arch-2b-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143000"/>
            <a:ext cx="5394960" cy="37292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Three Paths to Reuse Existing Assets (3 Entries, 1 Architecture)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11490" y="1577379"/>
            <a:ext cx="665681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6355" y="1577379"/>
            <a:ext cx="555950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7171" y="1577379"/>
            <a:ext cx="1997044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37" y="1577379"/>
            <a:ext cx="1887313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Starting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74215" y="1577379"/>
            <a:ext cx="3494827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9081" y="1577379"/>
            <a:ext cx="3385097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69043" y="1577379"/>
            <a:ext cx="2163464" cy="377199"/>
          </a:xfrm>
          <a:prstGeom prst="rect">
            <a:avLst/>
          </a:prstGeom>
          <a:solidFill>
            <a:srgbClr val="FF5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3909" y="1577379"/>
            <a:ext cx="2053733" cy="377199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Correctness /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90" y="1954578"/>
            <a:ext cx="665681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72" y="1954578"/>
            <a:ext cx="528517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1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7171" y="1954578"/>
            <a:ext cx="199704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5753" y="1954578"/>
            <a:ext cx="185988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Existing BI reports (PowerBI etc.)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4215" y="1954578"/>
            <a:ext cx="3494827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2797" y="1954578"/>
            <a:ext cx="33576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Extract metric logic (DAX / SQL), reproduce on the platform, wrap with MCP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9043" y="1954578"/>
            <a:ext cx="216346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7625" y="1954578"/>
            <a:ext cx="202630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Reconcile against production reports (100% machine-verified)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90" y="2606105"/>
            <a:ext cx="665681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72" y="2606105"/>
            <a:ext cx="528517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1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7171" y="2606105"/>
            <a:ext cx="1997044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5753" y="2606105"/>
            <a:ext cx="185988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Existing backend APIs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74215" y="2606105"/>
            <a:ext cx="3494827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2797" y="2606105"/>
            <a:ext cx="33576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Thin MCP wrapper over existing backends, returns JSON directly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9043" y="2606105"/>
            <a:ext cx="2163464" cy="651526"/>
          </a:xfrm>
          <a:prstGeom prst="rect">
            <a:avLst/>
          </a:prstGeom>
          <a:solidFill>
            <a:srgbClr val="F1F2F7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7625" y="2606105"/>
            <a:ext cx="202630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Production is ground truth; correctness guaranteed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90" y="3257631"/>
            <a:ext cx="665681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72" y="3257631"/>
            <a:ext cx="528517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1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7171" y="3257631"/>
            <a:ext cx="199704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5753" y="3257631"/>
            <a:ext cx="185988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New development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74215" y="3257631"/>
            <a:ext cx="3494827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2797" y="3257631"/>
            <a:ext cx="3357664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Define metric semantics, build the API, wrap with MCP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69043" y="3257631"/>
            <a:ext cx="2163464" cy="6515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7625" y="3257631"/>
            <a:ext cx="2026300" cy="65152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40" b="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Defined from scratch; needs business 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90" y="4046321"/>
            <a:ext cx="8321019" cy="41149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11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All three converge on </a:t>
            </a:r>
            <a:r>
              <a:rPr b="1" sz="113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a business API plus a thin MCP wrapper</a:t>
            </a:r>
            <a:r>
              <a:rPr sz="11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b="1" sz="113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only how the API is obtained differs</a:t>
            </a:r>
            <a:r>
              <a:rPr sz="11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Governed and Trusted: Accurate, Secure, Auditable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Existing BI keeps running; AI adds a natural-language layer on the same governed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62" y="1474506"/>
            <a:ext cx="8115274" cy="54865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>
              <a:spcAft>
                <a:spcPts val="400"/>
              </a:spcAft>
            </a:pPr>
            <a:r>
              <a:rPr sz="14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Trusted answers and compliant data access, </a:t>
            </a:r>
            <a:r>
              <a:rPr b="1" sz="143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guaranteed by design and platform capabilities</a:t>
            </a:r>
            <a:r>
              <a:rPr sz="1430" b="1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35" y="2057451"/>
            <a:ext cx="7909528" cy="42520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marL="242570" indent="-242570">
              <a:spcAft>
                <a:spcPts val="200"/>
              </a:spcAft>
              <a:buClr>
                <a:srgbClr val="FF550C"/>
              </a:buClr>
              <a:buFont typeface="Microsoft YaHei"/>
              <a:buChar char="–"/>
            </a:pPr>
            <a:r>
              <a:rPr b="1" sz="128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① MCP returns aggregates only (data egress)</a:t>
            </a:r>
            <a:r>
              <a:rPr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b="1"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row-level raw data never leaves the platform</a:t>
            </a:r>
            <a:r>
              <a:rPr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, PII never gets out (strongest)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35" y="2551239"/>
            <a:ext cx="7909528" cy="42520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marL="242570" indent="-242570">
              <a:spcAft>
                <a:spcPts val="200"/>
              </a:spcAft>
              <a:buClr>
                <a:srgbClr val="FF550C"/>
              </a:buClr>
              <a:buFont typeface="Microsoft YaHei"/>
              <a:buChar char="–"/>
            </a:pPr>
            <a:r>
              <a:rPr b="1" sz="128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② Execute as the user (doAs + Ranger)</a:t>
            </a:r>
            <a:r>
              <a:rPr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b="1"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row and column permissions enforced per person</a:t>
            </a:r>
            <a:r>
              <a:rPr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, management-tiered access works out of the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35" y="3045028"/>
            <a:ext cx="7909528" cy="42520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marL="242570" indent="-242570">
              <a:spcAft>
                <a:spcPts val="200"/>
              </a:spcAft>
              <a:buClr>
                <a:srgbClr val="FF550C"/>
              </a:buClr>
              <a:buFont typeface="Microsoft YaHei"/>
              <a:buChar char="–"/>
            </a:pPr>
            <a:r>
              <a:rPr b="1" sz="128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③ Reconciled with production reports (accuracy)</a:t>
            </a:r>
            <a:r>
              <a:rPr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b="1"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reproduced logic is machine-verified</a:t>
            </a:r>
            <a:r>
              <a:rPr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, production is the ground truth for answer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35" y="3538816"/>
            <a:ext cx="7909528" cy="42520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marL="242570" indent="-242570">
              <a:spcAft>
                <a:spcPts val="200"/>
              </a:spcAft>
              <a:buClr>
                <a:srgbClr val="FF550C"/>
              </a:buClr>
              <a:buFont typeface="Microsoft YaHei"/>
              <a:buChar char="–"/>
            </a:pPr>
            <a:r>
              <a:rPr b="1" sz="128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④ Evaluation and audit (traceable)</a:t>
            </a:r>
            <a:r>
              <a:rPr sz="1280">
                <a:solidFill>
                  <a:srgbClr val="110046"/>
                </a:solidFill>
                <a:latin typeface="Microsoft YaHei"/>
                <a:ea typeface="Microsoft YaHei"/>
                <a:cs typeface="Microsoft YaHei"/>
              </a:rPr>
              <a:t>: </a:t>
            </a:r>
            <a:r>
              <a:rPr b="1" sz="128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every question is logged and replayable</a:t>
            </a:r>
            <a:r>
              <a:rPr b="1" sz="1280">
                <a:solidFill>
                  <a:srgbClr val="FF550C"/>
                </a:solidFill>
                <a:latin typeface="Microsoft YaHei"/>
                <a:ea typeface="Microsoft YaHei"/>
                <a:cs typeface="Microsoft YaHei"/>
              </a:rPr>
              <a:t>, evaluate before you trust, audit-ready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6875</Words>
  <Application>Microsoft Macintosh PowerPoint</Application>
  <PresentationFormat>On-screen Show (16:9)</PresentationFormat>
  <Paragraphs>1560</Paragraphs>
  <Slides>104</Slides>
  <Notes>104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5" baseType="lpstr">
      <vt:lpstr>Plus Jakarta Sans SemiBold</vt:lpstr>
      <vt:lpstr>Plus Jakarta Sans Medium</vt:lpstr>
      <vt:lpstr>Roboto Medium</vt:lpstr>
      <vt:lpstr>Calibri</vt:lpstr>
      <vt:lpstr>Lato</vt:lpstr>
      <vt:lpstr>Roboto</vt:lpstr>
      <vt:lpstr>Plus Jakarta Sans</vt:lpstr>
      <vt:lpstr>Ole</vt:lpstr>
      <vt:lpstr>Times</vt:lpstr>
      <vt:lpstr>Arial</vt:lpstr>
      <vt:lpstr>Cloudera Brand Theme</vt:lpstr>
      <vt:lpstr>This is a double title headline  for a presentation cover</vt:lpstr>
      <vt:lpstr>Agenda</vt:lpstr>
      <vt:lpstr>Headline Two Column Text</vt:lpstr>
      <vt:lpstr>Headline  One Column Text With Image on Right</vt:lpstr>
      <vt:lpstr>Thank You</vt:lpstr>
      <vt:lpstr>How to Use this Template</vt:lpstr>
      <vt:lpstr>Font: Plus Jakarta Sans</vt:lpstr>
      <vt:lpstr>Colors</vt:lpstr>
      <vt:lpstr>Page Options</vt:lpstr>
      <vt:lpstr>Transition Page</vt:lpstr>
      <vt:lpstr>Transition Page </vt:lpstr>
      <vt:lpstr>This is a double title headline  for a transition slide</vt:lpstr>
      <vt:lpstr>Agenda</vt:lpstr>
      <vt:lpstr>Agenda</vt:lpstr>
      <vt:lpstr>Agenda</vt:lpstr>
      <vt:lpstr>Table of Contents</vt:lpstr>
      <vt:lpstr>Table of Contents</vt:lpstr>
      <vt:lpstr>Headline  One Column Text</vt:lpstr>
      <vt:lpstr>Use a page like this when you want to make an impactful point</vt:lpstr>
      <vt:lpstr>Headline  One Column Text </vt:lpstr>
      <vt:lpstr>Headline Two Column Text </vt:lpstr>
      <vt:lpstr>Use a page like this when you want to make an impactful point </vt:lpstr>
      <vt:lpstr>Use a page like this when you want to make an impactful point </vt:lpstr>
      <vt:lpstr>Headline  One Column Text With Image on Right</vt:lpstr>
      <vt:lpstr>Headline  One Column Text With Image on Left</vt:lpstr>
      <vt:lpstr>Headline  One Column Text With Image on Left</vt:lpstr>
      <vt:lpstr>Headline Left Side Image Right</vt:lpstr>
      <vt:lpstr>Headline Left Side Image Right </vt:lpstr>
      <vt:lpstr>Headline Right Side Image Left</vt:lpstr>
      <vt:lpstr>Headline Right Side Image Left </vt:lpstr>
      <vt:lpstr>Headline  Three Column Text </vt:lpstr>
      <vt:lpstr>Headline  Three Column Text </vt:lpstr>
      <vt:lpstr>Headline  Three Column Table</vt:lpstr>
      <vt:lpstr>Headline  Three Column Table </vt:lpstr>
      <vt:lpstr>Headline  Orange Background</vt:lpstr>
      <vt:lpstr>Headline Quote Image Right</vt:lpstr>
      <vt:lpstr>Headline Quote Image Right</vt:lpstr>
      <vt:lpstr>PowerPoint Presentation</vt:lpstr>
      <vt:lpstr>PowerPoint Presentation</vt:lpstr>
      <vt:lpstr>PowerPoint Presentation</vt:lpstr>
      <vt:lpstr>Headline  White Background</vt:lpstr>
      <vt:lpstr>Headline  Twilight Background</vt:lpstr>
      <vt:lpstr>Headline Orange Pattern on White</vt:lpstr>
      <vt:lpstr>Headline Blue Nova Pattern on White</vt:lpstr>
      <vt:lpstr>Headline Grey Pattern on White</vt:lpstr>
      <vt:lpstr>Headline Grey Pattern on White</vt:lpstr>
      <vt:lpstr>At vero eos et accusamus et iusto odio dignissimos ducimus qui blanditiis praesentium voluptatum deleniti atque corrupti quos dolores et quas molestias excepturi sint occaecati cupiditate</vt:lpstr>
      <vt:lpstr>Headline Stats on the Right</vt:lpstr>
      <vt:lpstr>Bold Statement</vt:lpstr>
      <vt:lpstr>Headline Stats on the Right</vt:lpstr>
      <vt:lpstr>Bold Statement</vt:lpstr>
      <vt:lpstr>Three Column Stat on White Background</vt:lpstr>
      <vt:lpstr>Three Column Stat on Twilight Background</vt:lpstr>
      <vt:lpstr>Three Column Stat on Orange Background</vt:lpstr>
      <vt:lpstr>Headline Two Column Stat on White Background</vt:lpstr>
      <vt:lpstr>Headline Two Column Stat on Twilight Background</vt:lpstr>
      <vt:lpstr>PowerPoint Presentation</vt:lpstr>
      <vt:lpstr>Headline Single Stat on White Background</vt:lpstr>
      <vt:lpstr>PowerPoint Presentation</vt:lpstr>
      <vt:lpstr>Headline Single Stat on Twilight Background</vt:lpstr>
      <vt:lpstr>Headline Callout on Left</vt:lpstr>
      <vt:lpstr>Headline Callout on Left</vt:lpstr>
      <vt:lpstr>Headline Object Example Page</vt:lpstr>
      <vt:lpstr>Headline Orange Background with Numbered List</vt:lpstr>
      <vt:lpstr>Headline White Background with Numbered List</vt:lpstr>
      <vt:lpstr>Headline Orange Background with Numbered List</vt:lpstr>
      <vt:lpstr>Circle Graphic Design 1</vt:lpstr>
      <vt:lpstr>Circle Graphic Design 2</vt:lpstr>
      <vt:lpstr>Circle Graphic Design 3</vt:lpstr>
      <vt:lpstr>Circle Graphic Design 4</vt:lpstr>
      <vt:lpstr>Circle Graphic Design 5</vt:lpstr>
      <vt:lpstr>Circle Graphic Design 5</vt:lpstr>
      <vt:lpstr>Pie Chart Example Copy on Right</vt:lpstr>
      <vt:lpstr>Bar Chart (1) Example Copy on Right </vt:lpstr>
      <vt:lpstr>Bar Chart (2) Example Copy on Right </vt:lpstr>
      <vt:lpstr>Bar Chart (3) Example Design</vt:lpstr>
      <vt:lpstr>Bar Chart (4) Example Design </vt:lpstr>
      <vt:lpstr>Side Pie Chart </vt:lpstr>
      <vt:lpstr>Side Pie Chart </vt:lpstr>
      <vt:lpstr>Table Design 1</vt:lpstr>
      <vt:lpstr>Table Design 2</vt:lpstr>
      <vt:lpstr>At vero eos et accusamus et iusto odio dignissimos ducimus qui blanditiis praesentium voluptatum deleniti atque corrupti quos dolores et quas molestias excepturi sint occaecati cupiditate</vt:lpstr>
      <vt:lpstr>At vero eos et accusamus et iusto odio dignissimos ducimus qui blanditiis praesentium voluptatum deleniti atque corrupti quos dolores et quas molestias excepturi sint occaecati cupiditate</vt:lpstr>
      <vt:lpstr>At vero eos et accusamus et iusto odio dignissimos ducimus qui blanditiis praesentium voluptatum deleniti atque corrupti quos dolores et quas molestias excepturi sint occaecati cupiditate</vt:lpstr>
      <vt:lpstr>Resources</vt:lpstr>
      <vt:lpstr>Icons: 2 color</vt:lpstr>
      <vt:lpstr>Icons: 2 color</vt:lpstr>
      <vt:lpstr>Icons: 2 color</vt:lpstr>
      <vt:lpstr>Icons: White</vt:lpstr>
      <vt:lpstr>Icons: White</vt:lpstr>
      <vt:lpstr>Icons: White</vt:lpstr>
      <vt:lpstr>Cloudera’s Data &amp; AI Evolution</vt:lpstr>
      <vt:lpstr>Headline </vt:lpstr>
      <vt:lpstr>Images for use, commonly used diagrams on the following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Appendices</vt:lpstr>
      <vt:lpstr>This is a double title headline  for a presentation cover</vt:lpstr>
      <vt:lpstr>This is a double title headline  for a presentation cover</vt:lpstr>
      <vt:lpstr>Transition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Sone Shinji</cp:lastModifiedBy>
  <cp:revision>1</cp:revision>
  <dcterms:modified xsi:type="dcterms:W3CDTF">2026-06-17T00:39:51Z</dcterms:modified>
</cp:coreProperties>
</file>