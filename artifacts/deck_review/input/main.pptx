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Plus Jakarta Sans"/>
      <p:regular r:id="rId50"/>
      <p:bold r:id="rId51"/>
      <p:italic r:id="rId52"/>
      <p:boldItalic r:id="rId53"/>
    </p:embeddedFont>
    <p:embeddedFont>
      <p:font typeface="Plus Jakarta Sans SemiBold"/>
      <p:regular r:id="rId54"/>
      <p:bold r:id="rId55"/>
      <p:italic r:id="rId56"/>
      <p:boldItalic r:id="rId57"/>
    </p:embeddedFont>
    <p:embeddedFont>
      <p:font typeface="Plus Jakarta Sans Medium"/>
      <p:regular r:id="rId58"/>
      <p:bold r:id="rId59"/>
      <p:italic r:id="rId60"/>
      <p:boldItalic r:id="rId61"/>
    </p:embeddedFont>
    <p:embeddedFont>
      <p:font typeface="Plus Jakarta Sans Light"/>
      <p:regular r:id="rId62"/>
      <p:bold r:id="rId63"/>
      <p:italic r:id="rId64"/>
      <p:boldItalic r:id="rId65"/>
    </p:embeddedFont>
    <p:embeddedFont>
      <p:font typeface="Ole"/>
      <p:regular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A4A3A4"/>
          </p15:clr>
        </p15:guide>
        <p15:guide id="2" orient="horz" pos="483">
          <p15:clr>
            <a:srgbClr val="A4A3A4"/>
          </p15:clr>
        </p15:guide>
      </p15:sldGuideLst>
    </p:ext>
    <p:ext uri="GoogleSlidesCustomDataVersion2">
      <go:slidesCustomData xmlns:go="http://customooxmlschemas.google.com/" r:id="rId67" roundtripDataSignature="AMtx7mieNva9ypabx3pmk7oX71yU1Lqp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48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PlusJakartaSansLight-regular.fntdata"/><Relationship Id="rId61" Type="http://schemas.openxmlformats.org/officeDocument/2006/relationships/font" Target="fonts/PlusJakartaSansMedium-boldItalic.fntdata"/><Relationship Id="rId20" Type="http://schemas.openxmlformats.org/officeDocument/2006/relationships/slide" Target="slides/slide15.xml"/><Relationship Id="rId64" Type="http://schemas.openxmlformats.org/officeDocument/2006/relationships/font" Target="fonts/PlusJakartaSansLight-italic.fntdata"/><Relationship Id="rId63" Type="http://schemas.openxmlformats.org/officeDocument/2006/relationships/font" Target="fonts/PlusJakartaSansLight-bold.fntdata"/><Relationship Id="rId22" Type="http://schemas.openxmlformats.org/officeDocument/2006/relationships/slide" Target="slides/slide17.xml"/><Relationship Id="rId66" Type="http://schemas.openxmlformats.org/officeDocument/2006/relationships/font" Target="fonts/Ole-regular.fntdata"/><Relationship Id="rId21" Type="http://schemas.openxmlformats.org/officeDocument/2006/relationships/slide" Target="slides/slide16.xml"/><Relationship Id="rId65" Type="http://schemas.openxmlformats.org/officeDocument/2006/relationships/font" Target="fonts/PlusJakartaSansLight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customschemas.google.com/relationships/presentationmetadata" Target="metadata"/><Relationship Id="rId60" Type="http://schemas.openxmlformats.org/officeDocument/2006/relationships/font" Target="fonts/PlusJakartaSansMedium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lusJakartaSans-bold.fntdata"/><Relationship Id="rId50" Type="http://schemas.openxmlformats.org/officeDocument/2006/relationships/font" Target="fonts/PlusJakartaSans-regular.fntdata"/><Relationship Id="rId53" Type="http://schemas.openxmlformats.org/officeDocument/2006/relationships/font" Target="fonts/PlusJakartaSans-boldItalic.fntdata"/><Relationship Id="rId52" Type="http://schemas.openxmlformats.org/officeDocument/2006/relationships/font" Target="fonts/PlusJakartaSans-italic.fntdata"/><Relationship Id="rId11" Type="http://schemas.openxmlformats.org/officeDocument/2006/relationships/slide" Target="slides/slide6.xml"/><Relationship Id="rId55" Type="http://schemas.openxmlformats.org/officeDocument/2006/relationships/font" Target="fonts/PlusJakartaSansSemiBold-bold.fntdata"/><Relationship Id="rId10" Type="http://schemas.openxmlformats.org/officeDocument/2006/relationships/slide" Target="slides/slide5.xml"/><Relationship Id="rId54" Type="http://schemas.openxmlformats.org/officeDocument/2006/relationships/font" Target="fonts/PlusJakartaSansSemiBold-regular.fntdata"/><Relationship Id="rId13" Type="http://schemas.openxmlformats.org/officeDocument/2006/relationships/slide" Target="slides/slide8.xml"/><Relationship Id="rId57" Type="http://schemas.openxmlformats.org/officeDocument/2006/relationships/font" Target="fonts/PlusJakartaSansSemiBold-boldItalic.fntdata"/><Relationship Id="rId12" Type="http://schemas.openxmlformats.org/officeDocument/2006/relationships/slide" Target="slides/slide7.xml"/><Relationship Id="rId56" Type="http://schemas.openxmlformats.org/officeDocument/2006/relationships/font" Target="fonts/PlusJakartaSansSemiBold-italic.fntdata"/><Relationship Id="rId15" Type="http://schemas.openxmlformats.org/officeDocument/2006/relationships/slide" Target="slides/slide10.xml"/><Relationship Id="rId59" Type="http://schemas.openxmlformats.org/officeDocument/2006/relationships/font" Target="fonts/PlusJakartaSansMedium-bold.fntdata"/><Relationship Id="rId14" Type="http://schemas.openxmlformats.org/officeDocument/2006/relationships/slide" Target="slides/slide9.xml"/><Relationship Id="rId58" Type="http://schemas.openxmlformats.org/officeDocument/2006/relationships/font" Target="fonts/PlusJakartaSansMedium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1" name="Google Shape;3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f9b3f86724_0_9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f9b3f86724_0_9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g3f9b3f86724_0_9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如果把视野拉远一点看，过去四年讲述的是一个非常清晰的故事，一个自主性不断提升的故事。2023 年，重点全在基础建设：搭建第一个 LLM、跑起一个集群、完成基本集成。2024 年，我们开始扩展，RAG 走向主流，模型具备了多模态能力，我们也看到了第一批真正意义上的 Agent。2025 年，复杂度上来了：推理型智能体、与数据和 API 的深度集成、大规模微调。而现在，到了 2026 年，我们进入了自主性阶段，出现了自我纠错循环、MCP 和「computer use」，以及一门叫做「上下文与 harness 工程」的新学科。核心洞察在于：每一年，我们都在把更多的自主权交给系统。2026 年正是一个转折点，Agent 不再只是助手，而是开始成为操作者。</a:t>
            </a:r>
            <a:endParaRPr/>
          </a:p>
        </p:txBody>
      </p:sp>
      <p:sp>
        <p:nvSpPr>
          <p:cNvPr id="395" name="Google Shape;39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9b3f8672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g3f9b3f8672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9b3f86724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g3f9b3f86724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f9b3f86724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g3f9b3f86724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f9b3f86724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g3f9b3f86724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9b3f86724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2" name="Google Shape;562;g3f9b3f86724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f9b3f86724_0_1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g3f9b3f8672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分隔页。此后内容均为可选内容，请根据申请表中的受众/行业来挑选。</a:t>
            </a:r>
            <a:endParaRPr/>
          </a:p>
        </p:txBody>
      </p:sp>
      <p:sp>
        <p:nvSpPr>
          <p:cNvPr id="586" name="Google Shape;586;g3f9b3f86724_0_1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5" name="Google Shape;6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409c8fc2ecc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5" name="Google Shape;655;g409c8fc2ecc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409c8fc2ecc_0_7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409c8fc2ecc_0_7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409c8fc2ecc_0_7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409c8fc2ecc_0_10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g409c8fc2ecc_0_10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g409c8fc2ecc_0_10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409c8fc2ecc_0_1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g409c8fc2ecc_0_13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g409c8fc2ecc_0_13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409c8fc2ecc_0_15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g409c8fc2ecc_0_15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g409c8fc2ecc_0_15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f9b3f86724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g3f9b3f86724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f9b3f86724_0_5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g3f9b3f86724_0_5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9" name="Google Shape;889;g3f9b3f86724_0_5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4" name="Google Shape;8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3f723343625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01" name="Google Shape;901;g3f723343625_0_4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生产环境中的 AI 必须像软件一样交付，而不是像科研项目那样。这是我们推荐的流程，采用环境隔离。你的机器学习工程师和数据科学家将代码提交到代码仓库；由 CI/CD 编排工具（GitHub Actions、GitLab 或 Jenkins）接手处理；中间设有人工签核关卡；然后由 GitOps 触发器将其推送到 CAI 实例上的生产环境，另一侧配有监控。开发环境和生产环境始终保持清晰隔离。这样，你就能把笔记本中的实验，变成可审计、可复现的成果。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而从这里开始，它就不再只是理论了。刚才提到的那一整套「harness」，Cloudera 已经将其产品化，做成了 Agent Studio。这是一个灵活的低代码到高代码平台，可以通过界面来构建 Agent、工具和多智能体工作流。你可以使用带有 AI 辅助编写功能的智能体工作流构建器；一个工具目录，涵盖内置工具、自定义 Python 工具以及 MCP 工具，这些工具可以在不同工作流之间复用；多 LLM 支持，包括 CAII、Azure OpenAI、Gemini、Anthropic，以及任何兼容 OpenAI 接口的端点；一个带日志和回放功能的测试调试面板；一键部署为 API 端点，并自动生成配套界面；通过 Phoenix 实现内置可观测性；以及可配置的护栏机制。换句话说，这套 harness 已经开箱即用。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90" name="Google Shape;99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0" name="Google Shape;10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我在这里想直说一句，这是我坚持的一个观点：对于生产环境来说，评估的重要性甚至超过提示词工程。任何人都能让一次演示看起来很出色，但问题在于，它能否在成千上万次真实输入中依然保持稳定，而这一点只有实际测量过才能知道。我们搭建了一个针对模型和智能体工作流的评估平台（链接就在这张幻灯片上），可以为你提供可复现的评估流程。如果今天只带走一个运营习惯，那就是：先评估，再信任。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4" name="Google Shape;110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050">
                <a:solidFill>
                  <a:srgbClr val="141414"/>
                </a:solidFill>
                <a:latin typeface="Arial"/>
                <a:ea typeface="Arial"/>
                <a:cs typeface="Arial"/>
                <a:sym typeface="Arial"/>
              </a:rPr>
              <a:t>没有管控的自主性就是一种负担，这一点我之前提到过，而这就是我们应对它的方式，分为三层。第一，内置护栏：一个基于 llm-guard 的集中式、平台原生应用，会在模型处理前后对提示词和回复进行筛查，检测 PII、有害内容、越狱尝试以及策略违规。第二，针对进阶需求，我们与合作伙伴 Galileo.AI 集成，提供基于指标的护栏、链路追踪以及每次运行的质量评分。第三，自定义护栏：任何安全检查都可以打包成一个工具，接入 Agent Studio，比如我们基于正则表达式、Llama Guard 3 和领域策略构建的越狱防护，这样你就能在不改动工作流的情况下扩展或替换防护措施。总的公式是：输入护栏、输出过滤、可观测性和人工监督，四者协同。</a:t>
            </a:r>
            <a:endParaRPr/>
          </a:p>
        </p:txBody>
      </p:sp>
      <p:sp>
        <p:nvSpPr>
          <p:cNvPr id="1124" name="Google Shape;11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2" name="Google Shape;115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0" name="Google Shape;1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f9b3f86724_0_9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1" name="Google Shape;1211;g3f9b3f86724_0_9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2" name="Google Shape;1212;g3f9b3f86724_0_9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3f723343625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17" name="Google Shape;1217;g3f723343625_0_3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f723343625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5" name="Google Shape;1245;g3f723343625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Cloudera 本身并没有原生的图数据库产品，但我们拥有构建高质量知识图谱所需的全部基础组件。 </a:t>
            </a:r>
            <a:br>
              <a:rPr lang="en"/>
            </a:br>
            <a:r>
              <a:rPr lang="en"/>
              <a:t>NiFi 可以直接将数据摄取到 Neo4j 或其他任意图数据库中。 </a:t>
            </a:r>
            <a:br>
              <a:rPr lang="en"/>
            </a:br>
            <a:r>
              <a:rPr lang="en"/>
              <a:t>CDE 可以完成本体映射，Iceberg 则可以存储带版本管理的本体表。 </a:t>
            </a:r>
            <a:br>
              <a:rPr lang="en"/>
            </a:br>
            <a:r>
              <a:rPr lang="en"/>
              <a:t>CAI 可以提供探索性算力，用于运行基因组分析等 AI/ML 工具来丰富图谱内容，或者在原生图数据库工具无法扩展应对超大规模图谱时，执行 PageRank 计算。 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9" name="Google Shape;13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Ole"/>
                <a:ea typeface="Ole"/>
                <a:cs typeface="Ole"/>
                <a:sym typeface="Ole"/>
              </a:rPr>
              <a:t>分隔页。此后内容均为可选内容，请根据申请表中的受众/行业来挑选。</a:t>
            </a:r>
            <a:endParaRPr/>
          </a:p>
        </p:txBody>
      </p:sp>
      <p:sp>
        <p:nvSpPr>
          <p:cNvPr id="1380" name="Google Shape;1380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5" name="Google Shape;13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8" name="Google Shape;141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2" name="Google Shape;144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6" name="Google Shape;146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2" name="Google Shape;150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3" name="Google Shape;1503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 1">
  <p:cSld name="4_Custom Layout_2_1_1_1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723343625_0_330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6" name="Google Shape;16;g3f723343625_0_330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g3f723343625_0_330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8" name="Google Shape;18;g3f723343625_0_3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3f723343625_0_330"/>
          <p:cNvPicPr preferRelativeResize="0"/>
          <p:nvPr/>
        </p:nvPicPr>
        <p:blipFill rotWithShape="1">
          <a:blip r:embed="rId3">
            <a:alphaModFix/>
          </a:blip>
          <a:srcRect b="9176" l="-43" r="28736" t="23552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f723343625_0_330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f723343625_0_330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g3f723343625_0_330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©2025 Cloudera, Inc. All Rights Reserved.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Twilight">
  <p:cSld name="44_Title and Content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g3f723343625_0_62"/>
          <p:cNvPicPr preferRelativeResize="0"/>
          <p:nvPr/>
        </p:nvPicPr>
        <p:blipFill rotWithShape="1">
          <a:blip r:embed="rId2">
            <a:alphaModFix/>
          </a:blip>
          <a:srcRect b="47183" l="0" r="31295" t="17732"/>
          <a:stretch/>
        </p:blipFill>
        <p:spPr>
          <a:xfrm rot="-5400000">
            <a:off x="6827075" y="244375"/>
            <a:ext cx="2561301" cy="207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f723343625_0_62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g3f723343625_0_62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7" name="Google Shape;27;g3f723343625_0_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g3f723343625_0_62"/>
          <p:cNvSpPr/>
          <p:nvPr/>
        </p:nvSpPr>
        <p:spPr>
          <a:xfrm>
            <a:off x="448975" y="4762900"/>
            <a:ext cx="2303100" cy="195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" name="Google Shape;29;g3f723343625_0_62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 1 1">
  <p:cSld name="16_Title Only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723343625_0_33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g3f723343625_0_339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f723343625_0_339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f723343625_0_339"/>
          <p:cNvSpPr txBox="1"/>
          <p:nvPr>
            <p:ph idx="2" type="body"/>
          </p:nvPr>
        </p:nvSpPr>
        <p:spPr>
          <a:xfrm>
            <a:off x="533400" y="1370025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35" name="Google Shape;35;g3f723343625_0_3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Sub | White 1">
  <p:cSld name="6_Title Only_3_1_4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723343625_0_7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f723343625_0_7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f723343625_0_74"/>
          <p:cNvSpPr txBox="1"/>
          <p:nvPr>
            <p:ph idx="1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NO Footer (WHITE)">
  <p:cSld name="Blank NO Footer (WHITE)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Nodes Top Right 1">
  <p:cSld name="39_Title and Content_1"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723343625_0_297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3" name="Google Shape;43;g3f723343625_0_297"/>
          <p:cNvSpPr txBox="1"/>
          <p:nvPr>
            <p:ph idx="11" type="ftr"/>
          </p:nvPr>
        </p:nvSpPr>
        <p:spPr>
          <a:xfrm>
            <a:off x="106675" y="4795501"/>
            <a:ext cx="60390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f723343625_0_29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g3f723343625_0_29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6" name="Google Shape;46;g3f723343625_0_29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f723343625_0_297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 1">
  <p:cSld name="Grey Nodes Top Right (g3f72b3c87a5_8_0)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9b3f86724_0_958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g3f9b3f86724_0_95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f9b3f86724_0_958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Bottom Left">
  <p:cSld name="6_Title Only_2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g3f723343625_0_143"/>
          <p:cNvPicPr preferRelativeResize="0"/>
          <p:nvPr/>
        </p:nvPicPr>
        <p:blipFill rotWithShape="1">
          <a:blip r:embed="rId2">
            <a:alphaModFix amt="30000"/>
          </a:blip>
          <a:srcRect b="0" l="0" r="39650" t="24294"/>
          <a:stretch/>
        </p:blipFill>
        <p:spPr>
          <a:xfrm rot="10800000">
            <a:off x="-1848" y="1080192"/>
            <a:ext cx="2431273" cy="38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g3f723343625_0_143"/>
          <p:cNvSpPr txBox="1"/>
          <p:nvPr>
            <p:ph idx="1" type="body"/>
          </p:nvPr>
        </p:nvSpPr>
        <p:spPr>
          <a:xfrm>
            <a:off x="457200" y="1267650"/>
            <a:ext cx="8077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g3f723343625_0_14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f723343625_0_14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g3f723343625_0_143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Nodes Top Right">
  <p:cSld name="6_Title Only_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23343625_0_95"/>
          <p:cNvSpPr txBox="1"/>
          <p:nvPr>
            <p:ph idx="1" type="body"/>
          </p:nvPr>
        </p:nvSpPr>
        <p:spPr>
          <a:xfrm>
            <a:off x="457200" y="1267650"/>
            <a:ext cx="8077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g3f723343625_0_9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f723343625_0_9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g3f723343625_0_9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f723343625_0_95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ue Nodes Top Right">
  <p:cSld name="16_Title 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723343625_0_30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723343625_0_304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f723343625_0_304"/>
          <p:cNvSpPr txBox="1"/>
          <p:nvPr>
            <p:ph idx="1" type="body"/>
          </p:nvPr>
        </p:nvSpPr>
        <p:spPr>
          <a:xfrm>
            <a:off x="457200" y="1264922"/>
            <a:ext cx="7074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us Jakarta Sans"/>
              <a:buNone/>
              <a:defRPr/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–"/>
              <a:defRPr>
                <a:solidFill>
                  <a:srgbClr val="000000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pic>
        <p:nvPicPr>
          <p:cNvPr id="68" name="Google Shape;68;g3f723343625_0_3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f723343625_0_304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">
  <p:cSld name="6_Title Only_3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723343625_0_83"/>
          <p:cNvSpPr txBox="1"/>
          <p:nvPr>
            <p:ph idx="1" type="body"/>
          </p:nvPr>
        </p:nvSpPr>
        <p:spPr>
          <a:xfrm>
            <a:off x="457200" y="137000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2" name="Google Shape;72;g3f723343625_0_8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3f723343625_0_8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g3f723343625_0_83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75" name="Google Shape;75;g3f723343625_0_83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Content">
  <p:cSld name="15_Title Only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723343625_0_310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8" name="Google Shape;78;g3f723343625_0_310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 1">
  <p:cSld name="38_Title and Content_1">
    <p:bg>
      <p:bgPr>
        <a:solidFill>
          <a:schemeClr val="accen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g3f723343625_0_353"/>
          <p:cNvPicPr preferRelativeResize="0"/>
          <p:nvPr/>
        </p:nvPicPr>
        <p:blipFill rotWithShape="1">
          <a:blip r:embed="rId2">
            <a:alphaModFix/>
          </a:blip>
          <a:srcRect b="47335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f723343625_0_353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g3f723343625_0_353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83" name="Google Shape;83;g3f723343625_0_3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3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f723343625_0_35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1">
  <p:cSld name="2 Column 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723343625_0_346"/>
          <p:cNvSpPr txBox="1"/>
          <p:nvPr>
            <p:ph idx="1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7" name="Google Shape;87;g3f723343625_0_34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723343625_0_34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f723343625_0_346"/>
          <p:cNvSpPr txBox="1"/>
          <p:nvPr>
            <p:ph idx="2" type="body"/>
          </p:nvPr>
        </p:nvSpPr>
        <p:spPr>
          <a:xfrm>
            <a:off x="5334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0" name="Google Shape;90;g3f723343625_0_346"/>
          <p:cNvSpPr txBox="1"/>
          <p:nvPr>
            <p:ph idx="3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1" name="Google Shape;91;g3f723343625_0_346"/>
          <p:cNvSpPr txBox="1"/>
          <p:nvPr>
            <p:ph idx="4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lus Jakarta Sans SemiBold"/>
              <a:buNone/>
              <a:defRPr i="0" sz="1100">
                <a:solidFill>
                  <a:schemeClr val="accent4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4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E5661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">
  <p:cSld name="6_Title Only_3_1_5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723343625_0_41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4" name="Google Shape;94;g3f723343625_0_4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White 1">
  <p:cSld name="6_Title Only_3_1_6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23343625_0_49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97" name="Google Shape;97;g3f723343625_0_4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Right | Twilight">
  <p:cSld name="4_Custom Layout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723343625_0_5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0" name="Google Shape;100;g3f723343625_0_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3f723343625_0_5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f723343625_0_5"/>
          <p:cNvSpPr txBox="1"/>
          <p:nvPr>
            <p:ph type="title"/>
          </p:nvPr>
        </p:nvSpPr>
        <p:spPr>
          <a:xfrm>
            <a:off x="457200" y="1908100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g3f723343625_0_5"/>
          <p:cNvSpPr txBox="1"/>
          <p:nvPr>
            <p:ph idx="2" type="body"/>
          </p:nvPr>
        </p:nvSpPr>
        <p:spPr>
          <a:xfrm>
            <a:off x="457200" y="2604200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g3f723343625_0_5"/>
          <p:cNvSpPr/>
          <p:nvPr/>
        </p:nvSpPr>
        <p:spPr>
          <a:xfrm>
            <a:off x="331875" y="4801925"/>
            <a:ext cx="2404800" cy="187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" name="Google Shape;105;g3f723343625_0_5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White">
  <p:cSld name="4_Custom Layout_2_1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23343625_0_13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8" name="Google Shape;108;g3f723343625_0_13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Plus Jakarta Sans"/>
              <a:buNone/>
              <a:defRPr b="0" i="0" sz="13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Clr>
                <a:srgbClr val="1F2A32"/>
              </a:buClr>
              <a:buSzPts val="1320"/>
              <a:buFont typeface="Plus Jakarta Sans"/>
              <a:buNone/>
              <a:defRPr>
                <a:solidFill>
                  <a:srgbClr val="1F2A32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4E5661"/>
              </a:buClr>
              <a:buSzPts val="1200"/>
              <a:buChar char="•"/>
              <a:defRPr>
                <a:solidFill>
                  <a:srgbClr val="4E566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–"/>
              <a:defRPr>
                <a:solidFill>
                  <a:srgbClr val="4E566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4E5661"/>
              </a:buClr>
              <a:buSzPts val="800"/>
              <a:buChar char="»"/>
              <a:defRPr>
                <a:solidFill>
                  <a:srgbClr val="4E566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g3f723343625_0_13"/>
          <p:cNvSpPr/>
          <p:nvPr/>
        </p:nvSpPr>
        <p:spPr>
          <a:xfrm>
            <a:off x="529300" y="991125"/>
            <a:ext cx="1306200" cy="40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10" name="Google Shape;110;g3f723343625_0_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f723343625_0_13"/>
          <p:cNvPicPr preferRelativeResize="0"/>
          <p:nvPr/>
        </p:nvPicPr>
        <p:blipFill rotWithShape="1">
          <a:blip r:embed="rId3">
            <a:alphaModFix/>
          </a:blip>
          <a:srcRect b="9229" l="50" r="28735" t="23653"/>
          <a:stretch/>
        </p:blipFill>
        <p:spPr>
          <a:xfrm rot="10800000">
            <a:off x="4976" y="-4300"/>
            <a:ext cx="3101374" cy="51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f723343625_0_13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3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g3f723343625_0_13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g3f723343625_0_13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Nodes on the Left | Twilight">
  <p:cSld name="4_Custom Layout_2_1_1"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723343625_0_22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" name="Google Shape;117;g3f723343625_0_22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Plus Jakarta Sans"/>
              <a:buNone/>
              <a:defRPr b="0" i="0" sz="1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129090"/>
              </a:lnSpc>
              <a:spcBef>
                <a:spcPts val="500"/>
              </a:spcBef>
              <a:spcAft>
                <a:spcPts val="0"/>
              </a:spcAft>
              <a:buSzPts val="132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79400" lvl="3" marL="18288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–"/>
              <a:defRPr>
                <a:solidFill>
                  <a:schemeClr val="lt1"/>
                </a:solidFill>
              </a:defRPr>
            </a:lvl4pPr>
            <a:lvl5pPr indent="-279400" lvl="4" marL="228600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g3f723343625_0_22"/>
          <p:cNvSpPr/>
          <p:nvPr/>
        </p:nvSpPr>
        <p:spPr>
          <a:xfrm>
            <a:off x="529300" y="1027300"/>
            <a:ext cx="1306200" cy="4041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19" name="Google Shape;119;g3f723343625_0_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70625" y="1363032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f723343625_0_22"/>
          <p:cNvPicPr preferRelativeResize="0"/>
          <p:nvPr/>
        </p:nvPicPr>
        <p:blipFill rotWithShape="1">
          <a:blip r:embed="rId3">
            <a:alphaModFix/>
          </a:blip>
          <a:srcRect b="9176" l="-43" r="28736" t="23552"/>
          <a:stretch/>
        </p:blipFill>
        <p:spPr>
          <a:xfrm rot="10800000">
            <a:off x="4301" y="-4301"/>
            <a:ext cx="3102049" cy="51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f723343625_0_22"/>
          <p:cNvSpPr txBox="1"/>
          <p:nvPr>
            <p:ph type="title"/>
          </p:nvPr>
        </p:nvSpPr>
        <p:spPr>
          <a:xfrm>
            <a:off x="3670625" y="2160475"/>
            <a:ext cx="5862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f723343625_0_22"/>
          <p:cNvSpPr txBox="1"/>
          <p:nvPr>
            <p:ph idx="2" type="body"/>
          </p:nvPr>
        </p:nvSpPr>
        <p:spPr>
          <a:xfrm>
            <a:off x="3670625" y="2856575"/>
            <a:ext cx="58626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us Jakarta Sans SemiBold"/>
              <a:buNone/>
              <a:defRPr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g3f723343625_0_22"/>
          <p:cNvSpPr/>
          <p:nvPr/>
        </p:nvSpPr>
        <p:spPr>
          <a:xfrm>
            <a:off x="7524900" y="4748600"/>
            <a:ext cx="1239900" cy="210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| Nodes at the Bottom | Orange">
  <p:cSld name="4_Custom Layout_1_1">
    <p:bg>
      <p:bgPr>
        <a:solidFill>
          <a:schemeClr val="accen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723343625_0_31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6" name="Google Shape;126;g3f723343625_0_31"/>
          <p:cNvPicPr preferRelativeResize="0"/>
          <p:nvPr/>
        </p:nvPicPr>
        <p:blipFill rotWithShape="1">
          <a:blip r:embed="rId2">
            <a:alphaModFix/>
          </a:blip>
          <a:srcRect b="3387" l="16421" r="40904" t="662"/>
          <a:stretch/>
        </p:blipFill>
        <p:spPr>
          <a:xfrm rot="5400000">
            <a:off x="2756549" y="-1247399"/>
            <a:ext cx="3630903" cy="91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g3f723343625_0_31"/>
          <p:cNvSpPr/>
          <p:nvPr/>
        </p:nvSpPr>
        <p:spPr>
          <a:xfrm>
            <a:off x="150" y="1473425"/>
            <a:ext cx="9144000" cy="3630900"/>
          </a:xfrm>
          <a:prstGeom prst="rect">
            <a:avLst/>
          </a:prstGeom>
          <a:gradFill>
            <a:gsLst>
              <a:gs pos="0">
                <a:schemeClr val="accent1"/>
              </a:gs>
              <a:gs pos="25000">
                <a:schemeClr val="accent1"/>
              </a:gs>
              <a:gs pos="100000">
                <a:srgbClr val="FFFFFF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" name="Google Shape;128;g3f723343625_0_31"/>
          <p:cNvSpPr txBox="1"/>
          <p:nvPr>
            <p:ph type="title"/>
          </p:nvPr>
        </p:nvSpPr>
        <p:spPr>
          <a:xfrm>
            <a:off x="457200" y="19386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f723343625_0_31"/>
          <p:cNvSpPr txBox="1"/>
          <p:nvPr>
            <p:ph idx="1" type="body"/>
          </p:nvPr>
        </p:nvSpPr>
        <p:spPr>
          <a:xfrm>
            <a:off x="457200" y="26348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lus Jakarta Sans SemiBold"/>
              <a:buNone/>
              <a:defRPr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0" name="Google Shape;130;g3f723343625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f723343625_0_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686452"/>
            <a:ext cx="2321475" cy="28509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f723343625_0_31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 | Blue Nodes on the Right">
  <p:cSld name="3_Custom Layou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723343625_0_40"/>
          <p:cNvSpPr txBox="1"/>
          <p:nvPr>
            <p:ph idx="1" type="body"/>
          </p:nvPr>
        </p:nvSpPr>
        <p:spPr>
          <a:xfrm>
            <a:off x="457200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Plus Jakarta Sans"/>
              <a:buNone/>
              <a:defRPr b="0" i="0" sz="13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5" name="Google Shape;135;g3f723343625_0_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686457"/>
            <a:ext cx="2321469" cy="28509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f723343625_0_40"/>
          <p:cNvSpPr txBox="1"/>
          <p:nvPr>
            <p:ph idx="2" type="body"/>
          </p:nvPr>
        </p:nvSpPr>
        <p:spPr>
          <a:xfrm>
            <a:off x="457200" y="2604207"/>
            <a:ext cx="75438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lus Jakarta Sans SemiBold"/>
              <a:buNone/>
              <a:defRPr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5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F22FE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g3f723343625_0_40"/>
          <p:cNvPicPr preferRelativeResize="0"/>
          <p:nvPr/>
        </p:nvPicPr>
        <p:blipFill rotWithShape="1">
          <a:blip r:embed="rId3">
            <a:alphaModFix/>
          </a:blip>
          <a:srcRect b="1168" l="36260" r="-4651" t="3129"/>
          <a:stretch/>
        </p:blipFill>
        <p:spPr>
          <a:xfrm rot="5400000">
            <a:off x="6285751" y="-113456"/>
            <a:ext cx="2744888" cy="297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f723343625_0_40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9" name="Google Shape;139;g3f723343625_0_40"/>
          <p:cNvSpPr txBox="1"/>
          <p:nvPr>
            <p:ph type="title"/>
          </p:nvPr>
        </p:nvSpPr>
        <p:spPr>
          <a:xfrm>
            <a:off x="457200" y="1908088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1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f723343625_0_40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White ">
  <p:cSld name="30_Title and Conten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3f723343625_0_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34355" y="4452254"/>
            <a:ext cx="1875288" cy="23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3f723343625_0_48"/>
          <p:cNvSpPr/>
          <p:nvPr/>
        </p:nvSpPr>
        <p:spPr>
          <a:xfrm>
            <a:off x="381000" y="209550"/>
            <a:ext cx="381000" cy="6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f723343625_0_48"/>
          <p:cNvPicPr preferRelativeResize="0"/>
          <p:nvPr/>
        </p:nvPicPr>
        <p:blipFill rotWithShape="1">
          <a:blip r:embed="rId3">
            <a:alphaModFix/>
          </a:blip>
          <a:srcRect b="47312" l="110" r="31190" t="17598"/>
          <a:stretch/>
        </p:blipFill>
        <p:spPr>
          <a:xfrm rot="-5400000">
            <a:off x="6830600" y="238375"/>
            <a:ext cx="2567650" cy="207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f723343625_0_48"/>
          <p:cNvSpPr/>
          <p:nvPr/>
        </p:nvSpPr>
        <p:spPr>
          <a:xfrm>
            <a:off x="347525" y="4749625"/>
            <a:ext cx="1795500" cy="28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6" name="Google Shape;146;g3f723343625_0_48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FA"/>
              </a:buClr>
              <a:buSzPts val="1400"/>
              <a:buFont typeface="Plus Jakarta Sans SemiBold"/>
              <a:buNone/>
              <a:defRPr i="0">
                <a:solidFill>
                  <a:srgbClr val="5555F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26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4F22FE"/>
              </a:buClr>
              <a:buSzPts val="1050"/>
              <a:buFont typeface="Arial"/>
              <a:buNone/>
              <a:defRPr sz="105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g3f723343625_0_48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3300"/>
              <a:buFont typeface="Plus Jakarta Sans"/>
              <a:buNone/>
              <a:defRPr b="0" i="0" sz="2300">
                <a:solidFill>
                  <a:srgbClr val="12004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f723343625_0_48"/>
          <p:cNvSpPr/>
          <p:nvPr/>
        </p:nvSpPr>
        <p:spPr>
          <a:xfrm>
            <a:off x="7492100" y="4709250"/>
            <a:ext cx="1299000" cy="30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Page | Orange">
  <p:cSld name="38_Title and Content">
    <p:bg>
      <p:bgPr>
        <a:solidFill>
          <a:schemeClr val="accen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g3f723343625_0_56"/>
          <p:cNvPicPr preferRelativeResize="0"/>
          <p:nvPr/>
        </p:nvPicPr>
        <p:blipFill rotWithShape="1">
          <a:blip r:embed="rId2">
            <a:alphaModFix/>
          </a:blip>
          <a:srcRect b="47335" l="0" r="31295" t="17801"/>
          <a:stretch/>
        </p:blipFill>
        <p:spPr>
          <a:xfrm rot="-5400000">
            <a:off x="6833599" y="250900"/>
            <a:ext cx="2561301" cy="20594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f723343625_0_56"/>
          <p:cNvSpPr txBox="1"/>
          <p:nvPr>
            <p:ph idx="1" type="body"/>
          </p:nvPr>
        </p:nvSpPr>
        <p:spPr>
          <a:xfrm>
            <a:off x="0" y="1533525"/>
            <a:ext cx="9144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 SemiBold"/>
              <a:buNone/>
              <a:defRPr i="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35238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  <a:defRPr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2" name="Google Shape;152;g3f723343625_0_56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us Jakarta Sans"/>
              <a:buNone/>
              <a:defRPr b="0" i="0" sz="2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53" name="Google Shape;153;g3f723343625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4350" y="4452250"/>
            <a:ext cx="1875325" cy="2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f723343625_0_56"/>
          <p:cNvSpPr/>
          <p:nvPr/>
        </p:nvSpPr>
        <p:spPr>
          <a:xfrm>
            <a:off x="261600" y="4630175"/>
            <a:ext cx="2553000" cy="46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MARY_Title &amp; Body | White">
  <p:cSld name="6_Title Only_3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723343625_0_6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723343625_0_6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g3f723343625_0_69"/>
          <p:cNvSpPr txBox="1"/>
          <p:nvPr>
            <p:ph idx="1" type="body"/>
          </p:nvPr>
        </p:nvSpPr>
        <p:spPr>
          <a:xfrm>
            <a:off x="457200" y="1375775"/>
            <a:ext cx="4138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2160"/>
              <a:buChar char="•"/>
              <a:defRPr>
                <a:solidFill>
                  <a:srgbClr val="000000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>
                <a:solidFill>
                  <a:srgbClr val="000000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>
                <a:solidFill>
                  <a:srgbClr val="000000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59" name="Google Shape;159;g3f723343625_0_69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  <p:extLst>
    <p:ext uri="{DCECCB84-F9BA-43D5-87BE-67443E8EF086}">
      <p15:sldGuideLst>
        <p15:guide id="1" orient="horz" pos="954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| Twilight">
  <p:cSld name="6_Title Only_3_1_2"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723343625_0_7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f723343625_0_7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g3f723343625_0_78"/>
          <p:cNvSpPr txBox="1"/>
          <p:nvPr>
            <p:ph idx="1" type="body"/>
          </p:nvPr>
        </p:nvSpPr>
        <p:spPr>
          <a:xfrm>
            <a:off x="457200" y="1369992"/>
            <a:ext cx="42009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g3f723343625_0_78"/>
          <p:cNvSpPr txBox="1"/>
          <p:nvPr>
            <p:ph idx="2" type="subTitle"/>
          </p:nvPr>
        </p:nvSpPr>
        <p:spPr>
          <a:xfrm>
            <a:off x="457200" y="631950"/>
            <a:ext cx="259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 Text | Twilight">
  <p:cSld name="6_Title Only_3_1_1_1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723343625_0_89"/>
          <p:cNvSpPr txBox="1"/>
          <p:nvPr>
            <p:ph idx="1" type="body"/>
          </p:nvPr>
        </p:nvSpPr>
        <p:spPr>
          <a:xfrm>
            <a:off x="457200" y="1267650"/>
            <a:ext cx="38364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g3f723343625_0_8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f723343625_0_8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g3f723343625_0_89"/>
          <p:cNvSpPr txBox="1"/>
          <p:nvPr>
            <p:ph idx="2" type="body"/>
          </p:nvPr>
        </p:nvSpPr>
        <p:spPr>
          <a:xfrm>
            <a:off x="4755900" y="1370000"/>
            <a:ext cx="3760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g3f723343625_0_89"/>
          <p:cNvSpPr txBox="1"/>
          <p:nvPr>
            <p:ph idx="3" type="subTitle"/>
          </p:nvPr>
        </p:nvSpPr>
        <p:spPr>
          <a:xfrm>
            <a:off x="457200" y="631950"/>
            <a:ext cx="42477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">
  <p:cSld name="6_Title Only_2_4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723343625_0_10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g3f723343625_0_1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f723343625_0_101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g3f723343625_0_101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g3f723343625_0_101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">
  <p:cSld name="6_Title Only_2_4_2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23343625_0_10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f723343625_0_107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3f723343625_0_107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">
  <p:cSld name="6_Title Only_2_4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723343625_0_1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3f723343625_0_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723343625_0_111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5" name="Google Shape;185;g3f723343625_0_111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6" name="Google Shape;186;g3f723343625_0_111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7" name="Google Shape;187;g3f723343625_0_111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188" name="Google Shape;188;g3f723343625_0_111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body _Twilight">
  <p:cSld name="6_Title Only_2_4_3">
    <p:bg>
      <p:bgPr>
        <a:solidFill>
          <a:schemeClr val="accent3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723343625_0_11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f723343625_0_119"/>
          <p:cNvSpPr txBox="1"/>
          <p:nvPr>
            <p:ph idx="1" type="body"/>
          </p:nvPr>
        </p:nvSpPr>
        <p:spPr>
          <a:xfrm>
            <a:off x="32323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g3f723343625_0_119"/>
          <p:cNvSpPr txBox="1"/>
          <p:nvPr>
            <p:ph idx="2" type="body"/>
          </p:nvPr>
        </p:nvSpPr>
        <p:spPr>
          <a:xfrm>
            <a:off x="5745750" y="1139450"/>
            <a:ext cx="2513400" cy="36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g3f723343625_0_119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100"/>
              <a:buNone/>
              <a:defRPr sz="3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 1 _Twilight">
  <p:cSld name="6_Title Only_2_4_2_1">
    <p:bg>
      <p:bgPr>
        <a:solidFill>
          <a:schemeClr val="accent3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723343625_0_1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723343625_0_124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7" name="Google Shape;197;g3f723343625_0_124"/>
          <p:cNvSpPr/>
          <p:nvPr>
            <p:ph idx="2" type="pic"/>
          </p:nvPr>
        </p:nvSpPr>
        <p:spPr>
          <a:xfrm>
            <a:off x="3486875" y="487250"/>
            <a:ext cx="4138200" cy="4053300"/>
          </a:xfrm>
          <a:prstGeom prst="roundRect">
            <a:avLst>
              <a:gd fmla="val 5883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Headline | images 1  _Twilight">
  <p:cSld name="6_Title Only_2_4_1_1">
    <p:bg>
      <p:bgPr>
        <a:solidFill>
          <a:schemeClr val="accent3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723343625_0_12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f723343625_0_128"/>
          <p:cNvSpPr/>
          <p:nvPr>
            <p:ph idx="2" type="pic"/>
          </p:nvPr>
        </p:nvSpPr>
        <p:spPr>
          <a:xfrm>
            <a:off x="5630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1" name="Google Shape;201;g3f723343625_0_128"/>
          <p:cNvSpPr/>
          <p:nvPr>
            <p:ph idx="3" type="pic"/>
          </p:nvPr>
        </p:nvSpPr>
        <p:spPr>
          <a:xfrm>
            <a:off x="3471325" y="497825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2" name="Google Shape;202;g3f723343625_0_128"/>
          <p:cNvSpPr/>
          <p:nvPr>
            <p:ph idx="4" type="pic"/>
          </p:nvPr>
        </p:nvSpPr>
        <p:spPr>
          <a:xfrm>
            <a:off x="5630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3" name="Google Shape;203;g3f723343625_0_128"/>
          <p:cNvSpPr/>
          <p:nvPr>
            <p:ph idx="5" type="pic"/>
          </p:nvPr>
        </p:nvSpPr>
        <p:spPr>
          <a:xfrm>
            <a:off x="3471325" y="2603900"/>
            <a:ext cx="1884000" cy="1884000"/>
          </a:xfrm>
          <a:prstGeom prst="roundRect">
            <a:avLst>
              <a:gd fmla="val 8989" name="adj"/>
            </a:avLst>
          </a:prstGeom>
          <a:noFill/>
          <a:ln>
            <a:noFill/>
          </a:ln>
        </p:spPr>
      </p:sp>
      <p:sp>
        <p:nvSpPr>
          <p:cNvPr id="204" name="Google Shape;204;g3f723343625_0_128"/>
          <p:cNvSpPr txBox="1"/>
          <p:nvPr>
            <p:ph type="title"/>
          </p:nvPr>
        </p:nvSpPr>
        <p:spPr>
          <a:xfrm>
            <a:off x="457200" y="1566925"/>
            <a:ext cx="24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None/>
              <a:defRPr sz="3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">
  <p:cSld name="6_Title Only_2_3">
    <p:bg>
      <p:bgPr>
        <a:solidFill>
          <a:schemeClr val="accent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723343625_0_1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f723343625_0_13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f723343625_0_135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White">
  <p:cSld name="6_Title Only_2_3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723343625_0_13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f723343625_0_13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f723343625_0_139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">
  <p:cSld name="6_Title Only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723343625_0_149"/>
          <p:cNvSpPr txBox="1"/>
          <p:nvPr>
            <p:ph idx="1" type="body"/>
          </p:nvPr>
        </p:nvSpPr>
        <p:spPr>
          <a:xfrm>
            <a:off x="457200" y="1267650"/>
            <a:ext cx="39996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5" name="Google Shape;215;g3f723343625_0_149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216" name="Google Shape;216;g3f723343625_0_14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17" name="Google Shape;217;g3f723343625_0_1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g3f723343625_0_14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f723343625_0_149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Right | Twilight">
  <p:cSld name="6_Title Only_1_2"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723343625_0_156"/>
          <p:cNvSpPr txBox="1"/>
          <p:nvPr>
            <p:ph idx="1" type="body"/>
          </p:nvPr>
        </p:nvSpPr>
        <p:spPr>
          <a:xfrm>
            <a:off x="457200" y="1267650"/>
            <a:ext cx="39693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2" name="Google Shape;222;g3f723343625_0_156"/>
          <p:cNvSpPr/>
          <p:nvPr>
            <p:ph idx="2" type="pic"/>
          </p:nvPr>
        </p:nvSpPr>
        <p:spPr>
          <a:xfrm>
            <a:off x="4600100" y="1283925"/>
            <a:ext cx="4064100" cy="3261600"/>
          </a:xfrm>
          <a:prstGeom prst="roundRect">
            <a:avLst>
              <a:gd fmla="val 6744" name="adj"/>
            </a:avLst>
          </a:prstGeom>
          <a:noFill/>
          <a:ln>
            <a:noFill/>
          </a:ln>
        </p:spPr>
      </p:sp>
      <p:sp>
        <p:nvSpPr>
          <p:cNvPr id="223" name="Google Shape;223;g3f723343625_0_15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723343625_0_15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g3f723343625_0_156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line Image on the Left">
  <p:cSld name="6_Title Only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723343625_0_162"/>
          <p:cNvSpPr txBox="1"/>
          <p:nvPr>
            <p:ph idx="1" type="body"/>
          </p:nvPr>
        </p:nvSpPr>
        <p:spPr>
          <a:xfrm>
            <a:off x="4594200" y="1157967"/>
            <a:ext cx="37665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g3f723343625_0_162"/>
          <p:cNvSpPr/>
          <p:nvPr>
            <p:ph idx="2" type="pic"/>
          </p:nvPr>
        </p:nvSpPr>
        <p:spPr>
          <a:xfrm>
            <a:off x="457200" y="1181567"/>
            <a:ext cx="4064100" cy="3261600"/>
          </a:xfrm>
          <a:prstGeom prst="roundRect">
            <a:avLst>
              <a:gd fmla="val 3945" name="adj"/>
            </a:avLst>
          </a:prstGeom>
          <a:noFill/>
          <a:ln>
            <a:noFill/>
          </a:ln>
        </p:spPr>
      </p:sp>
      <p:sp>
        <p:nvSpPr>
          <p:cNvPr id="229" name="Google Shape;229;g3f723343625_0_16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f723343625_0_162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g3f723343625_0_162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">
  <p:cSld name="10_Title Only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723343625_0_168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g3f723343625_0_168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g3f723343625_0_168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g3f723343625_0_16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f723343625_0_168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g3f723343625_0_168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 Layout | Twilight">
  <p:cSld name="10_Title Only_1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723343625_0_175"/>
          <p:cNvSpPr txBox="1"/>
          <p:nvPr>
            <p:ph idx="1" type="body"/>
          </p:nvPr>
        </p:nvSpPr>
        <p:spPr>
          <a:xfrm>
            <a:off x="453513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1" name="Google Shape;241;g3f723343625_0_175"/>
          <p:cNvSpPr txBox="1"/>
          <p:nvPr>
            <p:ph idx="2" type="body"/>
          </p:nvPr>
        </p:nvSpPr>
        <p:spPr>
          <a:xfrm>
            <a:off x="3086099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2" name="Google Shape;242;g3f723343625_0_175"/>
          <p:cNvSpPr txBox="1"/>
          <p:nvPr>
            <p:ph idx="3" type="body"/>
          </p:nvPr>
        </p:nvSpPr>
        <p:spPr>
          <a:xfrm>
            <a:off x="5718688" y="1267654"/>
            <a:ext cx="2362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g3f723343625_0_17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723343625_0_175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g3f723343625_0_175"/>
          <p:cNvSpPr txBox="1"/>
          <p:nvPr>
            <p:ph idx="4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">
  <p:cSld name="7_Title Only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723343625_0_182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3f723343625_0_182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g3f723343625_0_182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f723343625_0_18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f723343625_0_182"/>
          <p:cNvSpPr txBox="1"/>
          <p:nvPr>
            <p:ph idx="2" type="subTitle"/>
          </p:nvPr>
        </p:nvSpPr>
        <p:spPr>
          <a:xfrm>
            <a:off x="4267200" y="631950"/>
            <a:ext cx="4694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2 1">
  <p:cSld name="7_Title Only_2">
    <p:bg>
      <p:bgPr>
        <a:solidFill>
          <a:schemeClr val="dk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723343625_0_188"/>
          <p:cNvSpPr txBox="1"/>
          <p:nvPr>
            <p:ph type="title"/>
          </p:nvPr>
        </p:nvSpPr>
        <p:spPr>
          <a:xfrm>
            <a:off x="4267200" y="284250"/>
            <a:ext cx="45582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g3f723343625_0_188"/>
          <p:cNvSpPr txBox="1"/>
          <p:nvPr>
            <p:ph idx="1" type="body"/>
          </p:nvPr>
        </p:nvSpPr>
        <p:spPr>
          <a:xfrm>
            <a:off x="4267200" y="1370012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g3f723343625_0_18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3f723343625_0_188"/>
          <p:cNvSpPr txBox="1"/>
          <p:nvPr>
            <p:ph idx="2" type="subTitle"/>
          </p:nvPr>
        </p:nvSpPr>
        <p:spPr>
          <a:xfrm>
            <a:off x="4267200" y="631950"/>
            <a:ext cx="3858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">
  <p:cSld name="7_Title Only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f723343625_0_193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59" name="Google Shape;259;g3f723343625_0_193"/>
          <p:cNvSpPr txBox="1"/>
          <p:nvPr>
            <p:ph idx="1" type="body"/>
          </p:nvPr>
        </p:nvSpPr>
        <p:spPr>
          <a:xfrm>
            <a:off x="457200" y="1267650"/>
            <a:ext cx="40257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0" name="Google Shape;260;g3f723343625_0_19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f723343625_0_19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3f723343625_0_193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Side Image Right | Twilight">
  <p:cSld name="7_Title Only_1_3">
    <p:bg>
      <p:bgPr>
        <a:solidFill>
          <a:schemeClr val="dk1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723343625_0_199"/>
          <p:cNvSpPr/>
          <p:nvPr>
            <p:ph idx="2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g3f723343625_0_199"/>
          <p:cNvSpPr txBox="1"/>
          <p:nvPr>
            <p:ph idx="1" type="body"/>
          </p:nvPr>
        </p:nvSpPr>
        <p:spPr>
          <a:xfrm>
            <a:off x="457200" y="1254859"/>
            <a:ext cx="3962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g3f723343625_0_19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g3f723343625_0_199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g3f723343625_0_199"/>
          <p:cNvSpPr txBox="1"/>
          <p:nvPr>
            <p:ph idx="3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">
  <p:cSld name="7_Title Only_1_2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723343625_0_205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g3f723343625_0_205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2" name="Google Shape;272;g3f723343625_0_20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723343625_0_205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74" name="Google Shape;274;g3f723343625_0_205"/>
          <p:cNvSpPr txBox="1"/>
          <p:nvPr>
            <p:ph idx="3" type="subTitle"/>
          </p:nvPr>
        </p:nvSpPr>
        <p:spPr>
          <a:xfrm>
            <a:off x="4135300" y="631950"/>
            <a:ext cx="4105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 Side Image Left | Twilight">
  <p:cSld name="7_Title Only_1_2_1">
    <p:bg>
      <p:bgPr>
        <a:solidFill>
          <a:schemeClr val="dk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723343625_0_211"/>
          <p:cNvSpPr txBox="1"/>
          <p:nvPr>
            <p:ph type="title"/>
          </p:nvPr>
        </p:nvSpPr>
        <p:spPr>
          <a:xfrm>
            <a:off x="4135300" y="284250"/>
            <a:ext cx="4464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g3f723343625_0_211"/>
          <p:cNvSpPr txBox="1"/>
          <p:nvPr>
            <p:ph idx="1" type="body"/>
          </p:nvPr>
        </p:nvSpPr>
        <p:spPr>
          <a:xfrm>
            <a:off x="4135300" y="1370000"/>
            <a:ext cx="44649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g3f723343625_0_21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g3f723343625_0_211"/>
          <p:cNvSpPr/>
          <p:nvPr>
            <p:ph idx="2" type="pic"/>
          </p:nvPr>
        </p:nvSpPr>
        <p:spPr>
          <a:xfrm>
            <a:off x="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g3f723343625_0_211"/>
          <p:cNvSpPr txBox="1"/>
          <p:nvPr>
            <p:ph idx="3" type="subTitle"/>
          </p:nvPr>
        </p:nvSpPr>
        <p:spPr>
          <a:xfrm>
            <a:off x="4135300" y="631950"/>
            <a:ext cx="32031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White">
  <p:cSld name="7_Title Only_1_1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g3f723343625_0_217"/>
          <p:cNvCxnSpPr/>
          <p:nvPr/>
        </p:nvCxnSpPr>
        <p:spPr>
          <a:xfrm rot="10800000">
            <a:off x="468509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g3f723343625_0_217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4" name="Google Shape;284;g3f723343625_0_217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5" name="Google Shape;285;g3f723343625_0_217"/>
          <p:cNvSpPr txBox="1"/>
          <p:nvPr>
            <p:ph idx="3" type="body"/>
          </p:nvPr>
        </p:nvSpPr>
        <p:spPr>
          <a:xfrm>
            <a:off x="477625" y="1490884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 sz="1800"/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g3f723343625_0_21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f723343625_0_217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g3f723343625_0_217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g3f723343625_0_217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Image | Twilight">
  <p:cSld name="7_Title Only_1_1_2"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Google Shape;291;g3f723343625_0_226"/>
          <p:cNvCxnSpPr/>
          <p:nvPr/>
        </p:nvCxnSpPr>
        <p:spPr>
          <a:xfrm rot="10800000">
            <a:off x="457195" y="3480538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g3f723343625_0_226"/>
          <p:cNvSpPr txBox="1"/>
          <p:nvPr>
            <p:ph idx="1" type="body"/>
          </p:nvPr>
        </p:nvSpPr>
        <p:spPr>
          <a:xfrm>
            <a:off x="477625" y="3652682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g3f723343625_0_226"/>
          <p:cNvSpPr txBox="1"/>
          <p:nvPr>
            <p:ph idx="2" type="body"/>
          </p:nvPr>
        </p:nvSpPr>
        <p:spPr>
          <a:xfrm>
            <a:off x="477625" y="3978509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4" name="Google Shape;294;g3f723343625_0_226"/>
          <p:cNvSpPr txBox="1"/>
          <p:nvPr>
            <p:ph idx="3" type="body"/>
          </p:nvPr>
        </p:nvSpPr>
        <p:spPr>
          <a:xfrm>
            <a:off x="477625" y="1595988"/>
            <a:ext cx="37254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5" name="Google Shape;295;g3f723343625_0_2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f723343625_0_226"/>
          <p:cNvSpPr/>
          <p:nvPr>
            <p:ph idx="4" type="pic"/>
          </p:nvPr>
        </p:nvSpPr>
        <p:spPr>
          <a:xfrm>
            <a:off x="5350350" y="-20975"/>
            <a:ext cx="3793800" cy="51021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g3f723343625_0_22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g3f723343625_0_226"/>
          <p:cNvSpPr txBox="1"/>
          <p:nvPr>
            <p:ph idx="5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Twilight">
  <p:cSld name="7_Title Only_1_1_1">
    <p:bg>
      <p:bgPr>
        <a:solidFill>
          <a:schemeClr val="dk1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3f723343625_0_235"/>
          <p:cNvPicPr preferRelativeResize="0"/>
          <p:nvPr/>
        </p:nvPicPr>
        <p:blipFill rotWithShape="1">
          <a:blip r:embed="rId2">
            <a:alphaModFix/>
          </a:blip>
          <a:srcRect b="7630" l="0" r="0" t="0"/>
          <a:stretch/>
        </p:blipFill>
        <p:spPr>
          <a:xfrm>
            <a:off x="0" y="4326801"/>
            <a:ext cx="9144000" cy="754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g3f723343625_0_235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g3f723343625_0_235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3" name="Google Shape;303;g3f723343625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4" name="Google Shape;304;g3f723343625_0_235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g3f723343625_0_235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06" name="Google Shape;306;g3f723343625_0_235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07" name="Google Shape;307;g3f723343625_0_235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8" name="Google Shape;308;g3f723343625_0_235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f723343625_0_235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10" name="Google Shape;310;g3f723343625_0_2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Orange">
  <p:cSld name="7_Title Only_1_1_1_1">
    <p:bg>
      <p:bgPr>
        <a:solidFill>
          <a:schemeClr val="accent1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g3f723343625_0_2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3" name="Google Shape;313;g3f723343625_0_247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g3f723343625_0_247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5" name="Google Shape;315;g3f723343625_0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6" name="Google Shape;316;g3f723343625_0_247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g3f723343625_0_247"/>
          <p:cNvSpPr txBox="1"/>
          <p:nvPr>
            <p:ph idx="1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lus Jakarta Sans SemiBold"/>
              <a:buNone/>
              <a:defRPr sz="16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g3f723343625_0_247"/>
          <p:cNvSpPr txBox="1"/>
          <p:nvPr>
            <p:ph idx="2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g3f723343625_0_247"/>
          <p:cNvSpPr txBox="1"/>
          <p:nvPr>
            <p:ph idx="3" type="body"/>
          </p:nvPr>
        </p:nvSpPr>
        <p:spPr>
          <a:xfrm>
            <a:off x="1741775" y="961075"/>
            <a:ext cx="5686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us Jakarta Sans SemiBold"/>
              <a:buNone/>
              <a:defRPr sz="25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0" name="Google Shape;320;g3f723343625_0_247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723343625_0_247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22" name="Google Shape;322;g3f723343625_0_2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| White">
  <p:cSld name="7_Title Only_1_1_1_1_1"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g3f723343625_0_259"/>
          <p:cNvPicPr preferRelativeResize="0"/>
          <p:nvPr/>
        </p:nvPicPr>
        <p:blipFill rotWithShape="1">
          <a:blip r:embed="rId2">
            <a:alphaModFix/>
          </a:blip>
          <a:srcRect b="416" l="0" r="0" t="426"/>
          <a:stretch/>
        </p:blipFill>
        <p:spPr>
          <a:xfrm>
            <a:off x="0" y="4326811"/>
            <a:ext cx="9144000" cy="8166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5" name="Google Shape;325;g3f723343625_0_259"/>
          <p:cNvCxnSpPr/>
          <p:nvPr/>
        </p:nvCxnSpPr>
        <p:spPr>
          <a:xfrm rot="10800000">
            <a:off x="713220" y="1047750"/>
            <a:ext cx="502800" cy="0"/>
          </a:xfrm>
          <a:prstGeom prst="straightConnector1">
            <a:avLst/>
          </a:prstGeom>
          <a:noFill/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g3f723343625_0_259"/>
          <p:cNvSpPr/>
          <p:nvPr/>
        </p:nvSpPr>
        <p:spPr>
          <a:xfrm>
            <a:off x="600100" y="943775"/>
            <a:ext cx="675000" cy="19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27" name="Google Shape;327;g3f723343625_0_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525" y="572375"/>
            <a:ext cx="753875" cy="608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8" name="Google Shape;328;g3f723343625_0_259"/>
          <p:cNvCxnSpPr/>
          <p:nvPr/>
        </p:nvCxnSpPr>
        <p:spPr>
          <a:xfrm rot="10800000">
            <a:off x="1818095" y="3384463"/>
            <a:ext cx="502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g3f723343625_0_259"/>
          <p:cNvSpPr txBox="1"/>
          <p:nvPr>
            <p:ph idx="1" type="body"/>
          </p:nvPr>
        </p:nvSpPr>
        <p:spPr>
          <a:xfrm>
            <a:off x="1741775" y="961075"/>
            <a:ext cx="5692800" cy="2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900"/>
              <a:buFont typeface="Plus Jakarta Sans SemiBold"/>
              <a:buNone/>
              <a:defRPr sz="2500"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0" name="Google Shape;330;g3f723343625_0_259"/>
          <p:cNvSpPr txBox="1"/>
          <p:nvPr>
            <p:ph idx="2" type="body"/>
          </p:nvPr>
        </p:nvSpPr>
        <p:spPr>
          <a:xfrm>
            <a:off x="1741775" y="3556607"/>
            <a:ext cx="3962400" cy="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Plus Jakarta Sans SemiBold"/>
              <a:buNone/>
              <a:defRPr sz="16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1" name="Google Shape;331;g3f723343625_0_259"/>
          <p:cNvSpPr txBox="1"/>
          <p:nvPr>
            <p:ph idx="3" type="body"/>
          </p:nvPr>
        </p:nvSpPr>
        <p:spPr>
          <a:xfrm>
            <a:off x="1741775" y="3882434"/>
            <a:ext cx="3962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0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160"/>
              <a:buNone/>
              <a:defRPr>
                <a:solidFill>
                  <a:schemeClr val="accent2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2160"/>
              <a:buChar char="•"/>
              <a:defRPr>
                <a:solidFill>
                  <a:schemeClr val="accen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–"/>
              <a:defRPr>
                <a:solidFill>
                  <a:schemeClr val="accent2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»"/>
              <a:defRPr>
                <a:solidFill>
                  <a:schemeClr val="accent2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•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2" name="Google Shape;332;g3f723343625_0_259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g3f723343625_0_259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34" name="Google Shape;334;g3f723343625_0_2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">
  <p:cSld name="8_Title 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f723343625_0_271"/>
          <p:cNvSpPr txBox="1"/>
          <p:nvPr>
            <p:ph type="title"/>
          </p:nvPr>
        </p:nvSpPr>
        <p:spPr>
          <a:xfrm>
            <a:off x="5715000" y="284250"/>
            <a:ext cx="4017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g3f723343625_0_271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SzPts val="2160"/>
              <a:buNone/>
              <a:defRPr/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4E566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8" name="Google Shape;338;g3f723343625_0_271"/>
          <p:cNvSpPr/>
          <p:nvPr/>
        </p:nvSpPr>
        <p:spPr>
          <a:xfrm>
            <a:off x="381000" y="0"/>
            <a:ext cx="381000" cy="102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f723343625_0_271"/>
          <p:cNvSpPr/>
          <p:nvPr/>
        </p:nvSpPr>
        <p:spPr>
          <a:xfrm>
            <a:off x="381000" y="897026"/>
            <a:ext cx="762000" cy="22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723343625_0_27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g3f723343625_0_271"/>
          <p:cNvSpPr txBox="1"/>
          <p:nvPr>
            <p:ph idx="2" type="subTitle"/>
          </p:nvPr>
        </p:nvSpPr>
        <p:spPr>
          <a:xfrm>
            <a:off x="5715000" y="631950"/>
            <a:ext cx="25428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Plus Jakarta Sans SemiBold"/>
              <a:buNone/>
              <a:defRPr sz="1100">
                <a:solidFill>
                  <a:schemeClr val="accent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ody on the Right 1 1">
  <p:cSld name="8_Title Only_1">
    <p:bg>
      <p:bgPr>
        <a:solidFill>
          <a:schemeClr val="dk1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723343625_0_278"/>
          <p:cNvSpPr txBox="1"/>
          <p:nvPr>
            <p:ph type="title"/>
          </p:nvPr>
        </p:nvSpPr>
        <p:spPr>
          <a:xfrm>
            <a:off x="5715000" y="284250"/>
            <a:ext cx="45636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g3f723343625_0_278"/>
          <p:cNvSpPr txBox="1"/>
          <p:nvPr>
            <p:ph idx="1" type="body"/>
          </p:nvPr>
        </p:nvSpPr>
        <p:spPr>
          <a:xfrm>
            <a:off x="5715000" y="1903412"/>
            <a:ext cx="3124200" cy="15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78888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>
                <a:solidFill>
                  <a:schemeClr val="lt1"/>
                </a:solidFill>
              </a:defRPr>
            </a:lvl2pPr>
            <a:lvl3pPr indent="-36576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6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g3f723343625_0_278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f723343625_0_278"/>
          <p:cNvSpPr txBox="1"/>
          <p:nvPr>
            <p:ph idx="2" type="subTitle"/>
          </p:nvPr>
        </p:nvSpPr>
        <p:spPr>
          <a:xfrm>
            <a:off x="5715000" y="631950"/>
            <a:ext cx="2584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ange Background Nodes Top Right 2">
  <p:cSld name="32_Title and Content_1">
    <p:bg>
      <p:bgPr>
        <a:solidFill>
          <a:schemeClr val="accent1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723343625_0_283"/>
          <p:cNvSpPr txBox="1"/>
          <p:nvPr>
            <p:ph idx="1" type="body"/>
          </p:nvPr>
        </p:nvSpPr>
        <p:spPr>
          <a:xfrm>
            <a:off x="457200" y="1264922"/>
            <a:ext cx="70236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9" name="Google Shape;349;g3f723343625_0_283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f723343625_0_283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51" name="Google Shape;351;g3f723343625_0_28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g3f723343625_0_28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 </a:t>
            </a:r>
            <a:endParaRPr b="0" i="0" sz="60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53" name="Google Shape;353;g3f723343625_0_2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g3f723343625_0_283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ilight Background Nodes Top Right 2">
  <p:cSld name="41_Title and Content_1">
    <p:bg>
      <p:bgPr>
        <a:solidFill>
          <a:schemeClr val="dk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723343625_0_291"/>
          <p:cNvSpPr txBox="1"/>
          <p:nvPr>
            <p:ph idx="1" type="body"/>
          </p:nvPr>
        </p:nvSpPr>
        <p:spPr>
          <a:xfrm>
            <a:off x="457200" y="1370025"/>
            <a:ext cx="69729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us Jakarta Sans"/>
              <a:buNone/>
              <a:defRPr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SzPts val="1440"/>
              <a:buFont typeface="Plus Jakarta Sans"/>
              <a:buNone/>
              <a:defRPr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  <a:defRPr>
                <a:solidFill>
                  <a:schemeClr val="lt1"/>
                </a:solidFill>
              </a:defRPr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–"/>
              <a:defRPr>
                <a:solidFill>
                  <a:schemeClr val="lt1"/>
                </a:solidFill>
              </a:defRPr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Char char="»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7" name="Google Shape;357;g3f723343625_0_291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f723343625_0_291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9" name="Google Shape;359;g3f723343625_0_2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115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f723343625_0_291"/>
          <p:cNvSpPr txBox="1"/>
          <p:nvPr>
            <p:ph idx="2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rounded">
  <p:cSld name="15_Title Only_1_2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723343625_0_313"/>
          <p:cNvSpPr/>
          <p:nvPr/>
        </p:nvSpPr>
        <p:spPr>
          <a:xfrm>
            <a:off x="-20225" y="5039775"/>
            <a:ext cx="9177600" cy="10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63" name="Google Shape;363;g3f723343625_0_313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64" name="Google Shape;364;g3f723343625_0_3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3f723343625_0_313"/>
          <p:cNvSpPr/>
          <p:nvPr>
            <p:ph idx="2" type="pic"/>
          </p:nvPr>
        </p:nvSpPr>
        <p:spPr>
          <a:xfrm>
            <a:off x="103350" y="81900"/>
            <a:ext cx="8950800" cy="4979700"/>
          </a:xfrm>
          <a:prstGeom prst="roundRect">
            <a:avLst>
              <a:gd fmla="val 3798" name="adj"/>
            </a:avLst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_bleed">
  <p:cSld name="15_Title Only_1_2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723343625_0_318"/>
          <p:cNvSpPr/>
          <p:nvPr/>
        </p:nvSpPr>
        <p:spPr>
          <a:xfrm>
            <a:off x="526900" y="976075"/>
            <a:ext cx="709200" cy="1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368" name="Google Shape;368;g3f723343625_0_3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826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g3f723343625_0_318"/>
          <p:cNvSpPr/>
          <p:nvPr>
            <p:ph idx="2" type="pic"/>
          </p:nvPr>
        </p:nvSpPr>
        <p:spPr>
          <a:xfrm>
            <a:off x="-6700" y="325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transition spd="slow">
    <p:push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logo 1">
  <p:cSld name="15_Title Only_1_1">
    <p:bg>
      <p:bgPr>
        <a:solidFill>
          <a:schemeClr val="dk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723343625_0_32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 title | Twilight 3">
  <p:cSld name="6_Title Only_2_3_4">
    <p:bg>
      <p:bgPr>
        <a:solidFill>
          <a:schemeClr val="accent3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723343625_0_324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| Twilight 3 1">
  <p:cSld name="6_Title Only_2_3_4_1">
    <p:bg>
      <p:bgPr>
        <a:solidFill>
          <a:schemeClr val="accent3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723343625_0_326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f723343625_0_326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7" name="Google Shape;377;g3f723343625_0_326"/>
          <p:cNvSpPr txBox="1"/>
          <p:nvPr>
            <p:ph idx="1" type="subTitle"/>
          </p:nvPr>
        </p:nvSpPr>
        <p:spPr>
          <a:xfrm>
            <a:off x="457200" y="63195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Plus Jakarta Sans SemiBold"/>
              <a:buNone/>
              <a:defRPr sz="1100">
                <a:solidFill>
                  <a:schemeClr val="lt1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defRPr>
            </a:lvl1pPr>
            <a:lvl2pPr lvl="1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transition spd="slow">
    <p:push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723343625_0_0"/>
          <p:cNvSpPr txBox="1"/>
          <p:nvPr>
            <p:ph type="title"/>
          </p:nvPr>
        </p:nvSpPr>
        <p:spPr>
          <a:xfrm>
            <a:off x="457200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000"/>
              <a:buFont typeface="Plus Jakarta Sans Medium"/>
              <a:buNone/>
              <a:defRPr b="0" i="0" sz="2000" u="none" cap="none" strike="noStrike">
                <a:solidFill>
                  <a:srgbClr val="120046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f723343625_0_0"/>
          <p:cNvSpPr txBox="1"/>
          <p:nvPr>
            <p:ph idx="1" type="body"/>
          </p:nvPr>
        </p:nvSpPr>
        <p:spPr>
          <a:xfrm>
            <a:off x="457200" y="1370013"/>
            <a:ext cx="79821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  <a:def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  <a:lvl2pPr indent="-228600" lvl="1" marL="914400" marR="0" rtl="0" algn="l">
              <a:lnSpc>
                <a:spcPct val="118333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Plus Jakarta Sans"/>
              <a:buNone/>
              <a:defRPr b="0" i="0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  <a:defRPr b="0" i="0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f723343625_0_0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8889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All Rights Reserved.</a:t>
            </a:r>
            <a:endParaRPr b="0" i="0" sz="600" u="none" cap="none" strike="noStrike">
              <a:solidFill>
                <a:srgbClr val="88889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 " id="13" name="Google Shape;13;g3f723343625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pos="54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jpg"/><Relationship Id="rId4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9" Type="http://schemas.openxmlformats.org/officeDocument/2006/relationships/image" Target="../media/image35.png"/><Relationship Id="rId5" Type="http://schemas.openxmlformats.org/officeDocument/2006/relationships/image" Target="../media/image44.png"/><Relationship Id="rId6" Type="http://schemas.openxmlformats.org/officeDocument/2006/relationships/image" Target="../media/image43.png"/><Relationship Id="rId7" Type="http://schemas.openxmlformats.org/officeDocument/2006/relationships/image" Target="../media/image37.png"/><Relationship Id="rId8" Type="http://schemas.openxmlformats.org/officeDocument/2006/relationships/image" Target="../media/image48.png"/><Relationship Id="rId11" Type="http://schemas.openxmlformats.org/officeDocument/2006/relationships/image" Target="../media/image33.png"/><Relationship Id="rId10" Type="http://schemas.openxmlformats.org/officeDocument/2006/relationships/image" Target="../media/image34.png"/><Relationship Id="rId13" Type="http://schemas.openxmlformats.org/officeDocument/2006/relationships/image" Target="../media/image39.png"/><Relationship Id="rId12" Type="http://schemas.openxmlformats.org/officeDocument/2006/relationships/image" Target="../media/image36.png"/><Relationship Id="rId15" Type="http://schemas.openxmlformats.org/officeDocument/2006/relationships/image" Target="../media/image40.png"/><Relationship Id="rId14" Type="http://schemas.openxmlformats.org/officeDocument/2006/relationships/image" Target="../media/image47.png"/><Relationship Id="rId16" Type="http://schemas.openxmlformats.org/officeDocument/2006/relationships/image" Target="../media/image4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"/>
          <p:cNvSpPr txBox="1"/>
          <p:nvPr>
            <p:ph idx="1" type="body"/>
          </p:nvPr>
        </p:nvSpPr>
        <p:spPr>
          <a:xfrm>
            <a:off x="3670625" y="4491831"/>
            <a:ext cx="35052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Zhong Qishuai</a:t>
            </a:r>
            <a:endParaRPr/>
          </a:p>
        </p:txBody>
      </p:sp>
      <p:sp>
        <p:nvSpPr>
          <p:cNvPr id="384" name="Google Shape;384;p1"/>
          <p:cNvSpPr/>
          <p:nvPr/>
        </p:nvSpPr>
        <p:spPr>
          <a:xfrm>
            <a:off x="3624676" y="1828800"/>
            <a:ext cx="42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0" i="0" lang="en" sz="4500" u="none" cap="none" strike="noStrike">
                <a:solidFill>
                  <a:srgbClr val="FFFFFF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Cloudera </a:t>
            </a:r>
            <a:r>
              <a:rPr b="0" i="0" lang="en" sz="450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AI</a:t>
            </a:r>
            <a:endParaRPr b="0" i="0" sz="4500" u="none" cap="none" strike="noStrike">
              <a:solidFill>
                <a:schemeClr val="dk1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385" name="Google Shape;385;p1"/>
          <p:cNvSpPr/>
          <p:nvPr/>
        </p:nvSpPr>
        <p:spPr>
          <a:xfrm>
            <a:off x="3670626" y="2743200"/>
            <a:ext cx="425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E6"/>
              </a:buClr>
              <a:buSzPts val="3200"/>
              <a:buFont typeface="Arial"/>
              <a:buNone/>
            </a:pPr>
            <a:r>
              <a:rPr b="0" i="0" lang="en" sz="1600" u="none" cap="none" strike="noStrike">
                <a:solidFill>
                  <a:srgbClr val="C9C9E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构建您的集中式私有AI平台 </a:t>
            </a:r>
            <a:endParaRPr b="0" i="0" sz="16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9b3f86724_0_962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/>
              <a:t>AI就绪平台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AI版图广阔，私有AI是坚实堡垒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8" name="Google Shape;398;p2"/>
          <p:cNvSpPr/>
          <p:nvPr/>
        </p:nvSpPr>
        <p:spPr>
          <a:xfrm>
            <a:off x="731525" y="4050800"/>
            <a:ext cx="1865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自主性递增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EE5A2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9" name="Google Shape;399;p2"/>
          <p:cNvSpPr/>
          <p:nvPr/>
        </p:nvSpPr>
        <p:spPr>
          <a:xfrm>
            <a:off x="3035808" y="4169664"/>
            <a:ext cx="5029200" cy="54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"/>
          <p:cNvSpPr/>
          <p:nvPr/>
        </p:nvSpPr>
        <p:spPr>
          <a:xfrm>
            <a:off x="6510528" y="4169664"/>
            <a:ext cx="1554600" cy="549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"/>
          <p:cNvSpPr/>
          <p:nvPr/>
        </p:nvSpPr>
        <p:spPr>
          <a:xfrm>
            <a:off x="8065008" y="4050792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rgbClr val="EE5A2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"/>
          <p:cNvSpPr/>
          <p:nvPr/>
        </p:nvSpPr>
        <p:spPr>
          <a:xfrm>
            <a:off x="566928" y="1417320"/>
            <a:ext cx="1865400" cy="2469000"/>
          </a:xfrm>
          <a:prstGeom prst="roundRect">
            <a:avLst>
              <a:gd fmla="val 4412" name="adj"/>
            </a:avLst>
          </a:prstGeom>
          <a:noFill/>
          <a:ln cap="flat" cmpd="sng" w="9525">
            <a:solidFill>
              <a:srgbClr val="C9C9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3" name="Google Shape;403;p2"/>
          <p:cNvSpPr/>
          <p:nvPr/>
        </p:nvSpPr>
        <p:spPr>
          <a:xfrm>
            <a:off x="731520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2023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4" name="Google Shape;404;p2"/>
          <p:cNvSpPr/>
          <p:nvPr/>
        </p:nvSpPr>
        <p:spPr>
          <a:xfrm>
            <a:off x="731520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奠基期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05" name="Google Shape;405;p2"/>
          <p:cNvSpPr/>
          <p:nvPr/>
        </p:nvSpPr>
        <p:spPr>
          <a:xfrm>
            <a:off x="731520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首批LLM部署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基础集群搭建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系统集成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6" name="Google Shape;406;p2"/>
          <p:cNvSpPr/>
          <p:nvPr/>
        </p:nvSpPr>
        <p:spPr>
          <a:xfrm>
            <a:off x="2615184" y="1417320"/>
            <a:ext cx="1865400" cy="2469000"/>
          </a:xfrm>
          <a:prstGeom prst="roundRect">
            <a:avLst>
              <a:gd fmla="val 4412" name="adj"/>
            </a:avLst>
          </a:prstGeom>
          <a:noFill/>
          <a:ln cap="flat" cmpd="sng" w="9525">
            <a:solidFill>
              <a:srgbClr val="C9C9E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7" name="Google Shape;407;p2"/>
          <p:cNvSpPr/>
          <p:nvPr/>
        </p:nvSpPr>
        <p:spPr>
          <a:xfrm>
            <a:off x="2779776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2024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08" name="Google Shape;408;p2"/>
          <p:cNvSpPr/>
          <p:nvPr/>
        </p:nvSpPr>
        <p:spPr>
          <a:xfrm>
            <a:off x="2779776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扩展期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09" name="Google Shape;409;p2"/>
          <p:cNvSpPr/>
          <p:nvPr/>
        </p:nvSpPr>
        <p:spPr>
          <a:xfrm>
            <a:off x="2779776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规模化RAG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多模态（VLM）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首批智能体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0" name="Google Shape;410;p2"/>
          <p:cNvSpPr/>
          <p:nvPr/>
        </p:nvSpPr>
        <p:spPr>
          <a:xfrm>
            <a:off x="4663440" y="1417320"/>
            <a:ext cx="1865400" cy="2469000"/>
          </a:xfrm>
          <a:prstGeom prst="roundRect">
            <a:avLst>
              <a:gd fmla="val 4412" name="adj"/>
            </a:avLst>
          </a:prstGeom>
          <a:noFill/>
          <a:ln cap="flat" cmpd="sng" w="952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1" name="Google Shape;411;p2"/>
          <p:cNvSpPr/>
          <p:nvPr/>
        </p:nvSpPr>
        <p:spPr>
          <a:xfrm>
            <a:off x="4828032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2025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2" name="Google Shape;412;p2"/>
          <p:cNvSpPr/>
          <p:nvPr/>
        </p:nvSpPr>
        <p:spPr>
          <a:xfrm>
            <a:off x="4828032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成熟期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13" name="Google Shape;413;p2"/>
          <p:cNvSpPr/>
          <p:nvPr/>
        </p:nvSpPr>
        <p:spPr>
          <a:xfrm>
            <a:off x="4828032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推理智能体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深度数据与API集成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规模化微调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4" name="Google Shape;414;p2"/>
          <p:cNvSpPr/>
          <p:nvPr/>
        </p:nvSpPr>
        <p:spPr>
          <a:xfrm>
            <a:off x="6711696" y="1417320"/>
            <a:ext cx="1865400" cy="2469000"/>
          </a:xfrm>
          <a:prstGeom prst="roundRect">
            <a:avLst>
              <a:gd fmla="val 4412" name="adj"/>
            </a:avLst>
          </a:prstGeom>
          <a:solidFill>
            <a:schemeClr val="lt2"/>
          </a:solidFill>
          <a:ln cap="flat" cmpd="sng" w="9525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5" name="Google Shape;415;p2"/>
          <p:cNvSpPr/>
          <p:nvPr/>
        </p:nvSpPr>
        <p:spPr>
          <a:xfrm>
            <a:off x="6876288" y="1581912"/>
            <a:ext cx="1591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 b="0" i="0" sz="2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6" name="Google Shape;416;p2"/>
          <p:cNvSpPr/>
          <p:nvPr/>
        </p:nvSpPr>
        <p:spPr>
          <a:xfrm>
            <a:off x="6876288" y="2093976"/>
            <a:ext cx="1591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前沿期</a:t>
            </a:r>
            <a:endParaRPr b="0" i="0" sz="95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417" name="Google Shape;417;p2"/>
          <p:cNvSpPr/>
          <p:nvPr/>
        </p:nvSpPr>
        <p:spPr>
          <a:xfrm>
            <a:off x="6876288" y="2441448"/>
            <a:ext cx="1554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自我演进智能体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基于本体的推理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Plus Jakarta Sans"/>
              <a:buChar char="•"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集中式AI基础设施与治理</a:t>
            </a:r>
            <a:endParaRPr b="0" i="0" sz="105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智能体化转型：推理成本账单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3" name="Google Shape;423;p3"/>
          <p:cNvSpPr txBox="1"/>
          <p:nvPr>
            <p:ph idx="1" type="body"/>
          </p:nvPr>
        </p:nvSpPr>
        <p:spPr>
          <a:xfrm>
            <a:off x="533400" y="734285"/>
            <a:ext cx="80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智能体不仅改变AI能做什么，更改变AI的成本。平台负责人必须了解的三个数字。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24" name="Google Shape;424;p3"/>
          <p:cNvSpPr/>
          <p:nvPr/>
        </p:nvSpPr>
        <p:spPr>
          <a:xfrm>
            <a:off x="566925" y="1554474"/>
            <a:ext cx="2800000" cy="2648875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"/>
          <p:cNvSpPr/>
          <p:nvPr/>
        </p:nvSpPr>
        <p:spPr>
          <a:xfrm>
            <a:off x="666925" y="1740000"/>
            <a:ext cx="2600000" cy="10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1" i="0" lang="en" sz="66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30×</a:t>
            </a:r>
            <a:endParaRPr b="1" i="0" sz="6600" u="none" cap="none" strike="noStrike">
              <a:solidFill>
                <a:srgbClr val="EE5A2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6" name="Google Shape;426;p3"/>
          <p:cNvSpPr/>
          <p:nvPr/>
        </p:nvSpPr>
        <p:spPr>
          <a:xfrm>
            <a:off x="666925" y="2800000"/>
            <a:ext cx="2600000" cy="3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智能体成倍消耗算力</a:t>
            </a:r>
            <a:endParaRPr b="0" i="0" sz="14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27" name="Google Shape;427;p3"/>
          <p:cNvSpPr/>
          <p:nvPr/>
        </p:nvSpPr>
        <p:spPr>
          <a:xfrm>
            <a:off x="766925" y="3200000"/>
            <a:ext cx="2400000" cy="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00"/>
              <a:buFont typeface="Plus Jakarta Sans"/>
              <a:buChar char="●"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单次运行成本从约0.04美元（聊天）跃升至约1.20美元（智能体）</a:t>
            </a:r>
            <a:endParaRPr b="0" i="0" sz="9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900"/>
              <a:buFont typeface="Plus Jakarta Sans"/>
              <a:buChar char="●"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超75%的运行成本来自输入token</a:t>
            </a:r>
            <a:endParaRPr b="0" i="0" sz="9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900"/>
              <a:buFont typeface="Plus Jakarta Sans"/>
              <a:buChar char="●"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工具调用会重传整个不断增长的上下文窗口</a:t>
            </a:r>
            <a:endParaRPr b="0" i="0" sz="9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28" name="Google Shape;428;p3"/>
          <p:cNvSpPr/>
          <p:nvPr/>
        </p:nvSpPr>
        <p:spPr>
          <a:xfrm>
            <a:off x="3620000" y="1554474"/>
            <a:ext cx="4956925" cy="125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"/>
          <p:cNvSpPr/>
          <p:nvPr/>
        </p:nvSpPr>
        <p:spPr>
          <a:xfrm>
            <a:off x="3720000" y="1554474"/>
            <a:ext cx="1250000" cy="1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56%</a:t>
            </a:r>
            <a:endParaRPr b="1" i="0" sz="4000" u="none" cap="none" strike="noStrike">
              <a:solidFill>
                <a:srgbClr val="4F4FF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0" name="Google Shape;430;p3"/>
          <p:cNvSpPr/>
          <p:nvPr/>
        </p:nvSpPr>
        <p:spPr>
          <a:xfrm>
            <a:off x="5060000" y="1704474"/>
            <a:ext cx="13000" cy="9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"/>
          <p:cNvSpPr/>
          <p:nvPr/>
        </p:nvSpPr>
        <p:spPr>
          <a:xfrm>
            <a:off x="5250000" y="1604474"/>
            <a:ext cx="32300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CIO将运行成本列为首要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企业CIO将运行成本视为选择LLM的首要标准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当前token价格由VC大量补贴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厂商面临IPO利润压力，泡沫将破裂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32" name="Google Shape;432;p3"/>
          <p:cNvSpPr/>
          <p:nvPr/>
        </p:nvSpPr>
        <p:spPr>
          <a:xfrm>
            <a:off x="3620000" y="2953349"/>
            <a:ext cx="4956925" cy="1250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"/>
          <p:cNvSpPr/>
          <p:nvPr/>
        </p:nvSpPr>
        <p:spPr>
          <a:xfrm>
            <a:off x="3720000" y="2953349"/>
            <a:ext cx="1250000" cy="12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39%</a:t>
            </a:r>
            <a:endParaRPr b="1" i="0" sz="4000" u="none" cap="none" strike="noStrike">
              <a:solidFill>
                <a:srgbClr val="EE5A2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34" name="Google Shape;434;p3"/>
          <p:cNvSpPr/>
          <p:nvPr/>
        </p:nvSpPr>
        <p:spPr>
          <a:xfrm>
            <a:off x="5060000" y="3103349"/>
            <a:ext cx="13000" cy="9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"/>
          <p:cNvSpPr/>
          <p:nvPr/>
        </p:nvSpPr>
        <p:spPr>
          <a:xfrm>
            <a:off x="5250000" y="3003349"/>
            <a:ext cx="3230000" cy="1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竞相争夺算力控制权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测试本地部署的开放权重模型托管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提前锁定算力与成本控制权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在token定价反转前主动布局</a:t>
            </a:r>
            <a:endParaRPr b="0" i="0" sz="85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36" name="Google Shape;436;p3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智能体AI是一场经济博弈：掌控推理成本与算力者，掌控AI规模。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企业级智能体框架解构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2" name="Google Shape;442;p8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深度研究、计算机操作、自我演进循环等所有高级模式，都由相同模块构成。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43" name="Google Shape;443;p8"/>
          <p:cNvSpPr/>
          <p:nvPr/>
        </p:nvSpPr>
        <p:spPr>
          <a:xfrm>
            <a:off x="566925" y="1314724"/>
            <a:ext cx="30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智能体循环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8"/>
          <p:cNvSpPr/>
          <p:nvPr/>
        </p:nvSpPr>
        <p:spPr>
          <a:xfrm>
            <a:off x="68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规划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5" name="Google Shape;445;p8"/>
          <p:cNvSpPr/>
          <p:nvPr/>
        </p:nvSpPr>
        <p:spPr>
          <a:xfrm>
            <a:off x="225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6" name="Google Shape;446;p8"/>
          <p:cNvSpPr/>
          <p:nvPr/>
        </p:nvSpPr>
        <p:spPr>
          <a:xfrm>
            <a:off x="382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行动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7" name="Google Shape;447;p8"/>
          <p:cNvSpPr/>
          <p:nvPr/>
        </p:nvSpPr>
        <p:spPr>
          <a:xfrm>
            <a:off x="539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观察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8" name="Google Shape;448;p8"/>
          <p:cNvSpPr/>
          <p:nvPr/>
        </p:nvSpPr>
        <p:spPr>
          <a:xfrm>
            <a:off x="6967000" y="1614724"/>
            <a:ext cx="1490100" cy="380100"/>
          </a:xfrm>
          <a:prstGeom prst="chevron">
            <a:avLst>
              <a:gd fmla="val 28000" name="adj"/>
            </a:avLst>
          </a:prstGeom>
          <a:solidFill>
            <a:srgbClr val="F6F6FB"/>
          </a:solidFill>
          <a:ln cap="flat" cmpd="sng" w="1400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迭代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49" name="Google Shape;449;p8"/>
          <p:cNvSpPr/>
          <p:nvPr/>
        </p:nvSpPr>
        <p:spPr>
          <a:xfrm>
            <a:off x="566925" y="217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0" name="Google Shape;450;p8"/>
          <p:cNvSpPr/>
          <p:nvPr/>
        </p:nvSpPr>
        <p:spPr>
          <a:xfrm>
            <a:off x="726925" y="225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推理核心：LLM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1" name="Google Shape;451;p8"/>
          <p:cNvSpPr/>
          <p:nvPr/>
        </p:nvSpPr>
        <p:spPr>
          <a:xfrm>
            <a:off x="726925" y="257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私有托管的开放权重模型或前沿API，可无缝替换，无需重写智能体。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2" name="Google Shape;452;p8"/>
          <p:cNvSpPr/>
          <p:nvPr/>
        </p:nvSpPr>
        <p:spPr>
          <a:xfrm>
            <a:off x="3303000" y="217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FF550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3" name="Google Shape;453;p8"/>
          <p:cNvSpPr/>
          <p:nvPr/>
        </p:nvSpPr>
        <p:spPr>
          <a:xfrm>
            <a:off x="3463000" y="225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系统提示与人设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4" name="Google Shape;454;p8"/>
          <p:cNvSpPr/>
          <p:nvPr/>
        </p:nvSpPr>
        <p:spPr>
          <a:xfrm>
            <a:off x="3463000" y="257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每个智能体的角色、目标、背景与策略指令，如代码般版本管理。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6039075" y="217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6" name="Google Shape;456;p8"/>
          <p:cNvSpPr/>
          <p:nvPr/>
        </p:nvSpPr>
        <p:spPr>
          <a:xfrm>
            <a:off x="6199075" y="225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工具与MCP服务器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57" name="Google Shape;457;p8"/>
          <p:cNvSpPr/>
          <p:nvPr/>
        </p:nvSpPr>
        <p:spPr>
          <a:xfrm>
            <a:off x="6199075" y="257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智能体的双手：数据查询、API、操作，通过MCP实现受管控的工具。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8" name="Google Shape;458;p8"/>
          <p:cNvSpPr/>
          <p:nvPr/>
        </p:nvSpPr>
        <p:spPr>
          <a:xfrm>
            <a:off x="566925" y="329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59" name="Google Shape;459;p8"/>
          <p:cNvSpPr/>
          <p:nvPr/>
        </p:nvSpPr>
        <p:spPr>
          <a:xfrm>
            <a:off x="726925" y="337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记忆与上下文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0" name="Google Shape;460;p8"/>
          <p:cNvSpPr/>
          <p:nvPr/>
        </p:nvSpPr>
        <p:spPr>
          <a:xfrm>
            <a:off x="726925" y="369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会话状态、检索、企业知识，智能体的记忆所在。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1" name="Google Shape;461;p8"/>
          <p:cNvSpPr/>
          <p:nvPr/>
        </p:nvSpPr>
        <p:spPr>
          <a:xfrm>
            <a:off x="3303000" y="329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2" name="Google Shape;462;p8"/>
          <p:cNvSpPr/>
          <p:nvPr/>
        </p:nvSpPr>
        <p:spPr>
          <a:xfrm>
            <a:off x="3463000" y="337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护栏与策略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3" name="Google Shape;463;p8"/>
          <p:cNvSpPr/>
          <p:nvPr/>
        </p:nvSpPr>
        <p:spPr>
          <a:xfrm>
            <a:off x="3463000" y="369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输入输出安全在循环内强制执行，而非逐应用外挂。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4" name="Google Shape;464;p8"/>
          <p:cNvSpPr/>
          <p:nvPr/>
        </p:nvSpPr>
        <p:spPr>
          <a:xfrm>
            <a:off x="6039075" y="3294724"/>
            <a:ext cx="2541900" cy="98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5" name="Google Shape;465;p8"/>
          <p:cNvSpPr/>
          <p:nvPr/>
        </p:nvSpPr>
        <p:spPr>
          <a:xfrm>
            <a:off x="6199075" y="3374724"/>
            <a:ext cx="2262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部署与市场</a:t>
            </a:r>
            <a:endParaRPr b="1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66" name="Google Shape;466;p8"/>
          <p:cNvSpPr/>
          <p:nvPr/>
        </p:nvSpPr>
        <p:spPr>
          <a:xfrm>
            <a:off x="6199075" y="3694724"/>
            <a:ext cx="2241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将智能体发布为端点，成为其他团队可复用的积木模块。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67" name="Google Shape;467;p8"/>
          <p:cNvSpPr/>
          <p:nvPr/>
        </p:nvSpPr>
        <p:spPr>
          <a:xfrm>
            <a:off x="566928" y="4371027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平台问题不在于「用哪个模型」，而在于这些模块是否开箱即用、受管控。</a:t>
            </a:r>
            <a:endParaRPr b="0" i="0" sz="11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模型已商品化，您的数据没有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566925" y="1500000"/>
            <a:ext cx="8010000" cy="800100"/>
          </a:xfrm>
          <a:prstGeom prst="roundRect">
            <a:avLst>
              <a:gd fmla="val 6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" sz="115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「我们在本地搭建了一套超强AI系统，因为我并不放心分享那些对话。事实证明，对我而言最有价值的知识产权是我的问题，答案只是商品。」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9144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－ 黄仁勋，思科AI峰会2026</a:t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566925" y="2550000"/>
            <a:ext cx="3905100" cy="155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726925" y="26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已商品化：模型能力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726925" y="2949997"/>
            <a:ext cx="3605100" cy="107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人人都能租用相同的前沿模型、API、基准和答案。 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仅凭模型选择无法形成差异化。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4670925" y="2550000"/>
            <a:ext cx="3905100" cy="155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4830925" y="26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独特：您的数据与平台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4830928" y="2949997"/>
            <a:ext cx="3605100" cy="107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专有的长期数据及其治理，才是唯一可持续的优势。 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 Light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高质量、治理良好的数据方能胜出。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IT的战略问题是：AI在哪里对接您的数据，是在别人的云上，还是您自有的平台上？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6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若AI战略完全依赖公共模型能力，您的竞争差异化几乎为零。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9b3f86724_0_0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三重壁垒，阻碍智能体规模化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87" name="Google Shape;487;g3f9b3f86724_0_0"/>
          <p:cNvSpPr txBox="1"/>
          <p:nvPr>
            <p:ph idx="1" type="body"/>
          </p:nvPr>
        </p:nvSpPr>
        <p:spPr>
          <a:xfrm>
            <a:off x="533400" y="734285"/>
            <a:ext cx="8010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智能体不仅改变AI的能力，还会暴露三个相互叠加的问题。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488" name="Google Shape;488;g3f9b3f86724_0_0"/>
          <p:cNvSpPr/>
          <p:nvPr/>
        </p:nvSpPr>
        <p:spPr>
          <a:xfrm>
            <a:off x="566925" y="1554474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f9b3f86724_0_0"/>
          <p:cNvSpPr/>
          <p:nvPr/>
        </p:nvSpPr>
        <p:spPr>
          <a:xfrm>
            <a:off x="746925" y="1739474"/>
            <a:ext cx="440000" cy="440000"/>
          </a:xfrm>
          <a:prstGeom prst="ellipse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 b="1" i="0" sz="16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0" name="Google Shape;490;g3f9b3f86724_0_0"/>
          <p:cNvSpPr/>
          <p:nvPr/>
        </p:nvSpPr>
        <p:spPr>
          <a:xfrm>
            <a:off x="1340000" y="1554474"/>
            <a:ext cx="22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30×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成本：失控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1" name="Google Shape;491;g3f9b3f86724_0_0"/>
          <p:cNvSpPr/>
          <p:nvPr/>
        </p:nvSpPr>
        <p:spPr>
          <a:xfrm>
            <a:off x="3700000" y="1699474"/>
            <a:ext cx="13000" cy="520000"/>
          </a:xfrm>
          <a:prstGeom prst="rect">
            <a:avLst/>
          </a:prstGeom>
          <a:solidFill>
            <a:srgbClr val="D8D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3f9b3f86724_0_0"/>
          <p:cNvSpPr/>
          <p:nvPr/>
        </p:nvSpPr>
        <p:spPr>
          <a:xfrm>
            <a:off x="3900000" y="1554474"/>
            <a:ext cx="456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成本暴涨30倍（每次运行约0.04美元升至约1.20美元）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75%的成本来自每次调用重传的输入token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依赖厂商临时补贴的定价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3" name="Google Shape;493;g3f9b3f86724_0_0"/>
          <p:cNvSpPr/>
          <p:nvPr/>
        </p:nvSpPr>
        <p:spPr>
          <a:xfrm>
            <a:off x="566925" y="2472237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f9b3f86724_0_0"/>
          <p:cNvSpPr/>
          <p:nvPr/>
        </p:nvSpPr>
        <p:spPr>
          <a:xfrm>
            <a:off x="746925" y="2657237"/>
            <a:ext cx="440000" cy="440000"/>
          </a:xfrm>
          <a:prstGeom prst="ellipse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5" name="Google Shape;495;g3f9b3f86724_0_0"/>
          <p:cNvSpPr/>
          <p:nvPr/>
        </p:nvSpPr>
        <p:spPr>
          <a:xfrm>
            <a:off x="1340000" y="2472237"/>
            <a:ext cx="22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影子AI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治理在规模化时失效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6" name="Google Shape;496;g3f9b3f86724_0_0"/>
          <p:cNvSpPr/>
          <p:nvPr/>
        </p:nvSpPr>
        <p:spPr>
          <a:xfrm>
            <a:off x="3700000" y="2617237"/>
            <a:ext cx="13000" cy="520000"/>
          </a:xfrm>
          <a:prstGeom prst="rect">
            <a:avLst/>
          </a:prstGeom>
          <a:solidFill>
            <a:srgbClr val="D8D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g3f9b3f86724_0_0"/>
          <p:cNvSpPr/>
          <p:nvPr/>
        </p:nvSpPr>
        <p:spPr>
          <a:xfrm>
            <a:off x="3900000" y="2472237"/>
            <a:ext cx="456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业务部门自建智能体，IT无法可见或审计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IT无法批准不受监控的AI活动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导致系统性平台失败，而非创新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98" name="Google Shape;498;g3f9b3f86724_0_0"/>
          <p:cNvSpPr/>
          <p:nvPr/>
        </p:nvSpPr>
        <p:spPr>
          <a:xfrm>
            <a:off x="566925" y="3390000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f9b3f86724_0_0"/>
          <p:cNvSpPr/>
          <p:nvPr/>
        </p:nvSpPr>
        <p:spPr>
          <a:xfrm>
            <a:off x="746925" y="3575000"/>
            <a:ext cx="440000" cy="440000"/>
          </a:xfrm>
          <a:prstGeom prst="ellipse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0" name="Google Shape;500;g3f9b3f86724_0_0"/>
          <p:cNvSpPr/>
          <p:nvPr/>
        </p:nvSpPr>
        <p:spPr>
          <a:xfrm>
            <a:off x="1340000" y="3390000"/>
            <a:ext cx="22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您的数据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真正的护城河：触不可及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1" name="Google Shape;501;g3f9b3f86724_0_0"/>
          <p:cNvSpPr/>
          <p:nvPr/>
        </p:nvSpPr>
        <p:spPr>
          <a:xfrm>
            <a:off x="3700000" y="3535000"/>
            <a:ext cx="13000" cy="520000"/>
          </a:xfrm>
          <a:prstGeom prst="rect">
            <a:avLst/>
          </a:prstGeom>
          <a:solidFill>
            <a:srgbClr val="D8D8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f9b3f86724_0_0"/>
          <p:cNvSpPr/>
          <p:nvPr/>
        </p:nvSpPr>
        <p:spPr>
          <a:xfrm>
            <a:off x="3900000" y="3390000"/>
            <a:ext cx="456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专有数据是您唯一真正的差异化优势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缺乏安全数据访问，智能体只能通用化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安全壁垒阻碍数据与模型的连接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3" name="Google Shape;503;g3f9b3f86724_0_0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解决一重壁垒，另两重依然阻碍。您需要一个能同时应对三者的方案。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9b3f86724_0_21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从拼接零件到构建平台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09" name="Google Shape;509;g3f9b3f86724_0_21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平台吸纳你已构建的一切：工具、RAG 应用、MCP、数据。它不取代它们，而是连接它们。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10" name="Google Shape;510;g3f9b3f86724_0_21"/>
          <p:cNvSpPr/>
          <p:nvPr/>
        </p:nvSpPr>
        <p:spPr>
          <a:xfrm>
            <a:off x="566925" y="1554474"/>
            <a:ext cx="2541900" cy="26658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g3f9b3f86724_0_21"/>
          <p:cNvSpPr/>
          <p:nvPr/>
        </p:nvSpPr>
        <p:spPr>
          <a:xfrm>
            <a:off x="749808" y="1854474"/>
            <a:ext cx="2176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24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输入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2" name="Google Shape;512;g3f9b3f86724_0_21"/>
          <p:cNvSpPr/>
          <p:nvPr/>
        </p:nvSpPr>
        <p:spPr>
          <a:xfrm>
            <a:off x="749808" y="2554474"/>
            <a:ext cx="217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你带来的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13" name="Google Shape;513;g3f9b3f86724_0_21"/>
          <p:cNvSpPr/>
          <p:nvPr/>
        </p:nvSpPr>
        <p:spPr>
          <a:xfrm>
            <a:off x="749800" y="2954474"/>
            <a:ext cx="2176200" cy="114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你的专有数据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现有工具、RAG 应用与 MCP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希望自建的业务团队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4" name="Google Shape;514;g3f9b3f86724_0_21"/>
          <p:cNvSpPr/>
          <p:nvPr/>
        </p:nvSpPr>
        <p:spPr>
          <a:xfrm>
            <a:off x="3300975" y="1554474"/>
            <a:ext cx="2541900" cy="26658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3f9b3f86724_0_21"/>
          <p:cNvSpPr/>
          <p:nvPr/>
        </p:nvSpPr>
        <p:spPr>
          <a:xfrm>
            <a:off x="3483858" y="1854474"/>
            <a:ext cx="2176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24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6" name="Google Shape;516;g3f9b3f86724_0_21"/>
          <p:cNvSpPr/>
          <p:nvPr/>
        </p:nvSpPr>
        <p:spPr>
          <a:xfrm>
            <a:off x="3483858" y="2554474"/>
            <a:ext cx="217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Cloudera AI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17" name="Google Shape;517;g3f9b3f86724_0_21"/>
          <p:cNvSpPr/>
          <p:nvPr/>
        </p:nvSpPr>
        <p:spPr>
          <a:xfrm>
            <a:off x="3483854" y="2954474"/>
            <a:ext cx="2176200" cy="114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私有推理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统一工具目录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互联数据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平台级安全护栏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18" name="Google Shape;518;g3f9b3f86724_0_21"/>
          <p:cNvSpPr/>
          <p:nvPr/>
        </p:nvSpPr>
        <p:spPr>
          <a:xfrm>
            <a:off x="6035050" y="1554474"/>
            <a:ext cx="2541900" cy="26658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f9b3f86724_0_21"/>
          <p:cNvSpPr/>
          <p:nvPr/>
        </p:nvSpPr>
        <p:spPr>
          <a:xfrm>
            <a:off x="6217933" y="1854474"/>
            <a:ext cx="2176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24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输出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0" name="Google Shape;520;g3f9b3f86724_0_21"/>
          <p:cNvSpPr/>
          <p:nvPr/>
        </p:nvSpPr>
        <p:spPr>
          <a:xfrm>
            <a:off x="6217933" y="2554474"/>
            <a:ext cx="217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你获得的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21" name="Google Shape;521;g3f9b3f86724_0_21"/>
          <p:cNvSpPr/>
          <p:nvPr/>
        </p:nvSpPr>
        <p:spPr>
          <a:xfrm>
            <a:off x="6217930" y="2954474"/>
            <a:ext cx="2176200" cy="114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1430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受管控的生产级智能体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共享可复用模块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完全掌控成本与容量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2" name="Google Shape;522;g3f9b3f86724_0_21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 运营平台，业务在其上构建。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f9b3f86724_0_42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第一章：掌控成本与容量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28" name="Google Shape;528;g3f9b3f86724_0_42"/>
          <p:cNvSpPr txBox="1"/>
          <p:nvPr>
            <p:ph idx="1" type="body"/>
          </p:nvPr>
        </p:nvSpPr>
        <p:spPr>
          <a:xfrm>
            <a:off x="533400" y="734274"/>
            <a:ext cx="7000000" cy="64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当智能体让算力需求增加 30 倍时，租用推理还是自主拥有，决定了你能否真正规模化。</a:t>
            </a:r>
            <a:endParaRPr b="0"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29" name="Google Shape;529;g3f9b3f86724_0_42"/>
          <p:cNvSpPr/>
          <p:nvPr/>
        </p:nvSpPr>
        <p:spPr>
          <a:xfrm>
            <a:off x="566925" y="1554474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g3f9b3f86724_0_42"/>
          <p:cNvSpPr/>
          <p:nvPr/>
        </p:nvSpPr>
        <p:spPr>
          <a:xfrm>
            <a:off x="566925" y="1554474"/>
            <a:ext cx="60000" cy="810000"/>
          </a:xfrm>
          <a:prstGeom prst="roundRect">
            <a:avLst>
              <a:gd fmla="val 40000" name="adj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3f9b3f86724_0_42"/>
          <p:cNvSpPr/>
          <p:nvPr/>
        </p:nvSpPr>
        <p:spPr>
          <a:xfrm>
            <a:off x="806925" y="1554474"/>
            <a:ext cx="299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私有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在自有边界内托管模型</a:t>
            </a:r>
            <a:endParaRPr b="0" i="0" sz="1100" u="none" cap="none" strike="noStrike">
              <a:solidFill>
                <a:srgbClr val="15154A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32" name="Google Shape;532;g3f9b3f86724_0_42"/>
          <p:cNvSpPr/>
          <p:nvPr/>
        </p:nvSpPr>
        <p:spPr>
          <a:xfrm>
            <a:off x="3910000" y="1699474"/>
            <a:ext cx="13000" cy="52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g3f9b3f86724_0_42"/>
          <p:cNvSpPr/>
          <p:nvPr/>
        </p:nvSpPr>
        <p:spPr>
          <a:xfrm>
            <a:off x="4110000" y="1554474"/>
            <a:ext cx="2175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前沿模型或开放权重模型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托管于你的基础设施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4" name="Google Shape;534;g3f9b3f86724_0_42"/>
          <p:cNvSpPr/>
          <p:nvPr/>
        </p:nvSpPr>
        <p:spPr>
          <a:xfrm>
            <a:off x="6285000" y="1554474"/>
            <a:ext cx="2175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数据不出边界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5A5A72"/>
              </a:buClr>
              <a:buSzPts val="850"/>
              <a:buFont typeface="Plus Jakarta Sans"/>
              <a:buChar char="●"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不受外部定价制约</a:t>
            </a:r>
            <a:endParaRPr b="0" i="0" sz="8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35" name="Google Shape;535;g3f9b3f86724_0_42"/>
          <p:cNvSpPr/>
          <p:nvPr/>
        </p:nvSpPr>
        <p:spPr>
          <a:xfrm>
            <a:off x="566925" y="2472237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g3f9b3f86724_0_42"/>
          <p:cNvSpPr/>
          <p:nvPr/>
        </p:nvSpPr>
        <p:spPr>
          <a:xfrm>
            <a:off x="566925" y="2472237"/>
            <a:ext cx="60000" cy="810000"/>
          </a:xfrm>
          <a:prstGeom prst="roundRect">
            <a:avLst>
              <a:gd fmla="val 4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g3f9b3f86724_0_42"/>
          <p:cNvSpPr/>
          <p:nvPr/>
        </p:nvSpPr>
        <p:spPr>
          <a:xfrm>
            <a:off x="806925" y="2472237"/>
            <a:ext cx="299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可替换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更换模型无需重写智能体</a:t>
            </a:r>
            <a:endParaRPr b="0" i="0" sz="1100" u="none" cap="none" strike="noStrike">
              <a:solidFill>
                <a:srgbClr val="15154A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38" name="Google Shape;538;g3f9b3f86724_0_42"/>
          <p:cNvSpPr/>
          <p:nvPr/>
        </p:nvSpPr>
        <p:spPr>
          <a:xfrm>
            <a:off x="3910000" y="2617237"/>
            <a:ext cx="13000" cy="52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g3f9b3f86724_0_42"/>
          <p:cNvSpPr/>
          <p:nvPr/>
        </p:nvSpPr>
        <p:spPr>
          <a:xfrm>
            <a:off x="4110000" y="2472237"/>
            <a:ext cx="43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模型作为可替换组件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随基准演进随时升级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无需重写应用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0" name="Google Shape;540;g3f9b3f86724_0_42"/>
          <p:cNvSpPr/>
          <p:nvPr/>
        </p:nvSpPr>
        <p:spPr>
          <a:xfrm>
            <a:off x="566925" y="3390000"/>
            <a:ext cx="8010000" cy="81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3f9b3f86724_0_42"/>
          <p:cNvSpPr/>
          <p:nvPr/>
        </p:nvSpPr>
        <p:spPr>
          <a:xfrm>
            <a:off x="566925" y="3390000"/>
            <a:ext cx="60000" cy="810000"/>
          </a:xfrm>
          <a:prstGeom prst="roundRect">
            <a:avLst>
              <a:gd fmla="val 4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g3f9b3f86724_0_42"/>
          <p:cNvSpPr/>
          <p:nvPr/>
        </p:nvSpPr>
        <p:spPr>
          <a:xfrm>
            <a:off x="806925" y="3390000"/>
            <a:ext cx="299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高效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推理自动扩缩容，杜绝闲置浪费</a:t>
            </a:r>
            <a:endParaRPr b="0" i="0" sz="1100" u="none" cap="none" strike="noStrike">
              <a:solidFill>
                <a:srgbClr val="15154A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43" name="Google Shape;543;g3f9b3f86724_0_42"/>
          <p:cNvSpPr/>
          <p:nvPr/>
        </p:nvSpPr>
        <p:spPr>
          <a:xfrm>
            <a:off x="3910000" y="3535000"/>
            <a:ext cx="13000" cy="52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3f9b3f86724_0_42"/>
          <p:cNvSpPr/>
          <p:nvPr/>
        </p:nvSpPr>
        <p:spPr>
          <a:xfrm>
            <a:off x="4110000" y="3390000"/>
            <a:ext cx="4350000" cy="8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负载时扩容，空闲时缩容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按实际运行付费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Plus Jakarta Sans"/>
              <a:buChar char="●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完全掌控你的运行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45" name="Google Shape;545;g3f9b3f86724_0_42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 AI 是一场经济博弈。掌控推理成本与容量者，掌控 AI 的规模化。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9b3f86724_0_63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第二章：整合你已拥有的资源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1" name="Google Shape;551;g3f9b3f86724_0_63"/>
          <p:cNvSpPr/>
          <p:nvPr/>
        </p:nvSpPr>
        <p:spPr>
          <a:xfrm>
            <a:off x="566925" y="1300000"/>
            <a:ext cx="8010000" cy="849900"/>
          </a:xfrm>
          <a:prstGeom prst="roundRect">
            <a:avLst>
              <a:gd fmla="val 6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91440" marR="914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" sz="125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「我们在本地搭建了一套超强 AI 系统，因为我并不放心分享那些对话。事实证明，对我最有价值的知识产权是我的问题，答案只是商品。」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" marR="9144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黄仁勋，2026 年 Cisco AI 峰会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g3f9b3f86724_0_63"/>
          <p:cNvSpPr/>
          <p:nvPr/>
        </p:nvSpPr>
        <p:spPr>
          <a:xfrm>
            <a:off x="566925" y="2450000"/>
            <a:ext cx="3905100" cy="170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3" name="Google Shape;553;g3f9b3f86724_0_63"/>
          <p:cNvSpPr/>
          <p:nvPr/>
        </p:nvSpPr>
        <p:spPr>
          <a:xfrm>
            <a:off x="726925" y="25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你的工具、RAG 应用与 MCP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4" name="Google Shape;554;g3f9b3f86724_0_63"/>
          <p:cNvSpPr/>
          <p:nvPr/>
        </p:nvSpPr>
        <p:spPr>
          <a:xfrm>
            <a:off x="726925" y="2850004"/>
            <a:ext cx="3605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将工具、RAG 应用和 MCP 转化为受管控、可复用的模块。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为所有授权智能体提供安全、标准化的访问。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消除团队间的重复开发与孤立实验。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5" name="Google Shape;555;g3f9b3f86724_0_63"/>
          <p:cNvSpPr/>
          <p:nvPr/>
        </p:nvSpPr>
        <p:spPr>
          <a:xfrm>
            <a:off x="4670925" y="2450000"/>
            <a:ext cx="3905100" cy="17001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6" name="Google Shape;556;g3f9b3f86724_0_63"/>
          <p:cNvSpPr/>
          <p:nvPr/>
        </p:nvSpPr>
        <p:spPr>
          <a:xfrm>
            <a:off x="4830925" y="2530000"/>
            <a:ext cx="3624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你的数据 → 互联知识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7" name="Google Shape;557;g3f9b3f86724_0_63"/>
          <p:cNvSpPr/>
          <p:nvPr/>
        </p:nvSpPr>
        <p:spPr>
          <a:xfrm>
            <a:off x="4830928" y="2850004"/>
            <a:ext cx="3605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将专有数据整合为动态互联的知识层。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让智能体基于深层语义与关系进行推理。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Plus Jakarta Sans"/>
              <a:buChar char="●"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以可信事实支撑智能体行动，而非简单文档检索。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58" name="Google Shape;558;g3f9b3f86724_0_63"/>
          <p:cNvSpPr/>
          <p:nvPr/>
        </p:nvSpPr>
        <p:spPr>
          <a:xfrm>
            <a:off x="566928" y="43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分散的实验不再是死胡同，平台让它们可被调用，而非被取代。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g3f9b3f86724_0_63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工具、RAG 应用、MCP 与数据，统一于同一平台。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f9b3f86724_0_78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第三章：治理并可验证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65" name="Google Shape;565;g3f9b3f86724_0_78"/>
          <p:cNvSpPr/>
          <p:nvPr/>
        </p:nvSpPr>
        <p:spPr>
          <a:xfrm>
            <a:off x="566928" y="42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内建于底层，而非一份政策 PDF。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f9b3f86724_0_78"/>
          <p:cNvSpPr txBox="1"/>
          <p:nvPr>
            <p:ph idx="2" type="subTitle"/>
          </p:nvPr>
        </p:nvSpPr>
        <p:spPr>
          <a:xfrm>
            <a:off x="530349" y="731520"/>
            <a:ext cx="60762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看不见就无法放行。三个问题，均在平台层面统一解答，而非逐应用处理。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grpSp>
        <p:nvGrpSpPr>
          <p:cNvPr id="567" name="Google Shape;567;g3f9b3f86724_0_78"/>
          <p:cNvGrpSpPr/>
          <p:nvPr/>
        </p:nvGrpSpPr>
        <p:grpSpPr>
          <a:xfrm>
            <a:off x="732050" y="1339663"/>
            <a:ext cx="7679900" cy="2649900"/>
            <a:chOff x="457200" y="1300000"/>
            <a:chExt cx="7679900" cy="2649900"/>
          </a:xfrm>
        </p:grpSpPr>
        <p:sp>
          <p:nvSpPr>
            <p:cNvPr id="568" name="Google Shape;568;g3f9b3f86724_0_78"/>
            <p:cNvSpPr/>
            <p:nvPr/>
          </p:nvSpPr>
          <p:spPr>
            <a:xfrm>
              <a:off x="457200" y="1300000"/>
              <a:ext cx="2439900" cy="2649900"/>
            </a:xfrm>
            <a:prstGeom prst="roundRect">
              <a:avLst>
                <a:gd fmla="val 36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g3f9b3f86724_0_78"/>
            <p:cNvSpPr/>
            <p:nvPr/>
          </p:nvSpPr>
          <p:spPr>
            <a:xfrm>
              <a:off x="640083" y="1556038"/>
              <a:ext cx="457200" cy="457200"/>
            </a:xfrm>
            <a:prstGeom prst="ellipse">
              <a:avLst/>
            </a:prstGeom>
            <a:solidFill>
              <a:schemeClr val="accent2"/>
            </a:solidFill>
            <a:ln cap="flat" cmpd="sng" w="16500">
              <a:solidFill>
                <a:srgbClr val="4F4F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g3f9b3f86724_0_78"/>
            <p:cNvSpPr/>
            <p:nvPr/>
          </p:nvSpPr>
          <p:spPr>
            <a:xfrm>
              <a:off x="640083" y="2141254"/>
              <a:ext cx="20742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1515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谁能使用 AI，如何使用？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1" name="Google Shape;571;g3f9b3f86724_0_78"/>
            <p:cNvSpPr/>
            <p:nvPr/>
          </p:nvSpPr>
          <p:spPr>
            <a:xfrm>
              <a:off x="640075" y="2714625"/>
              <a:ext cx="20742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288925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基于角色的访问与项目隔离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每项 AI 资产均受严格管控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平台层面阻断影子 AI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2" name="Google Shape;572;g3f9b3f86724_0_78"/>
            <p:cNvSpPr/>
            <p:nvPr/>
          </p:nvSpPr>
          <p:spPr>
            <a:xfrm>
              <a:off x="3077200" y="1300000"/>
              <a:ext cx="2439900" cy="2649900"/>
            </a:xfrm>
            <a:prstGeom prst="roundRect">
              <a:avLst>
                <a:gd fmla="val 36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g3f9b3f86724_0_78"/>
            <p:cNvSpPr/>
            <p:nvPr/>
          </p:nvSpPr>
          <p:spPr>
            <a:xfrm>
              <a:off x="3260083" y="1556038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g3f9b3f86724_0_78"/>
            <p:cNvSpPr/>
            <p:nvPr/>
          </p:nvSpPr>
          <p:spPr>
            <a:xfrm>
              <a:off x="3260083" y="2141254"/>
              <a:ext cx="20742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1515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能说什么？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5" name="Google Shape;575;g3f9b3f86724_0_78"/>
            <p:cNvSpPr/>
            <p:nvPr/>
          </p:nvSpPr>
          <p:spPr>
            <a:xfrm>
              <a:off x="3260074" y="2714625"/>
              <a:ext cx="20742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288925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平台级智能体护栏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内容过滤与 PII 脱敏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自动化 LLM 安全评判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76" name="Google Shape;576;g3f9b3f86724_0_78"/>
            <p:cNvSpPr/>
            <p:nvPr/>
          </p:nvSpPr>
          <p:spPr>
            <a:xfrm>
              <a:off x="5697200" y="1300000"/>
              <a:ext cx="2439900" cy="2649900"/>
            </a:xfrm>
            <a:prstGeom prst="roundRect">
              <a:avLst>
                <a:gd fmla="val 36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g3f9b3f86724_0_78"/>
            <p:cNvSpPr/>
            <p:nvPr/>
          </p:nvSpPr>
          <p:spPr>
            <a:xfrm>
              <a:off x="5880083" y="1556038"/>
              <a:ext cx="457200" cy="457200"/>
            </a:xfrm>
            <a:prstGeom prst="ellipse">
              <a:avLst/>
            </a:prstGeom>
            <a:solidFill>
              <a:srgbClr val="15154A"/>
            </a:solidFill>
            <a:ln cap="flat" cmpd="sng" w="16500">
              <a:solidFill>
                <a:srgbClr val="1515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g3f9b3f86724_0_78"/>
            <p:cNvSpPr/>
            <p:nvPr/>
          </p:nvSpPr>
          <p:spPr>
            <a:xfrm>
              <a:off x="5880083" y="15560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g3f9b3f86724_0_78"/>
            <p:cNvSpPr/>
            <p:nvPr/>
          </p:nvSpPr>
          <p:spPr>
            <a:xfrm>
              <a:off x="5880083" y="2141254"/>
              <a:ext cx="2074200" cy="69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0" i="0" lang="en" sz="1500" u="none" cap="none" strike="noStrike">
                  <a:solidFill>
                    <a:srgbClr val="1515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能否证明它做了什么？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80" name="Google Shape;580;g3f9b3f86724_0_78"/>
            <p:cNvSpPr/>
            <p:nvPr/>
          </p:nvSpPr>
          <p:spPr>
            <a:xfrm>
              <a:off x="5880078" y="2714625"/>
              <a:ext cx="20742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288925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完整记录步骤与工具调用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信任前先评估智能体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-288925" lvl="0" marL="457200" marR="0" rtl="0" algn="l">
                <a:lnSpc>
                  <a:spcPct val="10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5A5A72"/>
                </a:buClr>
                <a:buSzPts val="950"/>
                <a:buFont typeface="Plus Jakarta Sans"/>
                <a:buChar char="●"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上线后持续监控</a:t>
              </a:r>
              <a:endParaRPr b="0" i="0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581" name="Google Shape;581;g3f9b3f86724_0_78"/>
            <p:cNvSpPr/>
            <p:nvPr/>
          </p:nvSpPr>
          <p:spPr>
            <a:xfrm>
              <a:off x="3260083" y="15560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g3f9b3f86724_0_78"/>
            <p:cNvSpPr/>
            <p:nvPr/>
          </p:nvSpPr>
          <p:spPr>
            <a:xfrm>
              <a:off x="640083" y="1556038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9b3f86724_0_195"/>
          <p:cNvSpPr txBox="1"/>
          <p:nvPr>
            <p:ph type="title"/>
          </p:nvPr>
        </p:nvSpPr>
        <p:spPr>
          <a:xfrm>
            <a:off x="533400" y="292608"/>
            <a:ext cx="81978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最难的 20%：Applied AI 与你共建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89" name="Google Shape;589;g3f9b3f86724_0_195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前线部署工程师与你的核心 AI 团队并肩作战：立足你的数据与环境，双线推进。</a:t>
            </a:r>
            <a:endParaRPr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590" name="Google Shape;590;g3f9b3f86724_0_195"/>
          <p:cNvSpPr/>
          <p:nvPr/>
        </p:nvSpPr>
        <p:spPr>
          <a:xfrm>
            <a:off x="566925" y="1580000"/>
            <a:ext cx="3905100" cy="219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g3f9b3f86724_0_195"/>
          <p:cNvSpPr/>
          <p:nvPr/>
        </p:nvSpPr>
        <p:spPr>
          <a:xfrm>
            <a:off x="786925" y="1760000"/>
            <a:ext cx="3465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基于你数据的解决方案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2" name="Google Shape;592;g3f9b3f86724_0_195"/>
          <p:cNvSpPr/>
          <p:nvPr/>
        </p:nvSpPr>
        <p:spPr>
          <a:xfrm>
            <a:off x="786925" y="2200000"/>
            <a:ext cx="34650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E5A29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· 示例：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金融犯罪检测：湖仓上的图谱 + 智能体</a:t>
            </a:r>
            <a:br>
              <a:rPr b="0" i="0" lang="en" sz="14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</a:br>
            <a:r>
              <a:rPr b="0" i="0" lang="en" sz="1000" u="none" cap="none" strike="noStrike">
                <a:solidFill>
                  <a:srgbClr val="EE5A29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基于专有数据的领域智能体工作流</a:t>
            </a:r>
            <a:br>
              <a:rPr b="0" i="0" lang="en" sz="1400" u="none" cap="none" strike="noStrike">
                <a:solidFill>
                  <a:srgbClr val="000000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</a:br>
            <a:r>
              <a:rPr b="0" i="0" lang="en" sz="1000" u="none" cap="none" strike="noStrike">
                <a:solidFill>
                  <a:srgbClr val="EE5A29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数周内基于你的数据构建高 ROI 方案</a:t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高 ROI 问题 → 落地的私有 AI 方案。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593" name="Google Shape;593;g3f9b3f86724_0_195"/>
          <p:cNvSpPr/>
          <p:nvPr/>
        </p:nvSpPr>
        <p:spPr>
          <a:xfrm>
            <a:off x="4670925" y="1580000"/>
            <a:ext cx="3905100" cy="219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g3f9b3f86724_0_195"/>
          <p:cNvSpPr/>
          <p:nvPr/>
        </p:nvSpPr>
        <p:spPr>
          <a:xfrm>
            <a:off x="4890925" y="1760000"/>
            <a:ext cx="3465000" cy="35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平台前沿共建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595" name="Google Shape;595;g3f9b3f86724_0_195"/>
          <p:cNvSpPr/>
          <p:nvPr/>
        </p:nvSpPr>
        <p:spPr>
          <a:xfrm>
            <a:off x="4890925" y="2200000"/>
            <a:ext cx="3465000" cy="1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知识与本体层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 VectorDB 与智能体记忆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 网关与新建 MCP 服务器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智能体自我演进工具</a:t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企业IT／数据部门希望掌控的前沿模块。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g3f9b3f86724_0_195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Cloudera 提供平台，Applied AI 让它真正属于你。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"/>
          <p:cNvSpPr txBox="1"/>
          <p:nvPr>
            <p:ph type="title"/>
          </p:nvPr>
        </p:nvSpPr>
        <p:spPr>
          <a:xfrm>
            <a:off x="533400" y="284253"/>
            <a:ext cx="76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关键演进： </a:t>
            </a: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 → 知识 → 行动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02" name="Google Shape;602;p4"/>
          <p:cNvSpPr txBox="1"/>
          <p:nvPr>
            <p:ph idx="1" type="body"/>
          </p:nvPr>
        </p:nvSpPr>
        <p:spPr>
          <a:xfrm>
            <a:off x="533400" y="734285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数据汇聚不等于知识互联，知识若无法回写，也算不上自动化。</a:t>
            </a:r>
            <a:endParaRPr b="0"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03" name="Google Shape;603;p4"/>
          <p:cNvSpPr/>
          <p:nvPr/>
        </p:nvSpPr>
        <p:spPr>
          <a:xfrm>
            <a:off x="180000" y="1220000"/>
            <a:ext cx="18000" cy="24501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4"/>
          <p:cNvSpPr/>
          <p:nvPr/>
        </p:nvSpPr>
        <p:spPr>
          <a:xfrm>
            <a:off x="125000" y="1170000"/>
            <a:ext cx="130000" cy="130000"/>
          </a:xfrm>
          <a:prstGeom prst="triangle">
            <a:avLst>
              <a:gd fmla="val 5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"/>
          <p:cNvSpPr txBox="1"/>
          <p:nvPr/>
        </p:nvSpPr>
        <p:spPr>
          <a:xfrm rot="-5400000">
            <a:off x="-760000" y="2295000"/>
            <a:ext cx="19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价值 · 自主性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06" name="Google Shape;606;p4"/>
          <p:cNvSpPr/>
          <p:nvPr/>
        </p:nvSpPr>
        <p:spPr>
          <a:xfrm>
            <a:off x="566925" y="1220000"/>
            <a:ext cx="8083000" cy="750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"/>
          <p:cNvSpPr/>
          <p:nvPr/>
        </p:nvSpPr>
        <p:spPr>
          <a:xfrm>
            <a:off x="566925" y="1220000"/>
            <a:ext cx="45600" cy="7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"/>
          <p:cNvSpPr txBox="1"/>
          <p:nvPr/>
        </p:nvSpPr>
        <p:spPr>
          <a:xfrm>
            <a:off x="746925" y="1340000"/>
            <a:ext cx="175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平台承载数据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09" name="Google Shape;609;p4"/>
          <p:cNvSpPr/>
          <p:nvPr/>
        </p:nvSpPr>
        <p:spPr>
          <a:xfrm>
            <a:off x="2620000" y="1310000"/>
            <a:ext cx="13000" cy="57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4"/>
          <p:cNvSpPr txBox="1"/>
          <p:nvPr/>
        </p:nvSpPr>
        <p:spPr>
          <a:xfrm>
            <a:off x="2770000" y="1310000"/>
            <a:ext cx="570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结构化、非结构化与多模态数据，统一于开放湖仓（Iceberg）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唯一受管副本，数据不出域，解决「我的数据在哪」的难题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11" name="Google Shape;611;p4"/>
          <p:cNvSpPr/>
          <p:nvPr/>
        </p:nvSpPr>
        <p:spPr>
          <a:xfrm>
            <a:off x="566925" y="2020000"/>
            <a:ext cx="8083000" cy="750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4"/>
          <p:cNvSpPr/>
          <p:nvPr/>
        </p:nvSpPr>
        <p:spPr>
          <a:xfrm>
            <a:off x="566925" y="2020000"/>
            <a:ext cx="45600" cy="750000"/>
          </a:xfrm>
          <a:prstGeom prst="rect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4"/>
          <p:cNvSpPr txBox="1"/>
          <p:nvPr/>
        </p:nvSpPr>
        <p:spPr>
          <a:xfrm>
            <a:off x="746925" y="2140000"/>
            <a:ext cx="175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语义层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14" name="Google Shape;614;p4"/>
          <p:cNvSpPr/>
          <p:nvPr/>
        </p:nvSpPr>
        <p:spPr>
          <a:xfrm>
            <a:off x="2620000" y="2110000"/>
            <a:ext cx="13000" cy="57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4"/>
          <p:cNvSpPr txBox="1"/>
          <p:nvPr/>
        </p:nvSpPr>
        <p:spPr>
          <a:xfrm>
            <a:off x="2770000" y="2110000"/>
            <a:ext cx="570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分类体系（清晰层级）· 本体（对象、关系与动作，一次定义）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跨系统实体解析：设备 → 部件 → 备件 → 供应商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16" name="Google Shape;616;p4"/>
          <p:cNvSpPr/>
          <p:nvPr/>
        </p:nvSpPr>
        <p:spPr>
          <a:xfrm>
            <a:off x="566925" y="2820000"/>
            <a:ext cx="8083000" cy="750000"/>
          </a:xfrm>
          <a:prstGeom prst="roundRect">
            <a:avLst>
              <a:gd fmla="val 500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"/>
          <p:cNvSpPr/>
          <p:nvPr/>
        </p:nvSpPr>
        <p:spPr>
          <a:xfrm>
            <a:off x="566925" y="2820000"/>
            <a:ext cx="45600" cy="7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4"/>
          <p:cNvSpPr txBox="1"/>
          <p:nvPr/>
        </p:nvSpPr>
        <p:spPr>
          <a:xfrm>
            <a:off x="746925" y="2940000"/>
            <a:ext cx="1750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行动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真正的差异化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19" name="Google Shape;619;p4"/>
          <p:cNvSpPr/>
          <p:nvPr/>
        </p:nvSpPr>
        <p:spPr>
          <a:xfrm>
            <a:off x="2620000" y="2910000"/>
            <a:ext cx="13000" cy="57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"/>
          <p:cNvSpPr txBox="1"/>
          <p:nvPr/>
        </p:nvSpPr>
        <p:spPr>
          <a:xfrm>
            <a:off x="2770000" y="2910000"/>
            <a:ext cx="57000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回写至 SAP、工单与工厂系统，而非只读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每个行动都附带可审计的证据链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21" name="Google Shape;621;p4"/>
          <p:cNvSpPr/>
          <p:nvPr/>
        </p:nvSpPr>
        <p:spPr>
          <a:xfrm>
            <a:off x="566925" y="3728320"/>
            <a:ext cx="8010000" cy="399900"/>
          </a:xfrm>
          <a:prstGeom prst="roundRect">
            <a:avLst>
              <a:gd fmla="val 15000" name="adj"/>
            </a:avLst>
          </a:prstGeom>
          <a:solidFill>
            <a:srgbClr val="F4F4FB"/>
          </a:solidFill>
          <a:ln>
            <a:noFill/>
          </a:ln>
        </p:spPr>
        <p:txBody>
          <a:bodyPr anchorCtr="0" anchor="ctr" bIns="0" lIns="182850" spcFirstLastPara="1" rIns="18285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Applied AI 的构建方式： </a:t>
            </a:r>
            <a:r>
              <a:rPr b="0" i="0" lang="en" sz="9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用例优先，只建模用例所需的架构 · 验证质量取决于知识质量 · 自主性逐级获得</a:t>
            </a:r>
            <a:endParaRPr b="0" i="0" sz="9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22" name="Google Shape;622;p4"/>
          <p:cNvSpPr/>
          <p:nvPr/>
        </p:nvSpPr>
        <p:spPr>
          <a:xfrm>
            <a:off x="0" y="4186700"/>
            <a:ext cx="914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33400" spcFirstLastPara="1" rIns="533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护城河不是模型，而是 </a:t>
            </a:r>
            <a:r>
              <a:rPr b="1" i="0" lang="en" sz="11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你的数据，安全地转化为智能体可执行的知识。</a:t>
            </a:r>
            <a:endParaRPr b="1" i="0" sz="11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"/>
          <p:cNvSpPr txBox="1"/>
          <p:nvPr>
            <p:ph type="title"/>
          </p:nvPr>
        </p:nvSpPr>
        <p:spPr>
          <a:xfrm>
            <a:off x="533400" y="284253"/>
            <a:ext cx="762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0" lang="en" sz="2300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基于你数据的自主故障诊断</a:t>
            </a:r>
            <a:endParaRPr b="0" sz="2300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28" name="Google Shape;628;p5"/>
          <p:cNvSpPr txBox="1"/>
          <p:nvPr>
            <p:ph idx="1" type="body"/>
          </p:nvPr>
        </p:nvSpPr>
        <p:spPr>
          <a:xfrm>
            <a:off x="533400" y="734285"/>
            <a:ext cx="735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示例： </a:t>
            </a: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从一次告警到根因决策，全程留痕证据，数据不出域。</a:t>
            </a:r>
            <a:endParaRPr b="0"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29" name="Google Shape;629;p5"/>
          <p:cNvSpPr/>
          <p:nvPr/>
        </p:nvSpPr>
        <p:spPr>
          <a:xfrm>
            <a:off x="180000" y="1220000"/>
            <a:ext cx="18000" cy="28600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"/>
          <p:cNvSpPr/>
          <p:nvPr/>
        </p:nvSpPr>
        <p:spPr>
          <a:xfrm rot="10800000">
            <a:off x="125000" y="4010000"/>
            <a:ext cx="130000" cy="130000"/>
          </a:xfrm>
          <a:prstGeom prst="triangle">
            <a:avLst>
              <a:gd fmla="val 5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"/>
          <p:cNvSpPr txBox="1"/>
          <p:nvPr/>
        </p:nvSpPr>
        <p:spPr>
          <a:xfrm rot="-5400000">
            <a:off x="-960000" y="2500000"/>
            <a:ext cx="2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智能体流程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32" name="Google Shape;632;p5"/>
          <p:cNvSpPr/>
          <p:nvPr/>
        </p:nvSpPr>
        <p:spPr>
          <a:xfrm>
            <a:off x="566925" y="1220000"/>
            <a:ext cx="8083000" cy="4900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"/>
          <p:cNvSpPr txBox="1"/>
          <p:nvPr/>
        </p:nvSpPr>
        <p:spPr>
          <a:xfrm>
            <a:off x="746925" y="1220000"/>
            <a:ext cx="205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01 · 接入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告警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4" name="Google Shape;634;p5"/>
          <p:cNvSpPr/>
          <p:nvPr/>
        </p:nvSpPr>
        <p:spPr>
          <a:xfrm>
            <a:off x="2920000" y="1290000"/>
            <a:ext cx="13000" cy="3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"/>
          <p:cNvSpPr txBox="1"/>
          <p:nvPr/>
        </p:nvSpPr>
        <p:spPr>
          <a:xfrm>
            <a:off x="3070000" y="1220000"/>
            <a:ext cx="540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「功率放大器过热」告警抵达 Kafka 主题，触发智能体流水线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6" name="Google Shape;636;p5"/>
          <p:cNvSpPr/>
          <p:nvPr/>
        </p:nvSpPr>
        <p:spPr>
          <a:xfrm>
            <a:off x="566925" y="1780000"/>
            <a:ext cx="8083000" cy="4900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"/>
          <p:cNvSpPr txBox="1"/>
          <p:nvPr/>
        </p:nvSpPr>
        <p:spPr>
          <a:xfrm>
            <a:off x="746925" y="1780000"/>
            <a:ext cx="205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02 · SOP 智能体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假设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38" name="Google Shape;638;p5"/>
          <p:cNvSpPr/>
          <p:nvPr/>
        </p:nvSpPr>
        <p:spPr>
          <a:xfrm>
            <a:off x="2920000" y="1850000"/>
            <a:ext cx="13000" cy="3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"/>
          <p:cNvSpPr txBox="1"/>
          <p:nvPr/>
        </p:nvSpPr>
        <p:spPr>
          <a:xfrm>
            <a:off x="3070000" y="1780000"/>
            <a:ext cx="540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检索正确版本的设备手册，列出五个候选原因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0" name="Google Shape;640;p5"/>
          <p:cNvSpPr/>
          <p:nvPr/>
        </p:nvSpPr>
        <p:spPr>
          <a:xfrm>
            <a:off x="566925" y="2340000"/>
            <a:ext cx="8082900" cy="4899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"/>
          <p:cNvSpPr txBox="1"/>
          <p:nvPr/>
        </p:nvSpPr>
        <p:spPr>
          <a:xfrm>
            <a:off x="746925" y="2340000"/>
            <a:ext cx="205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03 · 关联智能体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上下文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2" name="Google Shape;642;p5"/>
          <p:cNvSpPr/>
          <p:nvPr/>
        </p:nvSpPr>
        <p:spPr>
          <a:xfrm>
            <a:off x="2920000" y="2410000"/>
            <a:ext cx="13000" cy="35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"/>
          <p:cNvSpPr txBox="1"/>
          <p:nvPr/>
        </p:nvSpPr>
        <p:spPr>
          <a:xfrm>
            <a:off x="3070000" y="2340000"/>
            <a:ext cx="5400000" cy="4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时间 + 空间：同型号历史告警；关联风扇是否同时告警？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4" name="Google Shape;644;p5"/>
          <p:cNvSpPr/>
          <p:nvPr/>
        </p:nvSpPr>
        <p:spPr>
          <a:xfrm>
            <a:off x="566925" y="2900000"/>
            <a:ext cx="8083000" cy="620000"/>
          </a:xfrm>
          <a:prstGeom prst="roundRect">
            <a:avLst>
              <a:gd fmla="val 5500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5"/>
          <p:cNvSpPr txBox="1"/>
          <p:nvPr/>
        </p:nvSpPr>
        <p:spPr>
          <a:xfrm>
            <a:off x="746925" y="2900000"/>
            <a:ext cx="205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04 · 诊断智能体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验证与排除</a:t>
            </a:r>
            <a:endParaRPr b="0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6" name="Google Shape;646;p5"/>
          <p:cNvSpPr/>
          <p:nvPr/>
        </p:nvSpPr>
        <p:spPr>
          <a:xfrm>
            <a:off x="2920000" y="2960000"/>
            <a:ext cx="13000" cy="5000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"/>
          <p:cNvSpPr txBox="1"/>
          <p:nvPr/>
        </p:nvSpPr>
        <p:spPr>
          <a:xfrm>
            <a:off x="3070000" y="2900000"/>
            <a:ext cx="54000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-160000" lvl="0" marL="1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Plus Jakarta Sans"/>
              <a:buChar char="•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通过 MCP 获取的图像正常，排除一个原因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00" lvl="0" marL="1600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Plus Jakarta Sans"/>
              <a:buChar char="•"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风扇昨日曾降速告警，此后温度持续上升，确认为风扇故障</a:t>
            </a:r>
            <a:endParaRPr b="0" i="0" sz="95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48" name="Google Shape;648;p5"/>
          <p:cNvSpPr/>
          <p:nvPr/>
        </p:nvSpPr>
        <p:spPr>
          <a:xfrm>
            <a:off x="566925" y="3610000"/>
            <a:ext cx="8082900" cy="489900"/>
          </a:xfrm>
          <a:prstGeom prst="roundRect">
            <a:avLst>
              <a:gd fmla="val 7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"/>
          <p:cNvSpPr txBox="1"/>
          <p:nvPr/>
        </p:nvSpPr>
        <p:spPr>
          <a:xfrm>
            <a:off x="746925" y="361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结果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根因 + 证据</a:t>
            </a:r>
            <a:endParaRPr b="0" i="0" sz="11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0" name="Google Shape;650;p5"/>
          <p:cNvSpPr/>
          <p:nvPr/>
        </p:nvSpPr>
        <p:spPr>
          <a:xfrm>
            <a:off x="2920000" y="3680000"/>
            <a:ext cx="12900" cy="350100"/>
          </a:xfrm>
          <a:prstGeom prst="rect">
            <a:avLst/>
          </a:prstGeom>
          <a:solidFill>
            <a:srgbClr val="3A3A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"/>
          <p:cNvSpPr txBox="1"/>
          <p:nvPr/>
        </p:nvSpPr>
        <p:spPr>
          <a:xfrm>
            <a:off x="3070000" y="361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根因是风扇。 </a:t>
            </a:r>
            <a:r>
              <a:rPr b="0" i="0" lang="en" sz="950" u="none" cap="none" strike="noStrike">
                <a:solidFill>
                  <a:srgbClr val="C9C9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处理建议回写至工单系统，所有数据点汇编为完整证据链。</a:t>
            </a:r>
            <a:endParaRPr b="0" i="0" sz="950" u="none" cap="none" strike="noStrike">
              <a:solidFill>
                <a:srgbClr val="C9C9E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2" name="Google Shape;652;p5"/>
          <p:cNvSpPr/>
          <p:nvPr/>
        </p:nvSpPr>
        <p:spPr>
          <a:xfrm>
            <a:off x="0" y="4186700"/>
            <a:ext cx="914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33400" spcFirstLastPara="1" rIns="533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多模态数据结合互联知识层，将原始告警转化为 </a:t>
            </a:r>
            <a:r>
              <a:rPr b="1" i="0" lang="en" sz="11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基于你数据的可信、可审计决策</a:t>
            </a: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。</a:t>
            </a:r>
            <a:endParaRPr b="1" i="0" sz="1100" u="none" cap="none" strike="noStrike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409c8fc2ecc_0_48"/>
          <p:cNvSpPr txBox="1"/>
          <p:nvPr>
            <p:ph type="title"/>
          </p:nvPr>
        </p:nvSpPr>
        <p:spPr>
          <a:xfrm>
            <a:off x="533400" y="284253"/>
            <a:ext cx="7620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在你的数据上自主完成关口评审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58" name="Google Shape;658;g409c8fc2ecc_0_48"/>
          <p:cNvSpPr txBox="1"/>
          <p:nvPr>
            <p:ph idx="1" type="body"/>
          </p:nvPr>
        </p:nvSpPr>
        <p:spPr>
          <a:xfrm>
            <a:off x="533400" y="734285"/>
            <a:ext cx="735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示例：从处于放行关口的项目，到可审计的 PASS / CONDITIONAL / FAIL 决策。全部在你的数据上，不出域。</a:t>
            </a:r>
            <a:endParaRPr>
              <a:solidFill>
                <a:srgbClr val="5555F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59" name="Google Shape;659;g409c8fc2ecc_0_48"/>
          <p:cNvSpPr/>
          <p:nvPr/>
        </p:nvSpPr>
        <p:spPr>
          <a:xfrm>
            <a:off x="180000" y="1220000"/>
            <a:ext cx="18000" cy="2859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g409c8fc2ecc_0_48"/>
          <p:cNvSpPr/>
          <p:nvPr/>
        </p:nvSpPr>
        <p:spPr>
          <a:xfrm rot="10800000">
            <a:off x="125100" y="4010100"/>
            <a:ext cx="129900" cy="129900"/>
          </a:xfrm>
          <a:prstGeom prst="triangle">
            <a:avLst>
              <a:gd fmla="val 50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g409c8fc2ecc_0_48"/>
          <p:cNvSpPr txBox="1"/>
          <p:nvPr/>
        </p:nvSpPr>
        <p:spPr>
          <a:xfrm rot="-5400000">
            <a:off x="-960050" y="2499950"/>
            <a:ext cx="23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关口评审</a:t>
            </a:r>
            <a:r>
              <a:rPr b="0" i="0" lang="en" sz="800" u="none" cap="none" strike="noStrike">
                <a:solidFill>
                  <a:srgbClr val="5A5A7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流程</a:t>
            </a:r>
            <a:endParaRPr b="0" i="0" sz="800" u="none" cap="none" strike="noStrike">
              <a:solidFill>
                <a:srgbClr val="5A5A7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62" name="Google Shape;662;g409c8fc2ecc_0_48"/>
          <p:cNvSpPr/>
          <p:nvPr/>
        </p:nvSpPr>
        <p:spPr>
          <a:xfrm>
            <a:off x="566925" y="1220000"/>
            <a:ext cx="8082900" cy="4899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g409c8fc2ecc_0_48"/>
          <p:cNvSpPr txBox="1"/>
          <p:nvPr/>
        </p:nvSpPr>
        <p:spPr>
          <a:xfrm>
            <a:off x="746925" y="122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accent3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01 · 接入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项目进入关口</a:t>
            </a:r>
            <a:endParaRPr sz="1100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4" name="Google Shape;664;g409c8fc2ecc_0_48"/>
          <p:cNvSpPr/>
          <p:nvPr/>
        </p:nvSpPr>
        <p:spPr>
          <a:xfrm>
            <a:off x="2920000" y="1290000"/>
            <a:ext cx="12900" cy="3501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409c8fc2ecc_0_48"/>
          <p:cNvSpPr txBox="1"/>
          <p:nvPr/>
        </p:nvSpPr>
        <p:spPr>
          <a:xfrm>
            <a:off x="3070000" y="122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示范电池包项目 PACK-ATLAS-01 进入放行关口，启动 5 智能体评审</a:t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6" name="Google Shape;666;g409c8fc2ecc_0_48"/>
          <p:cNvSpPr/>
          <p:nvPr/>
        </p:nvSpPr>
        <p:spPr>
          <a:xfrm>
            <a:off x="566925" y="1780000"/>
            <a:ext cx="8082900" cy="4899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g409c8fc2ecc_0_48"/>
          <p:cNvSpPr txBox="1"/>
          <p:nvPr/>
        </p:nvSpPr>
        <p:spPr>
          <a:xfrm>
            <a:off x="746925" y="178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02 · </a:t>
            </a:r>
            <a:r>
              <a:rPr b="1" lang="en" sz="800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工程智能体</a:t>
            </a:r>
            <a:endParaRPr b="1" sz="800">
              <a:solidFill>
                <a:srgbClr val="EE5A2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覆盖与测试结论</a:t>
            </a:r>
            <a:endParaRPr sz="1100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68" name="Google Shape;668;g409c8fc2ecc_0_48"/>
          <p:cNvSpPr/>
          <p:nvPr/>
        </p:nvSpPr>
        <p:spPr>
          <a:xfrm>
            <a:off x="2920000" y="1850000"/>
            <a:ext cx="12900" cy="3501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g409c8fc2ecc_0_48"/>
          <p:cNvSpPr txBox="1"/>
          <p:nvPr/>
        </p:nvSpPr>
        <p:spPr>
          <a:xfrm>
            <a:off x="3070000" y="178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计算追溯矩阵 —— 有一条需求无测试计划；热测试以 +3% 裕度落在 MARGINAL</a:t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0" name="Google Shape;670;g409c8fc2ecc_0_48"/>
          <p:cNvSpPr/>
          <p:nvPr/>
        </p:nvSpPr>
        <p:spPr>
          <a:xfrm>
            <a:off x="566925" y="2340000"/>
            <a:ext cx="8082900" cy="489900"/>
          </a:xfrm>
          <a:prstGeom prst="roundRect">
            <a:avLst>
              <a:gd fmla="val 7000" name="adj"/>
            </a:avLst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g409c8fc2ecc_0_48"/>
          <p:cNvSpPr txBox="1"/>
          <p:nvPr/>
        </p:nvSpPr>
        <p:spPr>
          <a:xfrm>
            <a:off x="746925" y="234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03 · 风险与合规</a:t>
            </a:r>
            <a:endParaRPr b="1" sz="800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评分与标准</a:t>
            </a:r>
            <a:endParaRPr sz="1100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2" name="Google Shape;672;g409c8fc2ecc_0_48"/>
          <p:cNvSpPr/>
          <p:nvPr/>
        </p:nvSpPr>
        <p:spPr>
          <a:xfrm>
            <a:off x="2920000" y="2410000"/>
            <a:ext cx="12900" cy="3501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g409c8fc2ecc_0_48"/>
          <p:cNvSpPr txBox="1"/>
          <p:nvPr/>
        </p:nvSpPr>
        <p:spPr>
          <a:xfrm>
            <a:off x="3070000" y="234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" sz="950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设计风险模型将热需求标为 HIGH；核对必备标准 UN 38.3 · GB 38031 · IEC 62660 的覆盖</a:t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4" name="Google Shape;674;g409c8fc2ecc_0_48"/>
          <p:cNvSpPr/>
          <p:nvPr/>
        </p:nvSpPr>
        <p:spPr>
          <a:xfrm>
            <a:off x="566925" y="2900000"/>
            <a:ext cx="8082900" cy="620100"/>
          </a:xfrm>
          <a:prstGeom prst="roundRect">
            <a:avLst>
              <a:gd fmla="val 5500" name="adj"/>
            </a:avLst>
          </a:prstGeom>
          <a:solidFill>
            <a:schemeClr val="lt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g409c8fc2ecc_0_48"/>
          <p:cNvSpPr txBox="1"/>
          <p:nvPr/>
        </p:nvSpPr>
        <p:spPr>
          <a:xfrm>
            <a:off x="746925" y="2900000"/>
            <a:ext cx="20499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04 · 知识复用</a:t>
            </a:r>
            <a:endParaRPr b="1" sz="800">
              <a:solidFill>
                <a:srgbClr val="EE5A2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结合历史验证</a:t>
            </a:r>
            <a:endParaRPr sz="1100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6" name="Google Shape;676;g409c8fc2ecc_0_48"/>
          <p:cNvSpPr/>
          <p:nvPr/>
        </p:nvSpPr>
        <p:spPr>
          <a:xfrm>
            <a:off x="2920000" y="2960000"/>
            <a:ext cx="12900" cy="500100"/>
          </a:xfrm>
          <a:prstGeom prst="rect">
            <a:avLst/>
          </a:prstGeom>
          <a:solidFill>
            <a:srgbClr val="E2E2E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g409c8fc2ecc_0_48"/>
          <p:cNvSpPr txBox="1"/>
          <p:nvPr/>
        </p:nvSpPr>
        <p:spPr>
          <a:xfrm>
            <a:off x="3070000" y="2900000"/>
            <a:ext cx="54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-160000" lvl="0" marL="1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Plus Jakarta Sans"/>
              <a:buChar char="•"/>
            </a:pPr>
            <a:r>
              <a:rPr lang="en" sz="950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知识库检索到 PACK-ORION-00 的热设计图 + 测试报告（历史 FAIL）</a:t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160000" lvl="0" marL="1600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34D399"/>
              </a:buClr>
              <a:buSzPts val="950"/>
              <a:buFont typeface="Plus Jakarta Sans"/>
              <a:buChar char="•"/>
            </a:pPr>
            <a:r>
              <a:rPr lang="en" sz="950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历史失败印证了 HIGH 风险 + MARGINAL 测试 —— 隐患得到确认</a:t>
            </a:r>
            <a:endParaRPr sz="950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78" name="Google Shape;678;g409c8fc2ecc_0_48"/>
          <p:cNvSpPr/>
          <p:nvPr/>
        </p:nvSpPr>
        <p:spPr>
          <a:xfrm>
            <a:off x="566925" y="3610000"/>
            <a:ext cx="8082900" cy="489900"/>
          </a:xfrm>
          <a:prstGeom prst="roundRect">
            <a:avLst>
              <a:gd fmla="val 7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g409c8fc2ecc_0_48"/>
          <p:cNvSpPr txBox="1"/>
          <p:nvPr/>
        </p:nvSpPr>
        <p:spPr>
          <a:xfrm>
            <a:off x="746925" y="3610000"/>
            <a:ext cx="204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结果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建议 + 证据</a:t>
            </a:r>
            <a:endParaRPr sz="110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0" name="Google Shape;680;g409c8fc2ecc_0_48"/>
          <p:cNvSpPr/>
          <p:nvPr/>
        </p:nvSpPr>
        <p:spPr>
          <a:xfrm>
            <a:off x="2920000" y="3680000"/>
            <a:ext cx="12900" cy="350100"/>
          </a:xfrm>
          <a:prstGeom prst="rect">
            <a:avLst/>
          </a:prstGeom>
          <a:solidFill>
            <a:srgbClr val="3A3A6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g409c8fc2ecc_0_48"/>
          <p:cNvSpPr txBox="1"/>
          <p:nvPr/>
        </p:nvSpPr>
        <p:spPr>
          <a:xfrm>
            <a:off x="3070000" y="3610000"/>
            <a:ext cx="5400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lang="en" sz="95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CONDITIONAL。由 traceability.decide() 代码计算；每条发现都汇编成证据链，再由人工裁定。</a:t>
            </a:r>
            <a:endParaRPr b="1" sz="950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2" name="Google Shape;682;g409c8fc2ecc_0_48"/>
          <p:cNvSpPr/>
          <p:nvPr/>
        </p:nvSpPr>
        <p:spPr>
          <a:xfrm>
            <a:off x="0" y="4186700"/>
            <a:ext cx="91440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33400" spcFirstLastPara="1" rIns="5334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确定性内核加上互联的知识层，把一个原始项目转化为</a:t>
            </a:r>
            <a:r>
              <a:rPr b="1" i="0" lang="en" sz="110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" sz="1100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可信、可审计的关口决策，就在你的数据上</a:t>
            </a:r>
            <a:r>
              <a:rPr b="1" lang="en" sz="1100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。</a:t>
            </a:r>
            <a:endParaRPr b="1" i="0" sz="1100" u="none" cap="none" strike="noStrike">
              <a:solidFill>
                <a:schemeClr val="accent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409c8fc2ecc_0_78"/>
          <p:cNvSpPr/>
          <p:nvPr/>
        </p:nvSpPr>
        <p:spPr>
          <a:xfrm>
            <a:off x="533095" y="284378"/>
            <a:ext cx="7680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200"/>
              <a:buFont typeface="Microsoft YaHei"/>
              <a:buNone/>
            </a:pPr>
            <a:r>
              <a:rPr i="0" lang="en" sz="2300" u="none" cap="none" strike="noStrike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车辆 NPI 蓝图能做什么</a:t>
            </a:r>
            <a:endParaRPr i="0" sz="2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89" name="Google Shape;689;g409c8fc2ecc_0_78"/>
          <p:cNvSpPr/>
          <p:nvPr/>
        </p:nvSpPr>
        <p:spPr>
          <a:xfrm>
            <a:off x="533095" y="734263"/>
            <a:ext cx="694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100"/>
              <a:buFont typeface="Microsoft YaHei"/>
              <a:buNone/>
            </a:pPr>
            <a:r>
              <a:rPr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一个 Cloudera 应用：确定性工程测试台、设计风险模型，以及一个 5 智能体的关口评审工作台，把原始项目数据转化为可审计的放行决策。</a:t>
            </a:r>
            <a:endParaRPr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690" name="Google Shape;690;g409c8fc2ecc_0_78"/>
          <p:cNvSpPr/>
          <p:nvPr/>
        </p:nvSpPr>
        <p:spPr>
          <a:xfrm>
            <a:off x="533095" y="1417320"/>
            <a:ext cx="2469000" cy="28347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g409c8fc2ecc_0_78"/>
          <p:cNvSpPr/>
          <p:nvPr/>
        </p:nvSpPr>
        <p:spPr>
          <a:xfrm>
            <a:off x="533095" y="1417320"/>
            <a:ext cx="2469000" cy="732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g409c8fc2ecc_0_78"/>
          <p:cNvSpPr/>
          <p:nvPr/>
        </p:nvSpPr>
        <p:spPr>
          <a:xfrm>
            <a:off x="734263" y="1600200"/>
            <a:ext cx="20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300"/>
              <a:buFont typeface="Microsoft YaHei"/>
              <a:buNone/>
            </a:pPr>
            <a:r>
              <a:rPr i="0" lang="en" sz="13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工程</a:t>
            </a:r>
            <a:endParaRPr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93" name="Google Shape;693;g409c8fc2ecc_0_78"/>
          <p:cNvSpPr/>
          <p:nvPr/>
        </p:nvSpPr>
        <p:spPr>
          <a:xfrm>
            <a:off x="734263" y="1911096"/>
            <a:ext cx="2066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250"/>
              <a:buFont typeface="Microsoft YaHei"/>
              <a:buNone/>
            </a:pPr>
            <a:r>
              <a:rPr i="0" lang="en" sz="12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仪表盘 — 项目驾驶舱</a:t>
            </a:r>
            <a:endParaRPr i="0" sz="12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94" name="Google Shape;694;g409c8fc2ecc_0_78"/>
          <p:cNvSpPr/>
          <p:nvPr/>
        </p:nvSpPr>
        <p:spPr>
          <a:xfrm>
            <a:off x="734263" y="2350008"/>
            <a:ext cx="20664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Plus Jakarta Sans Light"/>
              <a:buChar char="•"/>
            </a:pPr>
            <a:r>
              <a:rPr i="0" lang="en" sz="1000" u="none" cap="none" strike="noStrike">
                <a:solidFill>
                  <a:srgbClr val="1B1B3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需求 → 设计 → 测试端到端追溯，缺口自动标记</a:t>
            </a:r>
            <a:endParaRPr i="0" sz="1000" u="none" cap="none" strike="noStrike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Plus Jakarta Sans Light"/>
              <a:buChar char="•"/>
            </a:pPr>
            <a:r>
              <a:rPr i="0" lang="en" sz="1000" u="none" cap="none" strike="noStrike">
                <a:solidFill>
                  <a:srgbClr val="1B1B3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5 智能体协同审查覆盖度、测试结论、合规、设计风险与历史项目复用</a:t>
            </a:r>
            <a:endParaRPr i="0" sz="1000" u="none" cap="none" strike="noStrike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Plus Jakarta Sans Light"/>
              <a:buChar char="•"/>
            </a:pPr>
            <a:r>
              <a:rPr i="0" lang="en" sz="1000" u="none" cap="none" strike="noStrike">
                <a:solidFill>
                  <a:srgbClr val="1B1B3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汇总发现 + 代码计算的 PASS / CONDITIONAL / FAIL，再由人工决策</a:t>
            </a:r>
            <a:endParaRPr i="0" sz="1000" u="none" cap="none" strike="noStrike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695" name="Google Shape;695;g409c8fc2ecc_0_78"/>
          <p:cNvSpPr/>
          <p:nvPr/>
        </p:nvSpPr>
        <p:spPr>
          <a:xfrm>
            <a:off x="3294583" y="1417320"/>
            <a:ext cx="2469000" cy="28347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409c8fc2ecc_0_78"/>
          <p:cNvSpPr/>
          <p:nvPr/>
        </p:nvSpPr>
        <p:spPr>
          <a:xfrm>
            <a:off x="3294583" y="1417320"/>
            <a:ext cx="2469000" cy="732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g409c8fc2ecc_0_78"/>
          <p:cNvSpPr/>
          <p:nvPr/>
        </p:nvSpPr>
        <p:spPr>
          <a:xfrm>
            <a:off x="3495751" y="1600200"/>
            <a:ext cx="20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300"/>
              <a:buFont typeface="Microsoft YaHei"/>
              <a:buNone/>
            </a:pPr>
            <a:r>
              <a:rPr i="0" lang="en" sz="13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评分</a:t>
            </a:r>
            <a:endParaRPr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98" name="Google Shape;698;g409c8fc2ecc_0_78"/>
          <p:cNvSpPr/>
          <p:nvPr/>
        </p:nvSpPr>
        <p:spPr>
          <a:xfrm>
            <a:off x="3495751" y="1911096"/>
            <a:ext cx="2066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250"/>
              <a:buFont typeface="Microsoft YaHei"/>
              <a:buNone/>
            </a:pPr>
            <a:r>
              <a:rPr i="0" lang="en" sz="12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设计风险模型</a:t>
            </a:r>
            <a:endParaRPr i="0" sz="12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699" name="Google Shape;699;g409c8fc2ecc_0_78"/>
          <p:cNvSpPr/>
          <p:nvPr/>
        </p:nvSpPr>
        <p:spPr>
          <a:xfrm>
            <a:off x="3495751" y="2350008"/>
            <a:ext cx="20664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Plus Jakarta Sans Light"/>
              <a:buChar char="•"/>
            </a:pPr>
            <a:r>
              <a:rPr i="0" lang="en" sz="1000" u="none" cap="none" strike="noStrike">
                <a:solidFill>
                  <a:srgbClr val="1B1B3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基于历史项目结果训练的梯度提升模型</a:t>
            </a:r>
            <a:endParaRPr i="0" sz="1000" u="none" cap="none" strike="noStrike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Plus Jakarta Sans Light"/>
              <a:buChar char="•"/>
            </a:pPr>
            <a:r>
              <a:rPr i="0" lang="en" sz="1000" u="none" cap="none" strike="noStrike">
                <a:solidFill>
                  <a:srgbClr val="1B1B3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每条需求评为 LOW / MEDIUM / HIGH，并给出主要贡献特征</a:t>
            </a:r>
            <a:endParaRPr i="0" sz="1000" u="none" cap="none" strike="noStrike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Plus Jakarta Sans Light"/>
              <a:buChar char="•"/>
            </a:pPr>
            <a:r>
              <a:rPr i="0" lang="en" sz="1000" u="none" cap="none" strike="noStrike">
                <a:solidFill>
                  <a:srgbClr val="1B1B3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新项目数据 → 重新评分 → 每个关口刷新风险视图</a:t>
            </a:r>
            <a:endParaRPr i="0" sz="1000" u="none" cap="none" strike="noStrike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700" name="Google Shape;700;g409c8fc2ecc_0_78"/>
          <p:cNvSpPr/>
          <p:nvPr/>
        </p:nvSpPr>
        <p:spPr>
          <a:xfrm>
            <a:off x="6056071" y="1417320"/>
            <a:ext cx="2469000" cy="28347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g409c8fc2ecc_0_78"/>
          <p:cNvSpPr/>
          <p:nvPr/>
        </p:nvSpPr>
        <p:spPr>
          <a:xfrm>
            <a:off x="6056071" y="1417320"/>
            <a:ext cx="2469000" cy="732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409c8fc2ecc_0_78"/>
          <p:cNvSpPr/>
          <p:nvPr/>
        </p:nvSpPr>
        <p:spPr>
          <a:xfrm>
            <a:off x="6257239" y="1600200"/>
            <a:ext cx="2066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300"/>
              <a:buFont typeface="Microsoft YaHei"/>
              <a:buNone/>
            </a:pPr>
            <a:r>
              <a:rPr i="0" lang="en" sz="13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复用</a:t>
            </a:r>
            <a:endParaRPr i="0" sz="1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03" name="Google Shape;703;g409c8fc2ecc_0_78"/>
          <p:cNvSpPr/>
          <p:nvPr/>
        </p:nvSpPr>
        <p:spPr>
          <a:xfrm>
            <a:off x="6257239" y="1911096"/>
            <a:ext cx="2066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250"/>
              <a:buFont typeface="Microsoft YaHei"/>
              <a:buNone/>
            </a:pPr>
            <a:r>
              <a:rPr i="0" lang="en" sz="12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面向任意智能体框架开放</a:t>
            </a:r>
            <a:endParaRPr i="0" sz="12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04" name="Google Shape;704;g409c8fc2ecc_0_78"/>
          <p:cNvSpPr/>
          <p:nvPr/>
        </p:nvSpPr>
        <p:spPr>
          <a:xfrm>
            <a:off x="6257239" y="2350008"/>
            <a:ext cx="20664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Plus Jakarta Sans Light"/>
              <a:buChar char="•"/>
            </a:pPr>
            <a:r>
              <a:rPr i="0" lang="en" sz="1000" u="none" cap="none" strike="noStrike">
                <a:solidFill>
                  <a:srgbClr val="1B1B3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多模态知识库（Lance）：历史项目的规格、图像与测试报告</a:t>
            </a:r>
            <a:endParaRPr i="0" sz="1000" u="none" cap="none" strike="noStrike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Plus Jakarta Sans Light"/>
              <a:buChar char="•"/>
            </a:pPr>
            <a:r>
              <a:rPr i="0" lang="en" sz="1000" u="none" cap="none" strike="noStrike">
                <a:solidFill>
                  <a:srgbClr val="1B1B3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以客户为中心的 API + Swagger</a:t>
            </a:r>
            <a:endParaRPr i="0" sz="1000" u="none" cap="none" strike="noStrike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Plus Jakarta Sans Light"/>
              <a:buChar char="•"/>
            </a:pPr>
            <a:r>
              <a:rPr i="0" lang="en" sz="1000" u="none" cap="none" strike="noStrike">
                <a:solidFill>
                  <a:srgbClr val="1B1B3A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Cloudera AI Agent Studio / Claude Code</a:t>
            </a:r>
            <a:endParaRPr i="0" sz="1000" u="none" cap="none" strike="noStrike">
              <a:solidFill>
                <a:schemeClr val="dk1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705" name="Google Shape;705;g409c8fc2ecc_0_78"/>
          <p:cNvSpPr/>
          <p:nvPr/>
        </p:nvSpPr>
        <p:spPr>
          <a:xfrm>
            <a:off x="533095" y="4370832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150"/>
              <a:buFont typeface="Microsoft YaHei"/>
              <a:buNone/>
            </a:pPr>
            <a:r>
              <a:rPr i="1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一个受治理的平台 —— 在你自己的项目数据上审查、评分并复用工程知识。</a:t>
            </a:r>
            <a:endParaRPr i="0" sz="11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docs/assets/corner-motif.png" id="706" name="Google Shape;706;g409c8fc2ecc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6952" y="0"/>
            <a:ext cx="1532534" cy="3245206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g409c8fc2ecc_0_78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409c8fc2ecc_0_78"/>
          <p:cNvSpPr/>
          <p:nvPr/>
        </p:nvSpPr>
        <p:spPr>
          <a:xfrm>
            <a:off x="380390" y="4737506"/>
            <a:ext cx="4617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92"/>
              </a:buClr>
              <a:buSzPts val="600"/>
              <a:buFont typeface="Microsoft YaHei"/>
              <a:buNone/>
            </a:pPr>
            <a:r>
              <a:rPr b="0" i="0" lang="en" sz="600" u="none" cap="none" strike="noStrike">
                <a:solidFill>
                  <a:srgbClr val="88889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©2026 Cloudera, Inc. All Rights Reserved.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assets/cloudera-wordmark.png" id="709" name="Google Shape;709;g409c8fc2ecc_0_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2944" y="4764024"/>
            <a:ext cx="1133857" cy="142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409c8fc2ecc_0_104"/>
          <p:cNvSpPr/>
          <p:nvPr/>
        </p:nvSpPr>
        <p:spPr>
          <a:xfrm>
            <a:off x="533095" y="284378"/>
            <a:ext cx="7680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200"/>
              <a:buFont typeface="Microsoft YaHei"/>
              <a:buNone/>
            </a:pPr>
            <a:r>
              <a:rPr i="0" lang="en" sz="2300" u="none" cap="none" strike="noStrike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一个受治理的闭环 —— 代码做决策，智能体做解读</a:t>
            </a:r>
            <a:endParaRPr i="0" sz="23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16" name="Google Shape;716;g409c8fc2ecc_0_104"/>
          <p:cNvSpPr/>
          <p:nvPr/>
        </p:nvSpPr>
        <p:spPr>
          <a:xfrm>
            <a:off x="533095" y="734263"/>
            <a:ext cx="694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100"/>
              <a:buFont typeface="Microsoft YaHei"/>
              <a:buNone/>
            </a:pPr>
            <a:r>
              <a:rPr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工程师执行关口评审；每条建议都可追溯到确定性计算 —— 大模型只负责叙述。</a:t>
            </a:r>
            <a:endParaRPr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717" name="Google Shape;717;g409c8fc2ecc_0_104"/>
          <p:cNvSpPr/>
          <p:nvPr/>
        </p:nvSpPr>
        <p:spPr>
          <a:xfrm>
            <a:off x="533095" y="1920240"/>
            <a:ext cx="1331400" cy="8046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409c8fc2ecc_0_104"/>
          <p:cNvSpPr/>
          <p:nvPr/>
        </p:nvSpPr>
        <p:spPr>
          <a:xfrm>
            <a:off x="587959" y="1975104"/>
            <a:ext cx="1221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Microsoft YaHei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项目数据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9" name="Google Shape;719;g409c8fc2ecc_0_104"/>
          <p:cNvCxnSpPr/>
          <p:nvPr/>
        </p:nvCxnSpPr>
        <p:spPr>
          <a:xfrm>
            <a:off x="1864462" y="2322576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5A5A7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0" name="Google Shape;720;g409c8fc2ecc_0_104"/>
          <p:cNvSpPr/>
          <p:nvPr/>
        </p:nvSpPr>
        <p:spPr>
          <a:xfrm>
            <a:off x="2120494" y="1920240"/>
            <a:ext cx="1331400" cy="8046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g409c8fc2ecc_0_104"/>
          <p:cNvSpPr/>
          <p:nvPr/>
        </p:nvSpPr>
        <p:spPr>
          <a:xfrm>
            <a:off x="2175358" y="1975104"/>
            <a:ext cx="1221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Microsoft YaHei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测试台 +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Microsoft YaHei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追溯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2" name="Google Shape;722;g409c8fc2ecc_0_104"/>
          <p:cNvCxnSpPr/>
          <p:nvPr/>
        </p:nvCxnSpPr>
        <p:spPr>
          <a:xfrm>
            <a:off x="3451860" y="2322576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5A5A7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3" name="Google Shape;723;g409c8fc2ecc_0_104"/>
          <p:cNvSpPr/>
          <p:nvPr/>
        </p:nvSpPr>
        <p:spPr>
          <a:xfrm>
            <a:off x="3707892" y="1920240"/>
            <a:ext cx="1331400" cy="8046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g409c8fc2ecc_0_104"/>
          <p:cNvSpPr/>
          <p:nvPr/>
        </p:nvSpPr>
        <p:spPr>
          <a:xfrm>
            <a:off x="3762756" y="1975104"/>
            <a:ext cx="1221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Microsoft YaHei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设计风险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Microsoft YaHei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模型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5" name="Google Shape;725;g409c8fc2ecc_0_104"/>
          <p:cNvCxnSpPr/>
          <p:nvPr/>
        </p:nvCxnSpPr>
        <p:spPr>
          <a:xfrm>
            <a:off x="5039258" y="2322576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5A5A7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6" name="Google Shape;726;g409c8fc2ecc_0_104"/>
          <p:cNvSpPr/>
          <p:nvPr/>
        </p:nvSpPr>
        <p:spPr>
          <a:xfrm>
            <a:off x="5295290" y="1920240"/>
            <a:ext cx="1331400" cy="8046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g409c8fc2ecc_0_104"/>
          <p:cNvSpPr/>
          <p:nvPr/>
        </p:nvSpPr>
        <p:spPr>
          <a:xfrm>
            <a:off x="5350154" y="1975104"/>
            <a:ext cx="1221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Microsoft YaHei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5 智能体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Microsoft YaHei"/>
              <a:buNone/>
            </a:pPr>
            <a:r>
              <a:rPr b="1" i="0" lang="en" sz="105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关口评审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8" name="Google Shape;728;g409c8fc2ecc_0_104"/>
          <p:cNvCxnSpPr/>
          <p:nvPr/>
        </p:nvCxnSpPr>
        <p:spPr>
          <a:xfrm>
            <a:off x="6626657" y="2322576"/>
            <a:ext cx="255900" cy="0"/>
          </a:xfrm>
          <a:prstGeom prst="straightConnector1">
            <a:avLst/>
          </a:prstGeom>
          <a:noFill/>
          <a:ln cap="flat" cmpd="sng" w="19050">
            <a:solidFill>
              <a:srgbClr val="5A5A7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9" name="Google Shape;729;g409c8fc2ecc_0_104"/>
          <p:cNvSpPr/>
          <p:nvPr/>
        </p:nvSpPr>
        <p:spPr>
          <a:xfrm>
            <a:off x="6882689" y="1920240"/>
            <a:ext cx="1331400" cy="804600"/>
          </a:xfrm>
          <a:prstGeom prst="rect">
            <a:avLst/>
          </a:prstGeom>
          <a:solidFill>
            <a:srgbClr val="15154A"/>
          </a:solidFill>
          <a:ln cap="flat" cmpd="sng" w="12700">
            <a:solidFill>
              <a:srgbClr val="1515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g409c8fc2ecc_0_104"/>
          <p:cNvSpPr/>
          <p:nvPr/>
        </p:nvSpPr>
        <p:spPr>
          <a:xfrm>
            <a:off x="6937553" y="1975104"/>
            <a:ext cx="12216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icrosoft YaHe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人工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Microsoft YaHei"/>
              <a:buNone/>
            </a:pPr>
            <a:r>
              <a:rPr b="1" i="0" lang="en" sz="105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决策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g409c8fc2ecc_0_104"/>
          <p:cNvSpPr/>
          <p:nvPr/>
        </p:nvSpPr>
        <p:spPr>
          <a:xfrm>
            <a:off x="533095" y="2871216"/>
            <a:ext cx="133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Microsoft YaHe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需求、规格、BOM、测试计划（CSV / 兼容 Iceberg）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g409c8fc2ecc_0_104"/>
          <p:cNvSpPr/>
          <p:nvPr/>
        </p:nvSpPr>
        <p:spPr>
          <a:xfrm>
            <a:off x="2120494" y="2871216"/>
            <a:ext cx="133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Microsoft YaHe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确定性裕度、覆盖率、缺口清单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409c8fc2ecc_0_104"/>
          <p:cNvSpPr/>
          <p:nvPr/>
        </p:nvSpPr>
        <p:spPr>
          <a:xfrm>
            <a:off x="3707892" y="2871216"/>
            <a:ext cx="133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Microsoft YaHe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GBM 为每条需求评分 LOW/MED/HIGH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g409c8fc2ecc_0_104"/>
          <p:cNvSpPr/>
          <p:nvPr/>
        </p:nvSpPr>
        <p:spPr>
          <a:xfrm>
            <a:off x="5295290" y="2871216"/>
            <a:ext cx="133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Microsoft YaHe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覆盖 · 结论 · 合规 · 风险 · 复用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g409c8fc2ecc_0_104"/>
          <p:cNvSpPr/>
          <p:nvPr/>
        </p:nvSpPr>
        <p:spPr>
          <a:xfrm>
            <a:off x="6882689" y="2871216"/>
            <a:ext cx="133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950"/>
              <a:buFont typeface="Microsoft YaHei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批准 / 有条件 / 驳回，并记录证据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g409c8fc2ecc_0_104"/>
          <p:cNvSpPr/>
          <p:nvPr/>
        </p:nvSpPr>
        <p:spPr>
          <a:xfrm>
            <a:off x="533095" y="4114800"/>
            <a:ext cx="7680900" cy="365700"/>
          </a:xfrm>
          <a:prstGeom prst="rect">
            <a:avLst/>
          </a:prstGeom>
          <a:solidFill>
            <a:srgbClr val="FCEFE9"/>
          </a:solidFill>
          <a:ln cap="flat" cmpd="sng" w="1270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g409c8fc2ecc_0_104"/>
          <p:cNvSpPr/>
          <p:nvPr/>
        </p:nvSpPr>
        <p:spPr>
          <a:xfrm>
            <a:off x="715975" y="41148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050"/>
              <a:buFont typeface="Microsoft YaHei"/>
              <a:buNone/>
            </a:pPr>
            <a:r>
              <a:rPr b="0" i="1" lang="en" sz="105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确定性至上：相同的项目数据始终产出相同的建议 —— 大模型只影响文字，绝不影响决策。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assets/corner-motif.png" id="738" name="Google Shape;738;g409c8fc2ecc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6952" y="0"/>
            <a:ext cx="1532534" cy="324520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g409c8fc2ecc_0_104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g409c8fc2ecc_0_104"/>
          <p:cNvSpPr/>
          <p:nvPr/>
        </p:nvSpPr>
        <p:spPr>
          <a:xfrm>
            <a:off x="380390" y="4737506"/>
            <a:ext cx="4617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92"/>
              </a:buClr>
              <a:buSzPts val="600"/>
              <a:buFont typeface="Microsoft YaHei"/>
              <a:buNone/>
            </a:pPr>
            <a:r>
              <a:rPr b="0" i="0" lang="en" sz="600" u="none" cap="none" strike="noStrike">
                <a:solidFill>
                  <a:srgbClr val="88889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©2026 Cloudera, Inc. All Rights Reserved.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assets/cloudera-wordmark.png" id="741" name="Google Shape;741;g409c8fc2ecc_0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2944" y="4764024"/>
            <a:ext cx="1133857" cy="142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409c8fc2ecc_0_135"/>
          <p:cNvSpPr/>
          <p:nvPr/>
        </p:nvSpPr>
        <p:spPr>
          <a:xfrm>
            <a:off x="533095" y="284378"/>
            <a:ext cx="7680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200"/>
              <a:buFont typeface="Microsoft YaHei"/>
              <a:buNone/>
            </a:pPr>
            <a:r>
              <a:rPr b="1" i="0" lang="en" sz="2200" u="none" cap="none" strike="noStrike">
                <a:solidFill>
                  <a:srgbClr val="1200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与 Cloudera AI Agent Studio 集成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g409c8fc2ecc_0_135"/>
          <p:cNvSpPr/>
          <p:nvPr/>
        </p:nvSpPr>
        <p:spPr>
          <a:xfrm>
            <a:off x="533095" y="734263"/>
            <a:ext cx="694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100"/>
              <a:buFont typeface="Microsoft YaHei"/>
              <a:buNone/>
            </a:pPr>
            <a:r>
              <a:rPr b="0" i="0" lang="en" sz="1100" u="none" cap="none" strike="noStrike">
                <a:solidFill>
                  <a:srgbClr val="5A5A7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驱动关口评审：任意智能体框架都通过平台 API 调用同一套工具 —— 不直接访问数据库。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g409c8fc2ecc_0_135"/>
          <p:cNvSpPr/>
          <p:nvPr/>
        </p:nvSpPr>
        <p:spPr>
          <a:xfrm>
            <a:off x="533095" y="1554480"/>
            <a:ext cx="2194500" cy="2697600"/>
          </a:xfrm>
          <a:prstGeom prst="rect">
            <a:avLst/>
          </a:prstGeom>
          <a:solidFill>
            <a:srgbClr val="15154A"/>
          </a:solidFill>
          <a:ln>
            <a:noFill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g409c8fc2ecc_0_135"/>
          <p:cNvSpPr/>
          <p:nvPr/>
        </p:nvSpPr>
        <p:spPr>
          <a:xfrm>
            <a:off x="670255" y="1783080"/>
            <a:ext cx="1920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icrosoft YaHe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Cloudera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icrosoft YaHe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Agent Studio 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icrosoft YaHe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Claude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g409c8fc2ecc_0_135"/>
          <p:cNvSpPr/>
          <p:nvPr/>
        </p:nvSpPr>
        <p:spPr>
          <a:xfrm>
            <a:off x="670255" y="374904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Microsoft YaHei"/>
              <a:buNone/>
            </a:pPr>
            <a:r>
              <a:rPr b="0" i="0" lang="en" sz="950" u="none" cap="none" strike="noStrike">
                <a:solidFill>
                  <a:srgbClr val="CADCF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调用智能体工具，不直接访问数据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2" name="Google Shape;752;g409c8fc2ecc_0_135"/>
          <p:cNvCxnSpPr/>
          <p:nvPr/>
        </p:nvCxnSpPr>
        <p:spPr>
          <a:xfrm>
            <a:off x="2727655" y="2903220"/>
            <a:ext cx="411600" cy="0"/>
          </a:xfrm>
          <a:prstGeom prst="straightConnector1">
            <a:avLst/>
          </a:prstGeom>
          <a:noFill/>
          <a:ln cap="flat" cmpd="sng" w="19050">
            <a:solidFill>
              <a:srgbClr val="5A5A7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3" name="Google Shape;753;g409c8fc2ecc_0_135"/>
          <p:cNvSpPr/>
          <p:nvPr/>
        </p:nvSpPr>
        <p:spPr>
          <a:xfrm>
            <a:off x="3139135" y="1554480"/>
            <a:ext cx="2651700" cy="26976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g409c8fc2ecc_0_135"/>
          <p:cNvSpPr/>
          <p:nvPr/>
        </p:nvSpPr>
        <p:spPr>
          <a:xfrm>
            <a:off x="3322015" y="1737360"/>
            <a:ext cx="228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300"/>
              <a:buFont typeface="Microsoft YaHei"/>
              <a:buNone/>
            </a:pPr>
            <a:r>
              <a:rPr b="1" i="0" lang="en" sz="130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智能体工具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g409c8fc2ecc_0_135"/>
          <p:cNvSpPr/>
          <p:nvPr/>
        </p:nvSpPr>
        <p:spPr>
          <a:xfrm>
            <a:off x="3322015" y="2121408"/>
            <a:ext cx="2286000" cy="19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050"/>
              <a:buFont typeface="Microsoft YaHei"/>
              <a:buChar char="•"/>
            </a:pPr>
            <a:r>
              <a:rPr b="0" i="0" lang="en" sz="105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get_program / get_traceability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1B3A"/>
              </a:buClr>
              <a:buSzPts val="1050"/>
              <a:buFont typeface="Microsoft YaHei"/>
              <a:buChar char="•"/>
            </a:pPr>
            <a:r>
              <a:rPr b="0" i="0" lang="en" sz="105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get_test_results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1B3A"/>
              </a:buClr>
              <a:buSzPts val="1050"/>
              <a:buFont typeface="Microsoft YaHei"/>
              <a:buChar char="•"/>
            </a:pPr>
            <a:r>
              <a:rPr b="0" i="0" lang="en" sz="105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get_design_risk / get_model_explanation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1B3A"/>
              </a:buClr>
              <a:buSzPts val="1050"/>
              <a:buFont typeface="Microsoft YaHei"/>
              <a:buChar char="•"/>
            </a:pPr>
            <a:r>
              <a:rPr b="0" i="0" lang="en" sz="105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kb_search / get_asset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1B3A"/>
              </a:buClr>
              <a:buSzPts val="1050"/>
              <a:buFont typeface="Microsoft YaHei"/>
              <a:buChar char="•"/>
            </a:pPr>
            <a:r>
              <a:rPr b="0" i="0" lang="en" sz="105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ontology_describe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6" name="Google Shape;756;g409c8fc2ecc_0_135"/>
          <p:cNvCxnSpPr/>
          <p:nvPr/>
        </p:nvCxnSpPr>
        <p:spPr>
          <a:xfrm>
            <a:off x="5790895" y="2903220"/>
            <a:ext cx="411600" cy="0"/>
          </a:xfrm>
          <a:prstGeom prst="straightConnector1">
            <a:avLst/>
          </a:prstGeom>
          <a:noFill/>
          <a:ln cap="flat" cmpd="sng" w="19050">
            <a:solidFill>
              <a:srgbClr val="5A5A7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7" name="Google Shape;757;g409c8fc2ecc_0_135"/>
          <p:cNvSpPr/>
          <p:nvPr/>
        </p:nvSpPr>
        <p:spPr>
          <a:xfrm>
            <a:off x="6202375" y="1554480"/>
            <a:ext cx="2286000" cy="2697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409c8fc2ecc_0_135"/>
          <p:cNvSpPr/>
          <p:nvPr/>
        </p:nvSpPr>
        <p:spPr>
          <a:xfrm>
            <a:off x="6339535" y="1737360"/>
            <a:ext cx="201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5A29"/>
              </a:buClr>
              <a:buSzPts val="1300"/>
              <a:buFont typeface="Microsoft YaHei"/>
              <a:buNone/>
            </a:pPr>
            <a:r>
              <a:rPr b="1" i="0" lang="en" sz="1300" u="none" cap="none" strike="noStrike">
                <a:solidFill>
                  <a:srgbClr val="EE5A29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以客户为中心的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g409c8fc2ecc_0_135"/>
          <p:cNvSpPr/>
          <p:nvPr/>
        </p:nvSpPr>
        <p:spPr>
          <a:xfrm>
            <a:off x="6339535" y="2331720"/>
            <a:ext cx="20118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050"/>
              <a:buFont typeface="Microsoft YaHei"/>
              <a:buChar char="•"/>
            </a:pPr>
            <a:r>
              <a:rPr b="0" i="0" lang="en" sz="105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FastAPI + Swagger（/api/docs）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1B3A"/>
              </a:buClr>
              <a:buSzPts val="1050"/>
              <a:buFont typeface="Microsoft YaHei"/>
              <a:buChar char="•"/>
            </a:pPr>
            <a:r>
              <a:rPr b="0" i="0" lang="en" sz="105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SSE 实时推送关口评审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B1B3A"/>
              </a:buClr>
              <a:buSzPts val="1050"/>
              <a:buFont typeface="Microsoft YaHei"/>
              <a:buChar char="•"/>
            </a:pPr>
            <a:r>
              <a:rPr b="0" i="0" lang="en" sz="105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唯一可信数据源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g409c8fc2ecc_0_135"/>
          <p:cNvSpPr/>
          <p:nvPr/>
        </p:nvSpPr>
        <p:spPr>
          <a:xfrm>
            <a:off x="533095" y="4370832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150"/>
              <a:buFont typeface="Microsoft YaHei"/>
              <a:buNone/>
            </a:pPr>
            <a:r>
              <a:rPr b="1" i="1" lang="en" sz="115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Agent Studio 通过工具驱动平台 —— API 即唯一可信数据源。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assets/corner-motif.png" id="761" name="Google Shape;761;g409c8fc2ecc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6952" y="0"/>
            <a:ext cx="1532534" cy="3245206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g409c8fc2ecc_0_135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g409c8fc2ecc_0_135"/>
          <p:cNvSpPr/>
          <p:nvPr/>
        </p:nvSpPr>
        <p:spPr>
          <a:xfrm>
            <a:off x="380390" y="4737506"/>
            <a:ext cx="4617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92"/>
              </a:buClr>
              <a:buSzPts val="600"/>
              <a:buFont typeface="Microsoft YaHei"/>
              <a:buNone/>
            </a:pPr>
            <a:r>
              <a:rPr b="0" i="0" lang="en" sz="600" u="none" cap="none" strike="noStrike">
                <a:solidFill>
                  <a:srgbClr val="88889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©2026 Cloudera, Inc. All Rights Reserved.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assets/cloudera-wordmark.png" id="764" name="Google Shape;764;g409c8fc2ecc_0_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2944" y="4764024"/>
            <a:ext cx="1133857" cy="142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409c8fc2ecc_0_157"/>
          <p:cNvSpPr/>
          <p:nvPr/>
        </p:nvSpPr>
        <p:spPr>
          <a:xfrm>
            <a:off x="533095" y="284378"/>
            <a:ext cx="7680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0046"/>
              </a:buClr>
              <a:buSzPts val="2200"/>
              <a:buFont typeface="Microsoft YaHei"/>
              <a:buNone/>
            </a:pPr>
            <a:r>
              <a:rPr b="1" i="0" lang="en" sz="2200" u="none" cap="none" strike="noStrike">
                <a:solidFill>
                  <a:srgbClr val="120046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如何融入 Cloudera AI：部署 → 治理 → 开放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g409c8fc2ecc_0_157"/>
          <p:cNvSpPr/>
          <p:nvPr/>
        </p:nvSpPr>
        <p:spPr>
          <a:xfrm>
            <a:off x="533095" y="734263"/>
            <a:ext cx="6949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100"/>
              <a:buFont typeface="Microsoft YaHei"/>
              <a:buNone/>
            </a:pPr>
            <a:r>
              <a:rPr b="0" i="0" lang="en" sz="1100" u="none" cap="none" strike="noStrike">
                <a:solidFill>
                  <a:srgbClr val="5A5A7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CML 上的单一 CAI 应用 —— 替换数据源层即可对接真实 PLM/MES/ERP。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409c8fc2ecc_0_157"/>
          <p:cNvSpPr/>
          <p:nvPr/>
        </p:nvSpPr>
        <p:spPr>
          <a:xfrm>
            <a:off x="533095" y="1325880"/>
            <a:ext cx="1417200" cy="749700"/>
          </a:xfrm>
          <a:prstGeom prst="rect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g409c8fc2ecc_0_157"/>
          <p:cNvSpPr/>
          <p:nvPr/>
        </p:nvSpPr>
        <p:spPr>
          <a:xfrm>
            <a:off x="533095" y="1325880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icrosoft YaHe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部署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g409c8fc2ecc_0_157"/>
          <p:cNvSpPr/>
          <p:nvPr/>
        </p:nvSpPr>
        <p:spPr>
          <a:xfrm>
            <a:off x="533095" y="1783080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Microsoft YaHei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CML 上的单一应用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g409c8fc2ecc_0_157"/>
          <p:cNvSpPr/>
          <p:nvPr/>
        </p:nvSpPr>
        <p:spPr>
          <a:xfrm>
            <a:off x="2041855" y="1325880"/>
            <a:ext cx="6309300" cy="7497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g409c8fc2ecc_0_157"/>
          <p:cNvSpPr/>
          <p:nvPr/>
        </p:nvSpPr>
        <p:spPr>
          <a:xfrm>
            <a:off x="2224735" y="1399032"/>
            <a:ext cx="5760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Microsoft YaHei"/>
              <a:buChar char="•"/>
            </a:pPr>
            <a:r>
              <a:rPr b="0" i="0" lang="en" sz="100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安装 → 生成数据 → 准备（测试台 + 模型 + 知识库）→ 启动作业链，提供 React 前端 + FastAPI 后端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Microsoft YaHei"/>
              <a:buChar char="•"/>
            </a:pPr>
            <a:r>
              <a:rPr b="0" i="0" lang="en" sz="100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CAII 提供大模型叙述 —— 通过配置切换到 vLLM 或 Ollama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g409c8fc2ecc_0_157"/>
          <p:cNvSpPr/>
          <p:nvPr/>
        </p:nvSpPr>
        <p:spPr>
          <a:xfrm>
            <a:off x="533095" y="2167128"/>
            <a:ext cx="1417200" cy="749700"/>
          </a:xfrm>
          <a:prstGeom prst="rect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g409c8fc2ecc_0_157"/>
          <p:cNvSpPr/>
          <p:nvPr/>
        </p:nvSpPr>
        <p:spPr>
          <a:xfrm>
            <a:off x="533095" y="2167128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icrosoft YaHe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治理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g409c8fc2ecc_0_157"/>
          <p:cNvSpPr/>
          <p:nvPr/>
        </p:nvSpPr>
        <p:spPr>
          <a:xfrm>
            <a:off x="533095" y="2624328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Microsoft YaHei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数据与模型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g409c8fc2ecc_0_157"/>
          <p:cNvSpPr/>
          <p:nvPr/>
        </p:nvSpPr>
        <p:spPr>
          <a:xfrm>
            <a:off x="2041855" y="2167128"/>
            <a:ext cx="6309300" cy="7497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g409c8fc2ecc_0_157"/>
          <p:cNvSpPr/>
          <p:nvPr/>
        </p:nvSpPr>
        <p:spPr>
          <a:xfrm>
            <a:off x="2224735" y="2240280"/>
            <a:ext cx="5760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Microsoft YaHei"/>
              <a:buChar char="•"/>
            </a:pPr>
            <a:r>
              <a:rPr b="0" i="0" lang="en" sz="100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只读数据源层（当前 CSV，兼容 Iceberg/SDX）—— 单副本、不出域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Microsoft YaHei"/>
              <a:buChar char="•"/>
            </a:pPr>
            <a:r>
              <a:rPr b="0" i="0" lang="en" sz="100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带种子、版本化的风险模型，确定性评分 —— 可基于新项目结果重训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g409c8fc2ecc_0_157"/>
          <p:cNvSpPr/>
          <p:nvPr/>
        </p:nvSpPr>
        <p:spPr>
          <a:xfrm>
            <a:off x="533095" y="3008376"/>
            <a:ext cx="1417200" cy="749700"/>
          </a:xfrm>
          <a:prstGeom prst="rect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g409c8fc2ecc_0_157"/>
          <p:cNvSpPr/>
          <p:nvPr/>
        </p:nvSpPr>
        <p:spPr>
          <a:xfrm>
            <a:off x="533095" y="3008376"/>
            <a:ext cx="141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icrosoft YaHei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开放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g409c8fc2ecc_0_157"/>
          <p:cNvSpPr/>
          <p:nvPr/>
        </p:nvSpPr>
        <p:spPr>
          <a:xfrm>
            <a:off x="533095" y="3465576"/>
            <a:ext cx="1417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Microsoft YaHei"/>
              <a:buNone/>
            </a:pPr>
            <a:r>
              <a:rPr b="0" i="0" lang="en" sz="900" u="none" cap="none" strike="noStrike">
                <a:solidFill>
                  <a:srgbClr val="CADCFC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面向任意智能体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g409c8fc2ecc_0_157"/>
          <p:cNvSpPr/>
          <p:nvPr/>
        </p:nvSpPr>
        <p:spPr>
          <a:xfrm>
            <a:off x="2041855" y="3008376"/>
            <a:ext cx="6309300" cy="749700"/>
          </a:xfrm>
          <a:prstGeom prst="rect">
            <a:avLst/>
          </a:prstGeom>
          <a:solidFill>
            <a:srgbClr val="F7F7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g409c8fc2ecc_0_157"/>
          <p:cNvSpPr/>
          <p:nvPr/>
        </p:nvSpPr>
        <p:spPr>
          <a:xfrm>
            <a:off x="2224735" y="3081528"/>
            <a:ext cx="5760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Microsoft YaHei"/>
              <a:buChar char="•"/>
            </a:pPr>
            <a:r>
              <a:rPr b="0" i="0" lang="en" sz="100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智能体工具注册表将平台开放给 Cloudera AI Agent Studio 及任意兼容 MCP 的客户端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B1B3A"/>
              </a:buClr>
              <a:buSzPts val="1000"/>
              <a:buFont typeface="Microsoft YaHei"/>
              <a:buChar char="•"/>
            </a:pPr>
            <a:r>
              <a:rPr b="0" i="0" lang="en" sz="1000" u="none" cap="none" strike="noStrike">
                <a:solidFill>
                  <a:srgbClr val="1B1B3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以客户为中心的 API + Swagger（/api/docs）—— 唯一可信数据源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g409c8fc2ecc_0_157"/>
          <p:cNvSpPr/>
          <p:nvPr/>
        </p:nvSpPr>
        <p:spPr>
          <a:xfrm>
            <a:off x="533095" y="3922776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5A72"/>
              </a:buClr>
              <a:buSzPts val="1000"/>
              <a:buFont typeface="Microsoft YaHei"/>
              <a:buNone/>
            </a:pPr>
            <a:r>
              <a:rPr b="0" i="1" lang="en" sz="1000" u="none" cap="none" strike="noStrike">
                <a:solidFill>
                  <a:srgbClr val="5A5A7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自行分叉：把数据源层指向你的 PLM/MES 架构与生产模型目录 —— 无需改动 API 或前端，端到端同一应用。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g409c8fc2ecc_0_157"/>
          <p:cNvSpPr/>
          <p:nvPr/>
        </p:nvSpPr>
        <p:spPr>
          <a:xfrm>
            <a:off x="533095" y="4215384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54A"/>
              </a:buClr>
              <a:buSzPts val="1150"/>
              <a:buFont typeface="Microsoft YaHei"/>
              <a:buNone/>
            </a:pPr>
            <a:r>
              <a:rPr b="1" i="0" lang="en" sz="1150" u="none" cap="none" strike="noStrike">
                <a:solidFill>
                  <a:srgbClr val="15154A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工程师、项目经理与外部智能体，共用同一套受治理的数据与模型。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assets/corner-motif.png" id="789" name="Google Shape;789;g409c8fc2ecc_0_1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6952" y="0"/>
            <a:ext cx="1532534" cy="3245206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g409c8fc2ecc_0_157"/>
          <p:cNvSpPr/>
          <p:nvPr/>
        </p:nvSpPr>
        <p:spPr>
          <a:xfrm>
            <a:off x="0" y="5070348"/>
            <a:ext cx="9144000" cy="732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g409c8fc2ecc_0_157"/>
          <p:cNvSpPr/>
          <p:nvPr/>
        </p:nvSpPr>
        <p:spPr>
          <a:xfrm>
            <a:off x="380390" y="4737506"/>
            <a:ext cx="4617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92"/>
              </a:buClr>
              <a:buSzPts val="600"/>
              <a:buFont typeface="Microsoft YaHei"/>
              <a:buNone/>
            </a:pPr>
            <a:r>
              <a:rPr b="0" i="0" lang="en" sz="600" u="none" cap="none" strike="noStrike">
                <a:solidFill>
                  <a:srgbClr val="888892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©2026 Cloudera, Inc. All Rights Reserved.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assets/cloudera-wordmark.png" id="792" name="Google Shape;792;g409c8fc2ecc_0_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2944" y="4764024"/>
            <a:ext cx="1133857" cy="142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9b3f86724_0_10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B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g3f9b3f86724_0_103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i="0" lang="en" sz="2300">
                <a:solidFill>
                  <a:srgbClr val="F4F4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IT负责运维，业务负责构建。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799" name="Google Shape;799;g3f9b3f86724_0_103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i="0" lang="en" sz="1100">
                <a:solidFill>
                  <a:srgbClr val="A9A9C8"/>
                </a:solidFill>
              </a:rPr>
              <a:t>三大篇章，一个平台：掌控成本、统一资产、治理并验证一切。</a:t>
            </a:r>
            <a:endParaRPr i="0" sz="1100" u="none" cap="none" strike="noStrike">
              <a:solidFill>
                <a:schemeClr val="accent2"/>
              </a:solidFill>
            </a:endParaRPr>
          </a:p>
        </p:txBody>
      </p:sp>
      <p:sp>
        <p:nvSpPr>
          <p:cNvPr id="800" name="Google Shape;800;g3f9b3f86724_0_103"/>
          <p:cNvSpPr/>
          <p:nvPr/>
        </p:nvSpPr>
        <p:spPr>
          <a:xfrm>
            <a:off x="0" y="5074920"/>
            <a:ext cx="9144000" cy="687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01" name="Google Shape;801;g3f9b3f86724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3310" y="4766314"/>
            <a:ext cx="1133484" cy="142859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g3f9b3f86724_0_103"/>
          <p:cNvSpPr txBox="1"/>
          <p:nvPr/>
        </p:nvSpPr>
        <p:spPr>
          <a:xfrm>
            <a:off x="380125" y="4737800"/>
            <a:ext cx="46137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©2026 Cloudera, Inc. 保留所有权利。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g3f9b3f86724_0_103"/>
          <p:cNvSpPr/>
          <p:nvPr/>
        </p:nvSpPr>
        <p:spPr>
          <a:xfrm>
            <a:off x="3346704" y="1700784"/>
            <a:ext cx="2450700" cy="2450700"/>
          </a:xfrm>
          <a:prstGeom prst="ellipse">
            <a:avLst/>
          </a:prstGeom>
          <a:noFill/>
          <a:ln cap="flat" cmpd="sng" w="9525">
            <a:solidFill>
              <a:srgbClr val="8B8BC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g3f9b3f86724_0_103"/>
          <p:cNvSpPr/>
          <p:nvPr/>
        </p:nvSpPr>
        <p:spPr>
          <a:xfrm>
            <a:off x="3959352" y="2313432"/>
            <a:ext cx="1225200" cy="1225200"/>
          </a:xfrm>
          <a:prstGeom prst="arc">
            <a:avLst>
              <a:gd fmla="val 16560000" name="adj1"/>
              <a:gd fmla="val 886153" name="adj2"/>
            </a:avLst>
          </a:prstGeom>
          <a:noFill/>
          <a:ln cap="flat" cmpd="sng" w="47625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g3f9b3f86724_0_103"/>
          <p:cNvSpPr/>
          <p:nvPr/>
        </p:nvSpPr>
        <p:spPr>
          <a:xfrm>
            <a:off x="3959352" y="2313432"/>
            <a:ext cx="1225200" cy="1225200"/>
          </a:xfrm>
          <a:prstGeom prst="arc">
            <a:avLst>
              <a:gd fmla="val 1606153" name="adj1"/>
              <a:gd fmla="val 7532307" name="adj2"/>
            </a:avLst>
          </a:prstGeom>
          <a:noFill/>
          <a:ln cap="flat" cmpd="sng" w="47625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f9b3f86724_0_103"/>
          <p:cNvSpPr/>
          <p:nvPr/>
        </p:nvSpPr>
        <p:spPr>
          <a:xfrm>
            <a:off x="3959352" y="2313432"/>
            <a:ext cx="1225200" cy="1225200"/>
          </a:xfrm>
          <a:prstGeom prst="arc">
            <a:avLst>
              <a:gd fmla="val 8252307" name="adj1"/>
              <a:gd fmla="val 15840000" name="adj2"/>
            </a:avLst>
          </a:prstGeom>
          <a:noFill/>
          <a:ln cap="flat" cmpd="sng" w="47625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7" name="Google Shape;807;g3f9b3f86724_0_103"/>
          <p:cNvCxnSpPr/>
          <p:nvPr/>
        </p:nvCxnSpPr>
        <p:spPr>
          <a:xfrm>
            <a:off x="4572000" y="1959480"/>
            <a:ext cx="0" cy="4065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8" name="Google Shape;808;g3f9b3f86724_0_103"/>
          <p:cNvCxnSpPr/>
          <p:nvPr/>
        </p:nvCxnSpPr>
        <p:spPr>
          <a:xfrm flipH="1" rot="10800000">
            <a:off x="4852000" y="2088906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9" name="Google Shape;809;g3f9b3f86724_0_103"/>
          <p:cNvCxnSpPr/>
          <p:nvPr/>
        </p:nvCxnSpPr>
        <p:spPr>
          <a:xfrm flipH="1" rot="10800000">
            <a:off x="5056974" y="24426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0" name="Google Shape;810;g3f9b3f86724_0_103"/>
          <p:cNvCxnSpPr/>
          <p:nvPr/>
        </p:nvCxnSpPr>
        <p:spPr>
          <a:xfrm>
            <a:off x="5132000" y="2926080"/>
            <a:ext cx="406500" cy="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g3f9b3f86724_0_103"/>
          <p:cNvCxnSpPr/>
          <p:nvPr/>
        </p:nvCxnSpPr>
        <p:spPr>
          <a:xfrm>
            <a:off x="5056974" y="32060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2" name="Google Shape;812;g3f9b3f86724_0_103"/>
          <p:cNvCxnSpPr/>
          <p:nvPr/>
        </p:nvCxnSpPr>
        <p:spPr>
          <a:xfrm>
            <a:off x="4852000" y="3411054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3" name="Google Shape;813;g3f9b3f86724_0_103"/>
          <p:cNvCxnSpPr/>
          <p:nvPr/>
        </p:nvCxnSpPr>
        <p:spPr>
          <a:xfrm>
            <a:off x="4572000" y="3486080"/>
            <a:ext cx="0" cy="4065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g3f9b3f86724_0_103"/>
          <p:cNvCxnSpPr/>
          <p:nvPr/>
        </p:nvCxnSpPr>
        <p:spPr>
          <a:xfrm flipH="1" rot="10800000">
            <a:off x="4088700" y="3410980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g3f9b3f86724_0_103"/>
          <p:cNvCxnSpPr/>
          <p:nvPr/>
        </p:nvCxnSpPr>
        <p:spPr>
          <a:xfrm flipH="1" rot="10800000">
            <a:off x="3734900" y="32059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g3f9b3f86724_0_103"/>
          <p:cNvCxnSpPr/>
          <p:nvPr/>
        </p:nvCxnSpPr>
        <p:spPr>
          <a:xfrm>
            <a:off x="3605400" y="2926080"/>
            <a:ext cx="406500" cy="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g3f9b3f86724_0_103"/>
          <p:cNvCxnSpPr/>
          <p:nvPr/>
        </p:nvCxnSpPr>
        <p:spPr>
          <a:xfrm>
            <a:off x="3734900" y="2442780"/>
            <a:ext cx="352200" cy="2034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g3f9b3f86724_0_103"/>
          <p:cNvCxnSpPr/>
          <p:nvPr/>
        </p:nvCxnSpPr>
        <p:spPr>
          <a:xfrm>
            <a:off x="4088700" y="2088980"/>
            <a:ext cx="203400" cy="352200"/>
          </a:xfrm>
          <a:prstGeom prst="straightConnector1">
            <a:avLst/>
          </a:prstGeom>
          <a:noFill/>
          <a:ln cap="flat" cmpd="sng" w="9525">
            <a:solidFill>
              <a:srgbClr val="2E2E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9" name="Google Shape;819;g3f9b3f86724_0_103"/>
          <p:cNvSpPr/>
          <p:nvPr/>
        </p:nvSpPr>
        <p:spPr>
          <a:xfrm>
            <a:off x="4041648" y="2395728"/>
            <a:ext cx="1060800" cy="1060800"/>
          </a:xfrm>
          <a:prstGeom prst="ellipse">
            <a:avLst/>
          </a:prstGeom>
          <a:solidFill>
            <a:srgbClr val="181844"/>
          </a:solidFill>
          <a:ln cap="flat" cmpd="sng" w="12700">
            <a:solidFill>
              <a:srgbClr val="3A3A6B"/>
            </a:solidFill>
            <a:prstDash val="solid"/>
            <a:round/>
            <a:headEnd len="sm" w="sm" type="none"/>
            <a:tailEnd len="sm" w="sm" type="none"/>
          </a:ln>
          <a:effectLst>
            <a:outerShdw blurRad="90000" rotWithShape="0">
              <a:srgbClr val="4F4FF5">
                <a:alpha val="3803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g3f9b3f86724_0_103"/>
          <p:cNvSpPr txBox="1"/>
          <p:nvPr/>
        </p:nvSpPr>
        <p:spPr>
          <a:xfrm>
            <a:off x="4041648" y="2706624"/>
            <a:ext cx="10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智能体就绪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企业级AI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IT运维的平台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g3f9b3f86724_0_103"/>
          <p:cNvSpPr/>
          <p:nvPr/>
        </p:nvSpPr>
        <p:spPr>
          <a:xfrm>
            <a:off x="4343400" y="14722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g3f9b3f86724_0_103"/>
          <p:cNvSpPr txBox="1"/>
          <p:nvPr/>
        </p:nvSpPr>
        <p:spPr>
          <a:xfrm>
            <a:off x="4343400" y="16185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g3f9b3f86724_0_103"/>
          <p:cNvSpPr/>
          <p:nvPr/>
        </p:nvSpPr>
        <p:spPr>
          <a:xfrm>
            <a:off x="4668012" y="15134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g3f9b3f86724_0_103"/>
          <p:cNvSpPr txBox="1"/>
          <p:nvPr/>
        </p:nvSpPr>
        <p:spPr>
          <a:xfrm>
            <a:off x="3572000" y="1142028"/>
            <a:ext cx="2000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私有模型托管与服务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部署于内网，GPU高效利用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g3f9b3f86724_0_103"/>
          <p:cNvSpPr/>
          <p:nvPr/>
        </p:nvSpPr>
        <p:spPr>
          <a:xfrm>
            <a:off x="4956000" y="1636426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g3f9b3f86724_0_103"/>
          <p:cNvSpPr txBox="1"/>
          <p:nvPr/>
        </p:nvSpPr>
        <p:spPr>
          <a:xfrm>
            <a:off x="4956000" y="1782730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g3f9b3f86724_0_103"/>
          <p:cNvSpPr/>
          <p:nvPr/>
        </p:nvSpPr>
        <p:spPr>
          <a:xfrm>
            <a:off x="5280612" y="1677574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g3f9b3f86724_0_103"/>
          <p:cNvSpPr txBox="1"/>
          <p:nvPr/>
        </p:nvSpPr>
        <p:spPr>
          <a:xfrm>
            <a:off x="5486352" y="1627282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无缝升级与切换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注册库·CICD集成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g3f9b3f86724_0_103"/>
          <p:cNvSpPr/>
          <p:nvPr/>
        </p:nvSpPr>
        <p:spPr>
          <a:xfrm>
            <a:off x="5404454" y="20848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g3f9b3f86724_0_103"/>
          <p:cNvSpPr txBox="1"/>
          <p:nvPr/>
        </p:nvSpPr>
        <p:spPr>
          <a:xfrm>
            <a:off x="5404454" y="22311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g3f9b3f86724_0_103"/>
          <p:cNvSpPr/>
          <p:nvPr/>
        </p:nvSpPr>
        <p:spPr>
          <a:xfrm>
            <a:off x="5729066" y="21260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g3f9b3f86724_0_103"/>
          <p:cNvSpPr txBox="1"/>
          <p:nvPr/>
        </p:nvSpPr>
        <p:spPr>
          <a:xfrm>
            <a:off x="5934806" y="2075736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混合部署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云端·本地·离线隔离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g3f9b3f86724_0_103"/>
          <p:cNvSpPr/>
          <p:nvPr/>
        </p:nvSpPr>
        <p:spPr>
          <a:xfrm>
            <a:off x="5404454" y="33100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g3f9b3f86724_0_103"/>
          <p:cNvSpPr txBox="1"/>
          <p:nvPr/>
        </p:nvSpPr>
        <p:spPr>
          <a:xfrm>
            <a:off x="5404454" y="34563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g3f9b3f86724_0_103"/>
          <p:cNvSpPr/>
          <p:nvPr/>
        </p:nvSpPr>
        <p:spPr>
          <a:xfrm>
            <a:off x="5729066" y="33512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g3f9b3f86724_0_103"/>
          <p:cNvSpPr txBox="1"/>
          <p:nvPr/>
        </p:nvSpPr>
        <p:spPr>
          <a:xfrm>
            <a:off x="5934806" y="3300936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低代码智能体构建器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业务部门可视化组装智能体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g3f9b3f86724_0_103"/>
          <p:cNvSpPr/>
          <p:nvPr/>
        </p:nvSpPr>
        <p:spPr>
          <a:xfrm>
            <a:off x="4956000" y="3758534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g3f9b3f86724_0_103"/>
          <p:cNvSpPr txBox="1"/>
          <p:nvPr/>
        </p:nvSpPr>
        <p:spPr>
          <a:xfrm>
            <a:off x="4956000" y="3904838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g3f9b3f86724_0_103"/>
          <p:cNvSpPr/>
          <p:nvPr/>
        </p:nvSpPr>
        <p:spPr>
          <a:xfrm>
            <a:off x="5280612" y="3799682"/>
            <a:ext cx="91500" cy="91500"/>
          </a:xfrm>
          <a:prstGeom prst="ellipse">
            <a:avLst/>
          </a:prstGeom>
          <a:solidFill>
            <a:srgbClr val="FBBF24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g3f9b3f86724_0_103"/>
          <p:cNvSpPr txBox="1"/>
          <p:nvPr/>
        </p:nvSpPr>
        <p:spPr>
          <a:xfrm>
            <a:off x="5486477" y="3877015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工具与MCP目录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受管控的工具， </a:t>
            </a:r>
            <a:r>
              <a:rPr b="0" i="0" lang="en" sz="700" u="none" cap="none" strike="noStrike">
                <a:solidFill>
                  <a:srgbClr val="FFD9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统一MCP网关</a:t>
            </a:r>
            <a:endParaRPr b="0" i="0" sz="140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g3f9b3f86724_0_103"/>
          <p:cNvSpPr/>
          <p:nvPr/>
        </p:nvSpPr>
        <p:spPr>
          <a:xfrm>
            <a:off x="4343400" y="39226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g3f9b3f86724_0_103"/>
          <p:cNvSpPr txBox="1"/>
          <p:nvPr/>
        </p:nvSpPr>
        <p:spPr>
          <a:xfrm>
            <a:off x="4343400" y="40689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g3f9b3f86724_0_103"/>
          <p:cNvSpPr/>
          <p:nvPr/>
        </p:nvSpPr>
        <p:spPr>
          <a:xfrm>
            <a:off x="4668012" y="3963828"/>
            <a:ext cx="91500" cy="91500"/>
          </a:xfrm>
          <a:prstGeom prst="ellipse">
            <a:avLst/>
          </a:prstGeom>
          <a:solidFill>
            <a:srgbClr val="F0562C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g3f9b3f86724_0_103"/>
          <p:cNvSpPr txBox="1"/>
          <p:nvPr/>
        </p:nvSpPr>
        <p:spPr>
          <a:xfrm>
            <a:off x="3977640" y="4416552"/>
            <a:ext cx="1188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智能体市场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55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乐高积木式：一次发布，处处复用</a:t>
            </a:r>
            <a:endParaRPr b="0" i="0" sz="1400" u="none" cap="none" strike="noStrike">
              <a:solidFill>
                <a:srgbClr val="FF5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g3f9b3f86724_0_103"/>
          <p:cNvSpPr/>
          <p:nvPr/>
        </p:nvSpPr>
        <p:spPr>
          <a:xfrm>
            <a:off x="3730800" y="3758534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4F4F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g3f9b3f86724_0_103"/>
          <p:cNvSpPr txBox="1"/>
          <p:nvPr/>
        </p:nvSpPr>
        <p:spPr>
          <a:xfrm>
            <a:off x="3730800" y="3904838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g3f9b3f86724_0_103"/>
          <p:cNvSpPr/>
          <p:nvPr/>
        </p:nvSpPr>
        <p:spPr>
          <a:xfrm>
            <a:off x="4055412" y="3799682"/>
            <a:ext cx="91500" cy="91500"/>
          </a:xfrm>
          <a:prstGeom prst="ellipse">
            <a:avLst/>
          </a:prstGeom>
          <a:solidFill>
            <a:srgbClr val="F0562C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g3f9b3f86724_0_103"/>
          <p:cNvSpPr txBox="1"/>
          <p:nvPr/>
        </p:nvSpPr>
        <p:spPr>
          <a:xfrm>
            <a:off x="2441703" y="3877015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4F4FF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面向智能体的数据就绪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550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知识+记忆，供智能体查询</a:t>
            </a:r>
            <a:endParaRPr b="0" i="0" sz="1400" u="none" cap="none" strike="noStrike">
              <a:solidFill>
                <a:srgbClr val="FF55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g3f9b3f86724_0_103"/>
          <p:cNvSpPr/>
          <p:nvPr/>
        </p:nvSpPr>
        <p:spPr>
          <a:xfrm>
            <a:off x="3282346" y="33100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g3f9b3f86724_0_103"/>
          <p:cNvSpPr txBox="1"/>
          <p:nvPr/>
        </p:nvSpPr>
        <p:spPr>
          <a:xfrm>
            <a:off x="3282346" y="34563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g3f9b3f86724_0_103"/>
          <p:cNvSpPr/>
          <p:nvPr/>
        </p:nvSpPr>
        <p:spPr>
          <a:xfrm>
            <a:off x="3606958" y="33512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g3f9b3f86724_0_103"/>
          <p:cNvSpPr txBox="1"/>
          <p:nvPr/>
        </p:nvSpPr>
        <p:spPr>
          <a:xfrm>
            <a:off x="2020474" y="3300936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用量监控与追踪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全量追踪，无需采样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g3f9b3f86724_0_103"/>
          <p:cNvSpPr/>
          <p:nvPr/>
        </p:nvSpPr>
        <p:spPr>
          <a:xfrm>
            <a:off x="3118200" y="26974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g3f9b3f86724_0_103"/>
          <p:cNvSpPr txBox="1"/>
          <p:nvPr/>
        </p:nvSpPr>
        <p:spPr>
          <a:xfrm>
            <a:off x="3118200" y="28437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g3f9b3f86724_0_103"/>
          <p:cNvSpPr/>
          <p:nvPr/>
        </p:nvSpPr>
        <p:spPr>
          <a:xfrm>
            <a:off x="3442812" y="27386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g3f9b3f86724_0_103"/>
          <p:cNvSpPr txBox="1"/>
          <p:nvPr/>
        </p:nvSpPr>
        <p:spPr>
          <a:xfrm>
            <a:off x="1856328" y="2688336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评估与验证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先评估，再信任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g3f9b3f86724_0_103"/>
          <p:cNvSpPr/>
          <p:nvPr/>
        </p:nvSpPr>
        <p:spPr>
          <a:xfrm>
            <a:off x="3282346" y="20848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g3f9b3f86724_0_103"/>
          <p:cNvSpPr txBox="1"/>
          <p:nvPr/>
        </p:nvSpPr>
        <p:spPr>
          <a:xfrm>
            <a:off x="3282346" y="22311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g3f9b3f86724_0_103"/>
          <p:cNvSpPr/>
          <p:nvPr/>
        </p:nvSpPr>
        <p:spPr>
          <a:xfrm>
            <a:off x="3606958" y="2126028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g3f9b3f86724_0_103"/>
          <p:cNvSpPr txBox="1"/>
          <p:nvPr/>
        </p:nvSpPr>
        <p:spPr>
          <a:xfrm>
            <a:off x="2020474" y="2075736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护栏与安全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强制执行，而非自愿遵守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g3f9b3f86724_0_103"/>
          <p:cNvSpPr/>
          <p:nvPr/>
        </p:nvSpPr>
        <p:spPr>
          <a:xfrm>
            <a:off x="3730800" y="1636426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8B8B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g3f9b3f86724_0_103"/>
          <p:cNvSpPr txBox="1"/>
          <p:nvPr/>
        </p:nvSpPr>
        <p:spPr>
          <a:xfrm>
            <a:off x="3730800" y="1782730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g3f9b3f86724_0_103"/>
          <p:cNvSpPr/>
          <p:nvPr/>
        </p:nvSpPr>
        <p:spPr>
          <a:xfrm>
            <a:off x="4055412" y="1677574"/>
            <a:ext cx="91500" cy="91500"/>
          </a:xfrm>
          <a:prstGeom prst="ellipse">
            <a:avLst/>
          </a:prstGeom>
          <a:solidFill>
            <a:srgbClr val="34D399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g3f9b3f86724_0_103"/>
          <p:cNvSpPr txBox="1"/>
          <p:nvPr/>
        </p:nvSpPr>
        <p:spPr>
          <a:xfrm>
            <a:off x="2468928" y="1627282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8B8BC7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治理与审计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访问·血缘·留证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g3f9b3f86724_0_103"/>
          <p:cNvSpPr/>
          <p:nvPr/>
        </p:nvSpPr>
        <p:spPr>
          <a:xfrm>
            <a:off x="5568600" y="2697480"/>
            <a:ext cx="457200" cy="457200"/>
          </a:xfrm>
          <a:prstGeom prst="ellipse">
            <a:avLst/>
          </a:prstGeom>
          <a:solidFill>
            <a:srgbClr val="16163C"/>
          </a:solidFill>
          <a:ln cap="flat" cmpd="sng" w="1905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g3f9b3f86724_0_103"/>
          <p:cNvSpPr txBox="1"/>
          <p:nvPr/>
        </p:nvSpPr>
        <p:spPr>
          <a:xfrm>
            <a:off x="5568600" y="2843784"/>
            <a:ext cx="457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F4F4F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g3f9b3f86724_0_103"/>
          <p:cNvSpPr/>
          <p:nvPr/>
        </p:nvSpPr>
        <p:spPr>
          <a:xfrm>
            <a:off x="5893212" y="2738628"/>
            <a:ext cx="91500" cy="91500"/>
          </a:xfrm>
          <a:prstGeom prst="ellipse">
            <a:avLst/>
          </a:prstGeom>
          <a:solidFill>
            <a:srgbClr val="FBBF24"/>
          </a:solidFill>
          <a:ln cap="flat" cmpd="sng" w="19050">
            <a:solidFill>
              <a:srgbClr val="0B0B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g3f9b3f86724_0_103"/>
          <p:cNvSpPr txBox="1"/>
          <p:nvPr/>
        </p:nvSpPr>
        <p:spPr>
          <a:xfrm>
            <a:off x="6098952" y="2688336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成本与配额管理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私有AI· </a:t>
            </a:r>
            <a:r>
              <a:rPr b="0" i="0" lang="en" sz="700" u="none" cap="none" strike="noStrike">
                <a:solidFill>
                  <a:srgbClr val="FFD9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Token预算</a:t>
            </a:r>
            <a:endParaRPr b="0" i="0" sz="1400" u="none" cap="none" strike="noStrik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9" name="Google Shape;869;g3f9b3f86724_0_103"/>
          <p:cNvGrpSpPr/>
          <p:nvPr/>
        </p:nvGrpSpPr>
        <p:grpSpPr>
          <a:xfrm>
            <a:off x="5742432" y="374904"/>
            <a:ext cx="695016" cy="183000"/>
            <a:chOff x="5742432" y="374904"/>
            <a:chExt cx="695016" cy="183000"/>
          </a:xfrm>
        </p:grpSpPr>
        <p:sp>
          <p:nvSpPr>
            <p:cNvPr id="870" name="Google Shape;870;g3f9b3f86724_0_103"/>
            <p:cNvSpPr/>
            <p:nvPr/>
          </p:nvSpPr>
          <p:spPr>
            <a:xfrm>
              <a:off x="5742432" y="438912"/>
              <a:ext cx="82200" cy="82200"/>
            </a:xfrm>
            <a:prstGeom prst="ellipse">
              <a:avLst/>
            </a:prstGeom>
            <a:solidFill>
              <a:srgbClr val="34D3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g3f9b3f86724_0_103"/>
            <p:cNvSpPr txBox="1"/>
            <p:nvPr/>
          </p:nvSpPr>
          <p:spPr>
            <a:xfrm>
              <a:off x="5870448" y="374904"/>
              <a:ext cx="5670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9C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已GA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2" name="Google Shape;872;g3f9b3f86724_0_103"/>
          <p:cNvGrpSpPr/>
          <p:nvPr/>
        </p:nvGrpSpPr>
        <p:grpSpPr>
          <a:xfrm>
            <a:off x="6533648" y="374904"/>
            <a:ext cx="1316616" cy="183000"/>
            <a:chOff x="6601968" y="374904"/>
            <a:chExt cx="1316616" cy="183000"/>
          </a:xfrm>
        </p:grpSpPr>
        <p:sp>
          <p:nvSpPr>
            <p:cNvPr id="873" name="Google Shape;873;g3f9b3f86724_0_103"/>
            <p:cNvSpPr/>
            <p:nvPr/>
          </p:nvSpPr>
          <p:spPr>
            <a:xfrm>
              <a:off x="6601968" y="438912"/>
              <a:ext cx="82200" cy="822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g3f9b3f86724_0_103"/>
            <p:cNvSpPr txBox="1"/>
            <p:nvPr/>
          </p:nvSpPr>
          <p:spPr>
            <a:xfrm>
              <a:off x="6729984" y="374904"/>
              <a:ext cx="11886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9C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进行中/规划中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5" name="Google Shape;875;g3f9b3f86724_0_103"/>
          <p:cNvGrpSpPr/>
          <p:nvPr/>
        </p:nvGrpSpPr>
        <p:grpSpPr>
          <a:xfrm>
            <a:off x="7946657" y="374904"/>
            <a:ext cx="1207116" cy="183000"/>
            <a:chOff x="7946657" y="374904"/>
            <a:chExt cx="1207116" cy="183000"/>
          </a:xfrm>
        </p:grpSpPr>
        <p:sp>
          <p:nvSpPr>
            <p:cNvPr id="876" name="Google Shape;876;g3f9b3f86724_0_103"/>
            <p:cNvSpPr/>
            <p:nvPr/>
          </p:nvSpPr>
          <p:spPr>
            <a:xfrm>
              <a:off x="7946657" y="438912"/>
              <a:ext cx="82200" cy="82200"/>
            </a:xfrm>
            <a:prstGeom prst="ellipse">
              <a:avLst/>
            </a:prstGeom>
            <a:solidFill>
              <a:srgbClr val="F0562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g3f9b3f86724_0_103"/>
            <p:cNvSpPr txBox="1"/>
            <p:nvPr/>
          </p:nvSpPr>
          <p:spPr>
            <a:xfrm>
              <a:off x="8074673" y="374904"/>
              <a:ext cx="10791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9C8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应用AI联合构建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8" name="Google Shape;878;g3f9b3f86724_0_103"/>
          <p:cNvSpPr/>
          <p:nvPr/>
        </p:nvSpPr>
        <p:spPr>
          <a:xfrm>
            <a:off x="164592" y="4462272"/>
            <a:ext cx="2331600" cy="219600"/>
          </a:xfrm>
          <a:prstGeom prst="roundRect">
            <a:avLst>
              <a:gd fmla="val 50000" name="adj"/>
            </a:avLst>
          </a:prstGeom>
          <a:solidFill>
            <a:srgbClr val="12123A"/>
          </a:solidFill>
          <a:ln cap="flat" cmpd="sng" w="9525">
            <a:solidFill>
              <a:srgbClr val="8B8BC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面向 </a:t>
            </a:r>
            <a:r>
              <a:rPr b="1" i="0" lang="en" sz="750" u="none" cap="none" strike="noStrike">
                <a:solidFill>
                  <a:srgbClr val="F4F4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业务部门</a:t>
            </a: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·构建与自助服务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g3f9b3f86724_0_103"/>
          <p:cNvSpPr/>
          <p:nvPr/>
        </p:nvSpPr>
        <p:spPr>
          <a:xfrm>
            <a:off x="6647688" y="4462272"/>
            <a:ext cx="2331600" cy="219600"/>
          </a:xfrm>
          <a:prstGeom prst="roundRect">
            <a:avLst>
              <a:gd fmla="val 50000" name="adj"/>
            </a:avLst>
          </a:prstGeom>
          <a:solidFill>
            <a:srgbClr val="12123A"/>
          </a:solidFill>
          <a:ln cap="flat" cmpd="sng" w="9525">
            <a:solidFill>
              <a:srgbClr val="8B8BC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 </a:t>
            </a:r>
            <a:r>
              <a:rPr b="1" i="0" lang="en" sz="750" u="none" cap="none" strike="noStrike">
                <a:solidFill>
                  <a:srgbClr val="F4F4F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开放数据湖仓</a:t>
            </a:r>
            <a:r>
              <a:rPr b="0" i="0" lang="en" sz="750" u="none" cap="none" strike="noStrike">
                <a:solidFill>
                  <a:srgbClr val="A9A9C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·Iceberg·您的私有数据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g3f9b3f86724_0_103"/>
          <p:cNvSpPr/>
          <p:nvPr/>
        </p:nvSpPr>
        <p:spPr>
          <a:xfrm>
            <a:off x="533400" y="1195000"/>
            <a:ext cx="99900" cy="999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g3f9b3f86724_0_103"/>
          <p:cNvSpPr txBox="1"/>
          <p:nvPr/>
        </p:nvSpPr>
        <p:spPr>
          <a:xfrm>
            <a:off x="663400" y="1155000"/>
            <a:ext cx="15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EE5A29"/>
                </a:solidFill>
                <a:latin typeface="Arial"/>
                <a:ea typeface="Arial"/>
                <a:cs typeface="Arial"/>
                <a:sym typeface="Arial"/>
              </a:rPr>
              <a:t>第一章·掌控成本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g3f9b3f86724_0_103"/>
          <p:cNvSpPr/>
          <p:nvPr/>
        </p:nvSpPr>
        <p:spPr>
          <a:xfrm>
            <a:off x="533400" y="1375000"/>
            <a:ext cx="99900" cy="9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g3f9b3f86724_0_103"/>
          <p:cNvSpPr txBox="1"/>
          <p:nvPr/>
        </p:nvSpPr>
        <p:spPr>
          <a:xfrm>
            <a:off x="663400" y="1335000"/>
            <a:ext cx="15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4F4FF5"/>
                </a:solidFill>
                <a:latin typeface="Arial"/>
                <a:ea typeface="Arial"/>
                <a:cs typeface="Arial"/>
                <a:sym typeface="Arial"/>
              </a:rPr>
              <a:t>第二章·统一资产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g3f9b3f86724_0_103"/>
          <p:cNvSpPr/>
          <p:nvPr/>
        </p:nvSpPr>
        <p:spPr>
          <a:xfrm>
            <a:off x="533400" y="1555000"/>
            <a:ext cx="99900" cy="99900"/>
          </a:xfrm>
          <a:prstGeom prst="rect">
            <a:avLst/>
          </a:prstGeom>
          <a:solidFill>
            <a:srgbClr val="8B8B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g3f9b3f86724_0_103"/>
          <p:cNvSpPr txBox="1"/>
          <p:nvPr/>
        </p:nvSpPr>
        <p:spPr>
          <a:xfrm>
            <a:off x="663400" y="1515000"/>
            <a:ext cx="15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8B8BC7"/>
                </a:solidFill>
                <a:latin typeface="Arial"/>
                <a:ea typeface="Arial"/>
                <a:cs typeface="Arial"/>
                <a:sym typeface="Arial"/>
              </a:rPr>
              <a:t>第三章·治理与验证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f9b3f86724_0_579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借助Cloudera AI的AI采用之旅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"/>
          <p:cNvSpPr txBox="1"/>
          <p:nvPr>
            <p:ph idx="4294967295" type="title"/>
          </p:nvPr>
        </p:nvSpPr>
        <p:spPr>
          <a:xfrm>
            <a:off x="530352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i="0" lang="en" sz="23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AI采用的统一生命周期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897" name="Google Shape;897;p7" title="Screenshot 2025-05-30 at 3.27.18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200" y="1180000"/>
            <a:ext cx="7400000" cy="3527405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7"/>
          <p:cNvSpPr txBox="1"/>
          <p:nvPr>
            <p:ph idx="4294967295" type="subTitle"/>
          </p:nvPr>
        </p:nvSpPr>
        <p:spPr>
          <a:xfrm>
            <a:off x="530349" y="731525"/>
            <a:ext cx="78126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rPr b="0" i="0" lang="en" sz="1100" u="none" cap="none" strike="noStrike">
                <a:solidFill>
                  <a:srgbClr val="1E844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界定→选型→适配→部署→应用，贯穿地图上每项GA能力的统一主线</a:t>
            </a:r>
            <a:endParaRPr b="0" i="0" sz="1100" u="none" cap="none" strike="noStrike">
              <a:solidFill>
                <a:srgbClr val="1E844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lus Jakarta Sans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f723343625_0_416"/>
          <p:cNvSpPr txBox="1"/>
          <p:nvPr/>
        </p:nvSpPr>
        <p:spPr>
          <a:xfrm>
            <a:off x="7306204" y="2041449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容器化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04" name="Google Shape;904;g3f723343625_0_416"/>
          <p:cNvSpPr txBox="1"/>
          <p:nvPr/>
        </p:nvSpPr>
        <p:spPr>
          <a:xfrm>
            <a:off x="7306204" y="2541572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安全优先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05" name="Google Shape;905;g3f723343625_0_416"/>
          <p:cNvSpPr txBox="1"/>
          <p:nvPr/>
        </p:nvSpPr>
        <p:spPr>
          <a:xfrm>
            <a:off x="7306204" y="3041695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CI/CD集成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906" name="Google Shape;906;g3f723343625_0_416"/>
          <p:cNvSpPr txBox="1"/>
          <p:nvPr/>
        </p:nvSpPr>
        <p:spPr>
          <a:xfrm>
            <a:off x="7306204" y="3541818"/>
            <a:ext cx="15084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" sz="1125" u="none" cap="none" strike="noStrike">
                <a:solidFill>
                  <a:srgbClr val="120046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可观测性</a:t>
            </a:r>
            <a:endParaRPr b="0" i="0" sz="1125" u="none" cap="none" strike="noStrike">
              <a:solidFill>
                <a:srgbClr val="120046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pic>
        <p:nvPicPr>
          <p:cNvPr id="907" name="Google Shape;907;g3f723343625_0_416"/>
          <p:cNvPicPr preferRelativeResize="0"/>
          <p:nvPr/>
        </p:nvPicPr>
        <p:blipFill rotWithShape="1">
          <a:blip r:embed="rId3">
            <a:alphaModFix/>
          </a:blip>
          <a:srcRect b="0" l="690" r="690" t="0"/>
          <a:stretch/>
        </p:blipFill>
        <p:spPr>
          <a:xfrm>
            <a:off x="542925" y="1132102"/>
            <a:ext cx="5334070" cy="3517644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g3f723343625_0_416"/>
          <p:cNvSpPr/>
          <p:nvPr/>
        </p:nvSpPr>
        <p:spPr>
          <a:xfrm flipH="1" rot="-5400000">
            <a:off x="5264903" y="2731226"/>
            <a:ext cx="1151700" cy="364200"/>
          </a:xfrm>
          <a:prstGeom prst="trapezoid">
            <a:avLst>
              <a:gd fmla="val 104501" name="adj"/>
            </a:avLst>
          </a:prstGeom>
          <a:solidFill>
            <a:srgbClr val="6D9EEB"/>
          </a:solidFill>
          <a:ln cap="flat" cmpd="sng" w="10950">
            <a:solidFill>
              <a:srgbClr val="A8AF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225" lIns="38225" spcFirstLastPara="1" rIns="38225" wrap="square" tIns="382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1"/>
              <a:buFont typeface="Arial"/>
              <a:buNone/>
            </a:pPr>
            <a:r>
              <a:t/>
            </a:r>
            <a:endParaRPr b="0" i="0" sz="581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09" name="Google Shape;909;g3f723343625_0_416"/>
          <p:cNvGrpSpPr/>
          <p:nvPr/>
        </p:nvGrpSpPr>
        <p:grpSpPr>
          <a:xfrm>
            <a:off x="1471740" y="1220019"/>
            <a:ext cx="1059706" cy="681853"/>
            <a:chOff x="1555763" y="1500100"/>
            <a:chExt cx="1231500" cy="792300"/>
          </a:xfrm>
        </p:grpSpPr>
        <p:sp>
          <p:nvSpPr>
            <p:cNvPr id="910" name="Google Shape;910;g3f723343625_0_416"/>
            <p:cNvSpPr/>
            <p:nvPr/>
          </p:nvSpPr>
          <p:spPr>
            <a:xfrm>
              <a:off x="1555763" y="1500100"/>
              <a:ext cx="1231500" cy="792300"/>
            </a:xfrm>
            <a:prstGeom prst="roundRect">
              <a:avLst>
                <a:gd fmla="val 20286" name="adj"/>
              </a:avLst>
            </a:prstGeom>
            <a:solidFill>
              <a:srgbClr val="FFD966"/>
            </a:solidFill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36"/>
                <a:buFont typeface="Arial"/>
                <a:buNone/>
              </a:pPr>
              <a:r>
                <a:t/>
              </a:r>
              <a:endParaRPr b="0" i="0" sz="1936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911" name="Google Shape;911;g3f723343625_0_416"/>
            <p:cNvPicPr preferRelativeResize="0"/>
            <p:nvPr/>
          </p:nvPicPr>
          <p:blipFill rotWithShape="1">
            <a:blip r:embed="rId4">
              <a:alphaModFix/>
            </a:blip>
            <a:srcRect b="10754" l="26296" r="25701" t="10581"/>
            <a:stretch/>
          </p:blipFill>
          <p:spPr>
            <a:xfrm>
              <a:off x="2020625" y="1607262"/>
              <a:ext cx="301750" cy="2743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g3f723343625_0_416"/>
            <p:cNvSpPr txBox="1"/>
            <p:nvPr/>
          </p:nvSpPr>
          <p:spPr>
            <a:xfrm>
              <a:off x="1621613" y="1881575"/>
              <a:ext cx="1099800" cy="38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5400" lIns="125400" spcFirstLastPara="1" rIns="125400" wrap="square" tIns="125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Huggingface</a:t>
              </a:r>
              <a:endParaRPr b="0" i="0" sz="839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cxnSp>
        <p:nvCxnSpPr>
          <p:cNvPr id="913" name="Google Shape;913;g3f723343625_0_416"/>
          <p:cNvCxnSpPr>
            <a:stCxn id="910" idx="3"/>
            <a:endCxn id="914" idx="0"/>
          </p:cNvCxnSpPr>
          <p:nvPr/>
        </p:nvCxnSpPr>
        <p:spPr>
          <a:xfrm>
            <a:off x="2531446" y="1560946"/>
            <a:ext cx="299100" cy="1053900"/>
          </a:xfrm>
          <a:prstGeom prst="bentConnector2">
            <a:avLst/>
          </a:prstGeom>
          <a:noFill/>
          <a:ln cap="flat" cmpd="sng" w="218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4" name="Google Shape;914;g3f723343625_0_416"/>
          <p:cNvSpPr/>
          <p:nvPr/>
        </p:nvSpPr>
        <p:spPr>
          <a:xfrm>
            <a:off x="2506365" y="2614734"/>
            <a:ext cx="648300" cy="615900"/>
          </a:xfrm>
          <a:prstGeom prst="roundRect">
            <a:avLst>
              <a:gd fmla="val 2028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5400" lIns="47175" spcFirstLastPara="1" rIns="47175" wrap="square" tIns="1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" sz="71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</a:t>
            </a:r>
            <a:endParaRPr b="0" i="0" sz="71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15" name="Google Shape;915;g3f723343625_0_416"/>
          <p:cNvSpPr/>
          <p:nvPr/>
        </p:nvSpPr>
        <p:spPr>
          <a:xfrm>
            <a:off x="3268892" y="2614734"/>
            <a:ext cx="648300" cy="615900"/>
          </a:xfrm>
          <a:prstGeom prst="roundRect">
            <a:avLst>
              <a:gd fmla="val 2028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25400" lIns="47175" spcFirstLastPara="1" rIns="47175" wrap="square" tIns="1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0" i="0" lang="en" sz="71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AI解决方案</a:t>
            </a:r>
            <a:endParaRPr b="0" i="0" sz="710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16" name="Google Shape;916;g3f723343625_0_416"/>
          <p:cNvCxnSpPr>
            <a:stCxn id="910" idx="3"/>
          </p:cNvCxnSpPr>
          <p:nvPr/>
        </p:nvCxnSpPr>
        <p:spPr>
          <a:xfrm flipH="1" rot="10800000">
            <a:off x="2531446" y="1557046"/>
            <a:ext cx="1308900" cy="3900"/>
          </a:xfrm>
          <a:prstGeom prst="straightConnector1">
            <a:avLst/>
          </a:prstGeom>
          <a:noFill/>
          <a:ln cap="flat" cmpd="sng" w="218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7" name="Google Shape;917;g3f723343625_0_416"/>
          <p:cNvSpPr/>
          <p:nvPr/>
        </p:nvSpPr>
        <p:spPr>
          <a:xfrm>
            <a:off x="2868567" y="1585313"/>
            <a:ext cx="619546" cy="667146"/>
          </a:xfrm>
          <a:custGeom>
            <a:rect b="b" l="l" r="r" t="t"/>
            <a:pathLst>
              <a:path extrusionOk="0" h="31012" w="28796">
                <a:moveTo>
                  <a:pt x="0" y="31012"/>
                </a:moveTo>
                <a:cubicBezTo>
                  <a:pt x="6696" y="22977"/>
                  <a:pt x="21642" y="6094"/>
                  <a:pt x="27024" y="15063"/>
                </a:cubicBezTo>
                <a:cubicBezTo>
                  <a:pt x="29439" y="19087"/>
                  <a:pt x="15033" y="22522"/>
                  <a:pt x="13290" y="18164"/>
                </a:cubicBezTo>
                <a:cubicBezTo>
                  <a:pt x="10333" y="10773"/>
                  <a:pt x="21676" y="3560"/>
                  <a:pt x="28796" y="0"/>
                </a:cubicBezTo>
              </a:path>
            </a:pathLst>
          </a:custGeom>
          <a:noFill/>
          <a:ln cap="flat" cmpd="sng" w="21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675" lIns="78675" spcFirstLastPara="1" rIns="78675" wrap="square" tIns="78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3f723343625_0_416"/>
          <p:cNvSpPr txBox="1"/>
          <p:nvPr/>
        </p:nvSpPr>
        <p:spPr>
          <a:xfrm>
            <a:off x="2736713" y="2010102"/>
            <a:ext cx="946800" cy="32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400" lIns="125400" spcFirstLastPara="1" rIns="125400" wrap="square" tIns="1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9"/>
              <a:buFont typeface="Arial"/>
              <a:buNone/>
            </a:pPr>
            <a:r>
              <a:rPr b="0" i="0" lang="en" sz="839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做出决策</a:t>
            </a:r>
            <a:endParaRPr b="0" i="0" sz="839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919" name="Google Shape;919;g3f723343625_0_416"/>
          <p:cNvGrpSpPr/>
          <p:nvPr/>
        </p:nvGrpSpPr>
        <p:grpSpPr>
          <a:xfrm>
            <a:off x="6022712" y="1655315"/>
            <a:ext cx="1137780" cy="2534811"/>
            <a:chOff x="6855600" y="1593625"/>
            <a:chExt cx="982200" cy="2188200"/>
          </a:xfrm>
        </p:grpSpPr>
        <p:sp>
          <p:nvSpPr>
            <p:cNvPr id="920" name="Google Shape;920;g3f723343625_0_416"/>
            <p:cNvSpPr/>
            <p:nvPr/>
          </p:nvSpPr>
          <p:spPr>
            <a:xfrm>
              <a:off x="6855600" y="1593625"/>
              <a:ext cx="982200" cy="2188200"/>
            </a:xfrm>
            <a:prstGeom prst="roundRect">
              <a:avLst>
                <a:gd fmla="val 9201" name="adj"/>
              </a:avLst>
            </a:prstGeom>
            <a:solidFill>
              <a:srgbClr val="FFFFFF"/>
            </a:solidFill>
            <a:ln cap="flat" cmpd="sng" w="29450">
              <a:solidFill>
                <a:srgbClr val="5555F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21" name="Google Shape;921;g3f723343625_0_416"/>
            <p:cNvSpPr/>
            <p:nvPr/>
          </p:nvSpPr>
          <p:spPr>
            <a:xfrm>
              <a:off x="6995850" y="1700300"/>
              <a:ext cx="701700" cy="622500"/>
            </a:xfrm>
            <a:prstGeom prst="roundRect">
              <a:avLst>
                <a:gd fmla="val 20286" name="adj"/>
              </a:avLst>
            </a:prstGeom>
            <a:solidFill>
              <a:srgbClr val="5455F9"/>
            </a:solidFill>
            <a:ln>
              <a:noFill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922" name="Google Shape;922;g3f723343625_0_416"/>
            <p:cNvGrpSpPr/>
            <p:nvPr/>
          </p:nvGrpSpPr>
          <p:grpSpPr>
            <a:xfrm>
              <a:off x="7197933" y="1748618"/>
              <a:ext cx="297526" cy="281563"/>
              <a:chOff x="11055984" y="3985106"/>
              <a:chExt cx="500380" cy="500379"/>
            </a:xfrm>
          </p:grpSpPr>
          <p:sp>
            <p:nvSpPr>
              <p:cNvPr id="923" name="Google Shape;923;g3f723343625_0_416"/>
              <p:cNvSpPr/>
              <p:nvPr/>
            </p:nvSpPr>
            <p:spPr>
              <a:xfrm>
                <a:off x="11055984" y="3985106"/>
                <a:ext cx="500380" cy="500379"/>
              </a:xfrm>
              <a:custGeom>
                <a:rect b="b" l="l" r="r" t="t"/>
                <a:pathLst>
                  <a:path extrusionOk="0" h="500379" w="500380">
                    <a:moveTo>
                      <a:pt x="0" y="0"/>
                    </a:moveTo>
                    <a:lnTo>
                      <a:pt x="0" y="500380"/>
                    </a:lnTo>
                    <a:lnTo>
                      <a:pt x="500380" y="500380"/>
                    </a:lnTo>
                    <a:lnTo>
                      <a:pt x="500380" y="0"/>
                    </a:lnTo>
                    <a:lnTo>
                      <a:pt x="0" y="0"/>
                    </a:lnTo>
                    <a:close/>
                    <a:moveTo>
                      <a:pt x="487045" y="487045"/>
                    </a:moveTo>
                    <a:lnTo>
                      <a:pt x="13335" y="487045"/>
                    </a:lnTo>
                    <a:lnTo>
                      <a:pt x="13335" y="13335"/>
                    </a:lnTo>
                    <a:lnTo>
                      <a:pt x="487045" y="13335"/>
                    </a:lnTo>
                    <a:lnTo>
                      <a:pt x="487045" y="4870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g3f723343625_0_416"/>
              <p:cNvSpPr/>
              <p:nvPr/>
            </p:nvSpPr>
            <p:spPr>
              <a:xfrm>
                <a:off x="11266466" y="4189837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g3f723343625_0_416"/>
              <p:cNvSpPr/>
              <p:nvPr/>
            </p:nvSpPr>
            <p:spPr>
              <a:xfrm>
                <a:off x="11266466" y="405458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g3f723343625_0_416"/>
              <p:cNvSpPr/>
              <p:nvPr/>
            </p:nvSpPr>
            <p:spPr>
              <a:xfrm>
                <a:off x="11266466" y="432509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g3f723343625_0_416"/>
              <p:cNvSpPr/>
              <p:nvPr/>
            </p:nvSpPr>
            <p:spPr>
              <a:xfrm>
                <a:off x="11130577" y="4189837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g3f723343625_0_416"/>
              <p:cNvSpPr/>
              <p:nvPr/>
            </p:nvSpPr>
            <p:spPr>
              <a:xfrm>
                <a:off x="11130577" y="405458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g3f723343625_0_416"/>
              <p:cNvSpPr/>
              <p:nvPr/>
            </p:nvSpPr>
            <p:spPr>
              <a:xfrm>
                <a:off x="11130577" y="432509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g3f723343625_0_416"/>
              <p:cNvSpPr/>
              <p:nvPr/>
            </p:nvSpPr>
            <p:spPr>
              <a:xfrm>
                <a:off x="11401722" y="4189837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g3f723343625_0_416"/>
              <p:cNvSpPr/>
              <p:nvPr/>
            </p:nvSpPr>
            <p:spPr>
              <a:xfrm>
                <a:off x="11401722" y="405458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g3f723343625_0_416"/>
              <p:cNvSpPr/>
              <p:nvPr/>
            </p:nvSpPr>
            <p:spPr>
              <a:xfrm>
                <a:off x="11401722" y="4325092"/>
                <a:ext cx="81280" cy="81279"/>
              </a:xfrm>
              <a:custGeom>
                <a:rect b="b" l="l" r="r" t="t"/>
                <a:pathLst>
                  <a:path extrusionOk="0" h="81279" w="81280">
                    <a:moveTo>
                      <a:pt x="81280" y="40640"/>
                    </a:moveTo>
                    <a:cubicBezTo>
                      <a:pt x="81280" y="63085"/>
                      <a:pt x="63085" y="81280"/>
                      <a:pt x="40640" y="81280"/>
                    </a:cubicBezTo>
                    <a:cubicBezTo>
                      <a:pt x="18195" y="81280"/>
                      <a:pt x="0" y="63085"/>
                      <a:pt x="0" y="40640"/>
                    </a:cubicBezTo>
                    <a:cubicBezTo>
                      <a:pt x="0" y="18195"/>
                      <a:pt x="18195" y="0"/>
                      <a:pt x="40640" y="0"/>
                    </a:cubicBezTo>
                    <a:cubicBezTo>
                      <a:pt x="63085" y="0"/>
                      <a:pt x="81280" y="18195"/>
                      <a:pt x="81280" y="406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3" name="Google Shape;933;g3f723343625_0_416"/>
            <p:cNvSpPr txBox="1"/>
            <p:nvPr/>
          </p:nvSpPr>
          <p:spPr>
            <a:xfrm>
              <a:off x="6996402" y="2034821"/>
              <a:ext cx="701700" cy="29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900" lIns="105900" spcFirstLastPara="1" rIns="105900" wrap="square" tIns="1059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Copilot</a:t>
              </a:r>
              <a:endParaRPr b="0" i="0" sz="174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4" name="Google Shape;934;g3f723343625_0_416"/>
            <p:cNvSpPr/>
            <p:nvPr/>
          </p:nvSpPr>
          <p:spPr>
            <a:xfrm>
              <a:off x="6995850" y="2376475"/>
              <a:ext cx="701700" cy="622500"/>
            </a:xfrm>
            <a:prstGeom prst="roundRect">
              <a:avLst>
                <a:gd fmla="val 20286" name="adj"/>
              </a:avLst>
            </a:prstGeom>
            <a:solidFill>
              <a:srgbClr val="5455F9"/>
            </a:solidFill>
            <a:ln>
              <a:noFill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35" name="Google Shape;935;g3f723343625_0_416"/>
            <p:cNvSpPr txBox="1"/>
            <p:nvPr/>
          </p:nvSpPr>
          <p:spPr>
            <a:xfrm>
              <a:off x="6902700" y="2612750"/>
              <a:ext cx="888000" cy="4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900" lIns="105900" spcFirstLastPara="1" rIns="105900" wrap="square" tIns="1059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智能体工作流</a:t>
              </a:r>
              <a:endParaRPr b="0" i="0" sz="839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936" name="Google Shape;936;g3f723343625_0_416"/>
            <p:cNvGrpSpPr/>
            <p:nvPr/>
          </p:nvGrpSpPr>
          <p:grpSpPr>
            <a:xfrm>
              <a:off x="7232285" y="2466706"/>
              <a:ext cx="228751" cy="179197"/>
              <a:chOff x="11054080" y="2067560"/>
              <a:chExt cx="504189" cy="394969"/>
            </a:xfrm>
          </p:grpSpPr>
          <p:sp>
            <p:nvSpPr>
              <p:cNvPr id="937" name="Google Shape;937;g3f723343625_0_416"/>
              <p:cNvSpPr/>
              <p:nvPr/>
            </p:nvSpPr>
            <p:spPr>
              <a:xfrm>
                <a:off x="11175365" y="2242978"/>
                <a:ext cx="382904" cy="67072"/>
              </a:xfrm>
              <a:custGeom>
                <a:rect b="b" l="l" r="r" t="t"/>
                <a:pathLst>
                  <a:path extrusionOk="0" h="67072" w="382904">
                    <a:moveTo>
                      <a:pt x="1905" y="6191"/>
                    </a:moveTo>
                    <a:cubicBezTo>
                      <a:pt x="9525" y="9366"/>
                      <a:pt x="15875" y="14446"/>
                      <a:pt x="22225" y="19526"/>
                    </a:cubicBezTo>
                    <a:lnTo>
                      <a:pt x="41910" y="39211"/>
                    </a:lnTo>
                    <a:cubicBezTo>
                      <a:pt x="63500" y="60801"/>
                      <a:pt x="98425" y="60801"/>
                      <a:pt x="120015" y="39211"/>
                    </a:cubicBezTo>
                    <a:lnTo>
                      <a:pt x="140335" y="19526"/>
                    </a:lnTo>
                    <a:cubicBezTo>
                      <a:pt x="167005" y="-6509"/>
                      <a:pt x="209550" y="-6509"/>
                      <a:pt x="236220" y="19526"/>
                    </a:cubicBezTo>
                    <a:lnTo>
                      <a:pt x="256540" y="39211"/>
                    </a:lnTo>
                    <a:cubicBezTo>
                      <a:pt x="278130" y="60166"/>
                      <a:pt x="309245" y="60166"/>
                      <a:pt x="335280" y="38576"/>
                    </a:cubicBezTo>
                    <a:cubicBezTo>
                      <a:pt x="363220" y="15716"/>
                      <a:pt x="374650" y="6191"/>
                      <a:pt x="374650" y="5556"/>
                    </a:cubicBezTo>
                    <a:lnTo>
                      <a:pt x="382905" y="15081"/>
                    </a:lnTo>
                    <a:cubicBezTo>
                      <a:pt x="382270" y="15716"/>
                      <a:pt x="371475" y="25241"/>
                      <a:pt x="342900" y="48101"/>
                    </a:cubicBezTo>
                    <a:cubicBezTo>
                      <a:pt x="311150" y="73501"/>
                      <a:pt x="273685" y="73501"/>
                      <a:pt x="247015" y="47466"/>
                    </a:cubicBezTo>
                    <a:lnTo>
                      <a:pt x="226695" y="27781"/>
                    </a:lnTo>
                    <a:cubicBezTo>
                      <a:pt x="205105" y="6191"/>
                      <a:pt x="170180" y="6191"/>
                      <a:pt x="148590" y="27781"/>
                    </a:cubicBezTo>
                    <a:lnTo>
                      <a:pt x="128270" y="47466"/>
                    </a:lnTo>
                    <a:cubicBezTo>
                      <a:pt x="101600" y="73501"/>
                      <a:pt x="59055" y="73501"/>
                      <a:pt x="32385" y="47466"/>
                    </a:cubicBezTo>
                    <a:lnTo>
                      <a:pt x="12065" y="27781"/>
                    </a:lnTo>
                    <a:cubicBezTo>
                      <a:pt x="8255" y="23971"/>
                      <a:pt x="4445" y="20796"/>
                      <a:pt x="0" y="18891"/>
                    </a:cubicBezTo>
                    <a:lnTo>
                      <a:pt x="1905" y="6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g3f723343625_0_416"/>
              <p:cNvSpPr/>
              <p:nvPr/>
            </p:nvSpPr>
            <p:spPr>
              <a:xfrm>
                <a:off x="11054080" y="2252345"/>
                <a:ext cx="64769" cy="61594"/>
              </a:xfrm>
              <a:custGeom>
                <a:rect b="b" l="l" r="r" t="t"/>
                <a:pathLst>
                  <a:path extrusionOk="0" h="61594" w="64769">
                    <a:moveTo>
                      <a:pt x="64770" y="12700"/>
                    </a:moveTo>
                    <a:cubicBezTo>
                      <a:pt x="61595" y="14605"/>
                      <a:pt x="59055" y="17145"/>
                      <a:pt x="56514" y="19685"/>
                    </a:cubicBezTo>
                    <a:lnTo>
                      <a:pt x="8255" y="61595"/>
                    </a:lnTo>
                    <a:lnTo>
                      <a:pt x="0" y="52070"/>
                    </a:lnTo>
                    <a:lnTo>
                      <a:pt x="47625" y="10160"/>
                    </a:lnTo>
                    <a:cubicBezTo>
                      <a:pt x="51435" y="6350"/>
                      <a:pt x="55880" y="2540"/>
                      <a:pt x="60960" y="0"/>
                    </a:cubicBezTo>
                    <a:lnTo>
                      <a:pt x="64770" y="127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g3f723343625_0_416"/>
              <p:cNvSpPr/>
              <p:nvPr/>
            </p:nvSpPr>
            <p:spPr>
              <a:xfrm>
                <a:off x="11430000" y="2262504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g3f723343625_0_416"/>
              <p:cNvSpPr/>
              <p:nvPr/>
            </p:nvSpPr>
            <p:spPr>
              <a:xfrm>
                <a:off x="11054715" y="2391568"/>
                <a:ext cx="276859" cy="70961"/>
              </a:xfrm>
              <a:custGeom>
                <a:rect b="b" l="l" r="r" t="t"/>
                <a:pathLst>
                  <a:path extrusionOk="0" h="70961" w="276859">
                    <a:moveTo>
                      <a:pt x="276860" y="23336"/>
                    </a:moveTo>
                    <a:cubicBezTo>
                      <a:pt x="274320" y="25241"/>
                      <a:pt x="272415" y="27146"/>
                      <a:pt x="270510" y="29051"/>
                    </a:cubicBezTo>
                    <a:lnTo>
                      <a:pt x="250190" y="48736"/>
                    </a:lnTo>
                    <a:cubicBezTo>
                      <a:pt x="223520" y="74771"/>
                      <a:pt x="180975" y="74771"/>
                      <a:pt x="154305" y="48736"/>
                    </a:cubicBezTo>
                    <a:lnTo>
                      <a:pt x="134620" y="29051"/>
                    </a:lnTo>
                    <a:cubicBezTo>
                      <a:pt x="113030" y="7461"/>
                      <a:pt x="78105" y="7461"/>
                      <a:pt x="56515" y="29051"/>
                    </a:cubicBezTo>
                    <a:lnTo>
                      <a:pt x="8255" y="70961"/>
                    </a:lnTo>
                    <a:lnTo>
                      <a:pt x="0" y="61436"/>
                    </a:lnTo>
                    <a:lnTo>
                      <a:pt x="47625" y="19526"/>
                    </a:lnTo>
                    <a:cubicBezTo>
                      <a:pt x="74295" y="-6509"/>
                      <a:pt x="116840" y="-6509"/>
                      <a:pt x="143510" y="19526"/>
                    </a:cubicBezTo>
                    <a:lnTo>
                      <a:pt x="163195" y="39211"/>
                    </a:lnTo>
                    <a:cubicBezTo>
                      <a:pt x="184785" y="60801"/>
                      <a:pt x="219710" y="60801"/>
                      <a:pt x="241300" y="39211"/>
                    </a:cubicBezTo>
                    <a:lnTo>
                      <a:pt x="261620" y="19526"/>
                    </a:lnTo>
                    <a:cubicBezTo>
                      <a:pt x="264795" y="16351"/>
                      <a:pt x="268605" y="13176"/>
                      <a:pt x="272415" y="10636"/>
                    </a:cubicBezTo>
                    <a:lnTo>
                      <a:pt x="276860" y="233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g3f723343625_0_416"/>
              <p:cNvSpPr/>
              <p:nvPr/>
            </p:nvSpPr>
            <p:spPr>
              <a:xfrm>
                <a:off x="11388090" y="2397125"/>
                <a:ext cx="170179" cy="61516"/>
              </a:xfrm>
              <a:custGeom>
                <a:rect b="b" l="l" r="r" t="t"/>
                <a:pathLst>
                  <a:path extrusionOk="0" h="61516" w="170179">
                    <a:moveTo>
                      <a:pt x="2540" y="0"/>
                    </a:moveTo>
                    <a:cubicBezTo>
                      <a:pt x="10160" y="3175"/>
                      <a:pt x="17780" y="8255"/>
                      <a:pt x="23495" y="13970"/>
                    </a:cubicBezTo>
                    <a:lnTo>
                      <a:pt x="43815" y="33655"/>
                    </a:lnTo>
                    <a:cubicBezTo>
                      <a:pt x="65405" y="54610"/>
                      <a:pt x="96520" y="54610"/>
                      <a:pt x="122555" y="33020"/>
                    </a:cubicBezTo>
                    <a:cubicBezTo>
                      <a:pt x="150495" y="10160"/>
                      <a:pt x="161925" y="635"/>
                      <a:pt x="161925" y="0"/>
                    </a:cubicBezTo>
                    <a:lnTo>
                      <a:pt x="170180" y="9525"/>
                    </a:lnTo>
                    <a:cubicBezTo>
                      <a:pt x="169545" y="10160"/>
                      <a:pt x="158750" y="19685"/>
                      <a:pt x="130175" y="42545"/>
                    </a:cubicBezTo>
                    <a:cubicBezTo>
                      <a:pt x="98425" y="67945"/>
                      <a:pt x="60960" y="67945"/>
                      <a:pt x="34290" y="41910"/>
                    </a:cubicBezTo>
                    <a:lnTo>
                      <a:pt x="13970" y="22225"/>
                    </a:lnTo>
                    <a:cubicBezTo>
                      <a:pt x="10160" y="18415"/>
                      <a:pt x="5080" y="14605"/>
                      <a:pt x="0" y="12065"/>
                    </a:cubicBezTo>
                    <a:lnTo>
                      <a:pt x="25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g3f723343625_0_416"/>
              <p:cNvSpPr/>
              <p:nvPr/>
            </p:nvSpPr>
            <p:spPr>
              <a:xfrm>
                <a:off x="11109959" y="236347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g3f723343625_0_416"/>
              <p:cNvSpPr/>
              <p:nvPr/>
            </p:nvSpPr>
            <p:spPr>
              <a:xfrm>
                <a:off x="11054080" y="2106929"/>
                <a:ext cx="66039" cy="62865"/>
              </a:xfrm>
              <a:custGeom>
                <a:rect b="b" l="l" r="r" t="t"/>
                <a:pathLst>
                  <a:path extrusionOk="0" h="62865" w="66039">
                    <a:moveTo>
                      <a:pt x="66039" y="13335"/>
                    </a:moveTo>
                    <a:cubicBezTo>
                      <a:pt x="62230" y="15240"/>
                      <a:pt x="59055" y="17780"/>
                      <a:pt x="56514" y="20955"/>
                    </a:cubicBezTo>
                    <a:lnTo>
                      <a:pt x="8255" y="62865"/>
                    </a:lnTo>
                    <a:lnTo>
                      <a:pt x="0" y="53340"/>
                    </a:lnTo>
                    <a:lnTo>
                      <a:pt x="47625" y="11430"/>
                    </a:lnTo>
                    <a:cubicBezTo>
                      <a:pt x="52070" y="6985"/>
                      <a:pt x="57150" y="3175"/>
                      <a:pt x="62864" y="0"/>
                    </a:cubicBezTo>
                    <a:lnTo>
                      <a:pt x="66039" y="133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g3f723343625_0_416"/>
              <p:cNvSpPr/>
              <p:nvPr/>
            </p:nvSpPr>
            <p:spPr>
              <a:xfrm>
                <a:off x="11176634" y="2099468"/>
                <a:ext cx="381634" cy="67072"/>
              </a:xfrm>
              <a:custGeom>
                <a:rect b="b" l="l" r="r" t="t"/>
                <a:pathLst>
                  <a:path extrusionOk="0" h="67072" w="381634">
                    <a:moveTo>
                      <a:pt x="1905" y="6191"/>
                    </a:moveTo>
                    <a:cubicBezTo>
                      <a:pt x="8890" y="9366"/>
                      <a:pt x="15240" y="13811"/>
                      <a:pt x="20955" y="19526"/>
                    </a:cubicBezTo>
                    <a:lnTo>
                      <a:pt x="40640" y="39211"/>
                    </a:lnTo>
                    <a:cubicBezTo>
                      <a:pt x="62230" y="60801"/>
                      <a:pt x="97155" y="60801"/>
                      <a:pt x="118745" y="39211"/>
                    </a:cubicBezTo>
                    <a:lnTo>
                      <a:pt x="139065" y="19526"/>
                    </a:lnTo>
                    <a:cubicBezTo>
                      <a:pt x="165735" y="-6509"/>
                      <a:pt x="208280" y="-6509"/>
                      <a:pt x="234950" y="19526"/>
                    </a:cubicBezTo>
                    <a:lnTo>
                      <a:pt x="255270" y="39211"/>
                    </a:lnTo>
                    <a:cubicBezTo>
                      <a:pt x="276860" y="60166"/>
                      <a:pt x="307975" y="60166"/>
                      <a:pt x="334010" y="38576"/>
                    </a:cubicBezTo>
                    <a:cubicBezTo>
                      <a:pt x="361950" y="15716"/>
                      <a:pt x="373380" y="6191"/>
                      <a:pt x="373380" y="5556"/>
                    </a:cubicBezTo>
                    <a:lnTo>
                      <a:pt x="381635" y="15081"/>
                    </a:lnTo>
                    <a:cubicBezTo>
                      <a:pt x="381000" y="15716"/>
                      <a:pt x="370205" y="25241"/>
                      <a:pt x="341630" y="48101"/>
                    </a:cubicBezTo>
                    <a:cubicBezTo>
                      <a:pt x="309880" y="73501"/>
                      <a:pt x="272415" y="73501"/>
                      <a:pt x="245745" y="47466"/>
                    </a:cubicBezTo>
                    <a:lnTo>
                      <a:pt x="225425" y="27781"/>
                    </a:lnTo>
                    <a:cubicBezTo>
                      <a:pt x="203835" y="6191"/>
                      <a:pt x="168910" y="6191"/>
                      <a:pt x="147320" y="27781"/>
                    </a:cubicBezTo>
                    <a:lnTo>
                      <a:pt x="127000" y="47466"/>
                    </a:lnTo>
                    <a:cubicBezTo>
                      <a:pt x="100330" y="73501"/>
                      <a:pt x="57785" y="73501"/>
                      <a:pt x="31115" y="47466"/>
                    </a:cubicBezTo>
                    <a:lnTo>
                      <a:pt x="11430" y="27781"/>
                    </a:lnTo>
                    <a:cubicBezTo>
                      <a:pt x="8255" y="24606"/>
                      <a:pt x="3810" y="21431"/>
                      <a:pt x="0" y="18891"/>
                    </a:cubicBezTo>
                    <a:lnTo>
                      <a:pt x="1905" y="61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g3f723343625_0_416"/>
              <p:cNvSpPr/>
              <p:nvPr/>
            </p:nvSpPr>
            <p:spPr>
              <a:xfrm>
                <a:off x="11325225" y="206756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76200" y="38100"/>
                    </a:moveTo>
                    <a:cubicBezTo>
                      <a:pt x="76200" y="59142"/>
                      <a:pt x="59142" y="76200"/>
                      <a:pt x="38100" y="76200"/>
                    </a:cubicBezTo>
                    <a:cubicBezTo>
                      <a:pt x="17058" y="76200"/>
                      <a:pt x="0" y="59142"/>
                      <a:pt x="0" y="38100"/>
                    </a:cubicBezTo>
                    <a:cubicBezTo>
                      <a:pt x="0" y="17058"/>
                      <a:pt x="17058" y="0"/>
                      <a:pt x="38100" y="0"/>
                    </a:cubicBezTo>
                    <a:cubicBezTo>
                      <a:pt x="59142" y="0"/>
                      <a:pt x="76200" y="17058"/>
                      <a:pt x="76200" y="381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g3f723343625_0_416"/>
              <p:cNvSpPr/>
              <p:nvPr/>
            </p:nvSpPr>
            <p:spPr>
              <a:xfrm>
                <a:off x="11109959" y="206756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4130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g3f723343625_0_416"/>
              <p:cNvSpPr/>
              <p:nvPr/>
            </p:nvSpPr>
            <p:spPr>
              <a:xfrm>
                <a:off x="11109959" y="2211704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4130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g3f723343625_0_416"/>
              <p:cNvSpPr/>
              <p:nvPr/>
            </p:nvSpPr>
            <p:spPr>
              <a:xfrm>
                <a:off x="11322050" y="2359660"/>
                <a:ext cx="76200" cy="76200"/>
              </a:xfrm>
              <a:custGeom>
                <a:rect b="b" l="l" r="r" t="t"/>
                <a:pathLst>
                  <a:path extrusionOk="0" h="76200" w="76200">
                    <a:moveTo>
                      <a:pt x="38100" y="12700"/>
                    </a:moveTo>
                    <a:cubicBezTo>
                      <a:pt x="52070" y="12700"/>
                      <a:pt x="63500" y="24130"/>
                      <a:pt x="63500" y="38100"/>
                    </a:cubicBezTo>
                    <a:cubicBezTo>
                      <a:pt x="63500" y="52070"/>
                      <a:pt x="52070" y="63500"/>
                      <a:pt x="38100" y="63500"/>
                    </a:cubicBezTo>
                    <a:cubicBezTo>
                      <a:pt x="24130" y="63500"/>
                      <a:pt x="12700" y="52070"/>
                      <a:pt x="12700" y="38100"/>
                    </a:cubicBezTo>
                    <a:cubicBezTo>
                      <a:pt x="12700" y="24130"/>
                      <a:pt x="23495" y="12700"/>
                      <a:pt x="38100" y="12700"/>
                    </a:cubicBezTo>
                    <a:moveTo>
                      <a:pt x="38100" y="0"/>
                    </a:moveTo>
                    <a:cubicBezTo>
                      <a:pt x="17145" y="0"/>
                      <a:pt x="0" y="17145"/>
                      <a:pt x="0" y="38100"/>
                    </a:cubicBezTo>
                    <a:cubicBezTo>
                      <a:pt x="0" y="59055"/>
                      <a:pt x="17145" y="76200"/>
                      <a:pt x="38100" y="76200"/>
                    </a:cubicBezTo>
                    <a:cubicBezTo>
                      <a:pt x="59055" y="76200"/>
                      <a:pt x="76200" y="59055"/>
                      <a:pt x="76200" y="38100"/>
                    </a:cubicBezTo>
                    <a:cubicBezTo>
                      <a:pt x="76200" y="17145"/>
                      <a:pt x="59055" y="0"/>
                      <a:pt x="381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9" name="Google Shape;949;g3f723343625_0_416"/>
            <p:cNvSpPr/>
            <p:nvPr/>
          </p:nvSpPr>
          <p:spPr>
            <a:xfrm>
              <a:off x="7209178" y="3424689"/>
              <a:ext cx="191663" cy="191414"/>
            </a:xfrm>
            <a:custGeom>
              <a:rect b="b" l="l" r="r" t="t"/>
              <a:pathLst>
                <a:path extrusionOk="0" h="487679" w="488314">
                  <a:moveTo>
                    <a:pt x="447039" y="311785"/>
                  </a:moveTo>
                  <a:cubicBezTo>
                    <a:pt x="469264" y="311785"/>
                    <a:pt x="487680" y="293370"/>
                    <a:pt x="487680" y="271145"/>
                  </a:cubicBezTo>
                  <a:cubicBezTo>
                    <a:pt x="487680" y="248920"/>
                    <a:pt x="469264" y="230505"/>
                    <a:pt x="447039" y="230505"/>
                  </a:cubicBezTo>
                  <a:cubicBezTo>
                    <a:pt x="424814" y="230505"/>
                    <a:pt x="406400" y="248920"/>
                    <a:pt x="406400" y="271145"/>
                  </a:cubicBezTo>
                  <a:cubicBezTo>
                    <a:pt x="406400" y="278765"/>
                    <a:pt x="408305" y="285750"/>
                    <a:pt x="412114" y="291465"/>
                  </a:cubicBezTo>
                  <a:lnTo>
                    <a:pt x="327025" y="357505"/>
                  </a:lnTo>
                  <a:cubicBezTo>
                    <a:pt x="319405" y="349885"/>
                    <a:pt x="309245" y="345440"/>
                    <a:pt x="298450" y="345440"/>
                  </a:cubicBezTo>
                  <a:cubicBezTo>
                    <a:pt x="283210" y="345440"/>
                    <a:pt x="269875" y="353695"/>
                    <a:pt x="262889" y="366395"/>
                  </a:cubicBezTo>
                  <a:lnTo>
                    <a:pt x="189230" y="339725"/>
                  </a:lnTo>
                  <a:cubicBezTo>
                    <a:pt x="189864" y="337185"/>
                    <a:pt x="189864" y="334645"/>
                    <a:pt x="189864" y="332105"/>
                  </a:cubicBezTo>
                  <a:cubicBezTo>
                    <a:pt x="189864" y="309880"/>
                    <a:pt x="171450" y="291465"/>
                    <a:pt x="149225" y="291465"/>
                  </a:cubicBezTo>
                  <a:cubicBezTo>
                    <a:pt x="127000" y="291465"/>
                    <a:pt x="108585" y="309880"/>
                    <a:pt x="108585" y="332105"/>
                  </a:cubicBezTo>
                  <a:cubicBezTo>
                    <a:pt x="108585" y="337820"/>
                    <a:pt x="109855" y="342900"/>
                    <a:pt x="111760" y="347980"/>
                  </a:cubicBezTo>
                  <a:lnTo>
                    <a:pt x="13970" y="405130"/>
                  </a:lnTo>
                  <a:lnTo>
                    <a:pt x="13970" y="241300"/>
                  </a:lnTo>
                  <a:lnTo>
                    <a:pt x="118745" y="182880"/>
                  </a:lnTo>
                  <a:cubicBezTo>
                    <a:pt x="126364" y="191770"/>
                    <a:pt x="137160" y="196850"/>
                    <a:pt x="149225" y="196850"/>
                  </a:cubicBezTo>
                  <a:cubicBezTo>
                    <a:pt x="161925" y="196850"/>
                    <a:pt x="172720" y="191135"/>
                    <a:pt x="180339" y="182245"/>
                  </a:cubicBezTo>
                  <a:lnTo>
                    <a:pt x="260350" y="229235"/>
                  </a:lnTo>
                  <a:cubicBezTo>
                    <a:pt x="258445" y="233680"/>
                    <a:pt x="257810" y="238760"/>
                    <a:pt x="257810" y="243840"/>
                  </a:cubicBezTo>
                  <a:cubicBezTo>
                    <a:pt x="257810" y="266065"/>
                    <a:pt x="276225" y="284480"/>
                    <a:pt x="298450" y="284480"/>
                  </a:cubicBezTo>
                  <a:cubicBezTo>
                    <a:pt x="320675" y="284480"/>
                    <a:pt x="339089" y="266065"/>
                    <a:pt x="339089" y="243840"/>
                  </a:cubicBezTo>
                  <a:cubicBezTo>
                    <a:pt x="339089" y="233680"/>
                    <a:pt x="335280" y="224155"/>
                    <a:pt x="328930" y="217170"/>
                  </a:cubicBezTo>
                  <a:lnTo>
                    <a:pt x="431164" y="78105"/>
                  </a:lnTo>
                  <a:cubicBezTo>
                    <a:pt x="436245" y="80010"/>
                    <a:pt x="441960" y="81280"/>
                    <a:pt x="447675" y="81280"/>
                  </a:cubicBezTo>
                  <a:cubicBezTo>
                    <a:pt x="469900" y="81280"/>
                    <a:pt x="488314" y="62865"/>
                    <a:pt x="488314" y="40640"/>
                  </a:cubicBezTo>
                  <a:cubicBezTo>
                    <a:pt x="488314" y="18415"/>
                    <a:pt x="469900" y="0"/>
                    <a:pt x="447675" y="0"/>
                  </a:cubicBezTo>
                  <a:cubicBezTo>
                    <a:pt x="425450" y="0"/>
                    <a:pt x="407035" y="18415"/>
                    <a:pt x="407035" y="40640"/>
                  </a:cubicBezTo>
                  <a:cubicBezTo>
                    <a:pt x="407035" y="52070"/>
                    <a:pt x="412114" y="62865"/>
                    <a:pt x="419735" y="70485"/>
                  </a:cubicBezTo>
                  <a:lnTo>
                    <a:pt x="318135" y="208280"/>
                  </a:lnTo>
                  <a:cubicBezTo>
                    <a:pt x="312420" y="205105"/>
                    <a:pt x="305435" y="203200"/>
                    <a:pt x="298450" y="203200"/>
                  </a:cubicBezTo>
                  <a:cubicBezTo>
                    <a:pt x="285750" y="203200"/>
                    <a:pt x="274955" y="208915"/>
                    <a:pt x="267335" y="217805"/>
                  </a:cubicBezTo>
                  <a:lnTo>
                    <a:pt x="187325" y="170815"/>
                  </a:lnTo>
                  <a:cubicBezTo>
                    <a:pt x="189230" y="166370"/>
                    <a:pt x="189864" y="161290"/>
                    <a:pt x="189864" y="156210"/>
                  </a:cubicBezTo>
                  <a:cubicBezTo>
                    <a:pt x="189864" y="133985"/>
                    <a:pt x="171450" y="115570"/>
                    <a:pt x="149225" y="115570"/>
                  </a:cubicBezTo>
                  <a:cubicBezTo>
                    <a:pt x="127000" y="115570"/>
                    <a:pt x="108585" y="133985"/>
                    <a:pt x="108585" y="156210"/>
                  </a:cubicBezTo>
                  <a:cubicBezTo>
                    <a:pt x="108585" y="161290"/>
                    <a:pt x="109855" y="166370"/>
                    <a:pt x="111125" y="170815"/>
                  </a:cubicBezTo>
                  <a:lnTo>
                    <a:pt x="13335" y="225425"/>
                  </a:lnTo>
                  <a:lnTo>
                    <a:pt x="13335" y="635"/>
                  </a:lnTo>
                  <a:lnTo>
                    <a:pt x="0" y="635"/>
                  </a:lnTo>
                  <a:lnTo>
                    <a:pt x="0" y="412750"/>
                  </a:lnTo>
                  <a:lnTo>
                    <a:pt x="0" y="412750"/>
                  </a:lnTo>
                  <a:lnTo>
                    <a:pt x="0" y="412750"/>
                  </a:lnTo>
                  <a:lnTo>
                    <a:pt x="0" y="487680"/>
                  </a:lnTo>
                  <a:lnTo>
                    <a:pt x="487045" y="487680"/>
                  </a:lnTo>
                  <a:lnTo>
                    <a:pt x="487045" y="474345"/>
                  </a:lnTo>
                  <a:lnTo>
                    <a:pt x="13335" y="474345"/>
                  </a:lnTo>
                  <a:lnTo>
                    <a:pt x="13335" y="421005"/>
                  </a:lnTo>
                  <a:lnTo>
                    <a:pt x="118745" y="359410"/>
                  </a:lnTo>
                  <a:cubicBezTo>
                    <a:pt x="126364" y="367665"/>
                    <a:pt x="137160" y="372745"/>
                    <a:pt x="148589" y="372745"/>
                  </a:cubicBezTo>
                  <a:cubicBezTo>
                    <a:pt x="163830" y="372745"/>
                    <a:pt x="176530" y="364490"/>
                    <a:pt x="183514" y="352425"/>
                  </a:cubicBezTo>
                  <a:lnTo>
                    <a:pt x="257175" y="379095"/>
                  </a:lnTo>
                  <a:cubicBezTo>
                    <a:pt x="256539" y="381635"/>
                    <a:pt x="256539" y="383540"/>
                    <a:pt x="256539" y="386080"/>
                  </a:cubicBezTo>
                  <a:cubicBezTo>
                    <a:pt x="256539" y="408305"/>
                    <a:pt x="274955" y="426720"/>
                    <a:pt x="297180" y="426720"/>
                  </a:cubicBezTo>
                  <a:cubicBezTo>
                    <a:pt x="319405" y="426720"/>
                    <a:pt x="337820" y="408305"/>
                    <a:pt x="337820" y="386080"/>
                  </a:cubicBezTo>
                  <a:cubicBezTo>
                    <a:pt x="337820" y="379730"/>
                    <a:pt x="336550" y="374015"/>
                    <a:pt x="334010" y="368300"/>
                  </a:cubicBezTo>
                  <a:lnTo>
                    <a:pt x="419735" y="301625"/>
                  </a:lnTo>
                  <a:cubicBezTo>
                    <a:pt x="427989" y="307975"/>
                    <a:pt x="436880" y="311785"/>
                    <a:pt x="447039" y="311785"/>
                  </a:cubicBezTo>
                  <a:close/>
                  <a:moveTo>
                    <a:pt x="447039" y="13970"/>
                  </a:moveTo>
                  <a:cubicBezTo>
                    <a:pt x="461645" y="13970"/>
                    <a:pt x="474345" y="26035"/>
                    <a:pt x="474345" y="41275"/>
                  </a:cubicBezTo>
                  <a:cubicBezTo>
                    <a:pt x="474345" y="56515"/>
                    <a:pt x="462280" y="68580"/>
                    <a:pt x="447039" y="68580"/>
                  </a:cubicBezTo>
                  <a:cubicBezTo>
                    <a:pt x="431800" y="68580"/>
                    <a:pt x="419735" y="56515"/>
                    <a:pt x="419735" y="41275"/>
                  </a:cubicBezTo>
                  <a:cubicBezTo>
                    <a:pt x="419735" y="26035"/>
                    <a:pt x="432435" y="13970"/>
                    <a:pt x="447039" y="13970"/>
                  </a:cubicBezTo>
                  <a:close/>
                  <a:moveTo>
                    <a:pt x="298450" y="217170"/>
                  </a:moveTo>
                  <a:cubicBezTo>
                    <a:pt x="313055" y="217170"/>
                    <a:pt x="325755" y="229235"/>
                    <a:pt x="325755" y="244475"/>
                  </a:cubicBezTo>
                  <a:cubicBezTo>
                    <a:pt x="325755" y="259080"/>
                    <a:pt x="313689" y="271780"/>
                    <a:pt x="298450" y="271780"/>
                  </a:cubicBezTo>
                  <a:cubicBezTo>
                    <a:pt x="283210" y="271780"/>
                    <a:pt x="271145" y="259715"/>
                    <a:pt x="271145" y="244475"/>
                  </a:cubicBezTo>
                  <a:cubicBezTo>
                    <a:pt x="271145" y="229235"/>
                    <a:pt x="283210" y="217170"/>
                    <a:pt x="298450" y="217170"/>
                  </a:cubicBezTo>
                  <a:close/>
                  <a:moveTo>
                    <a:pt x="149860" y="128905"/>
                  </a:moveTo>
                  <a:cubicBezTo>
                    <a:pt x="164464" y="128905"/>
                    <a:pt x="177164" y="140970"/>
                    <a:pt x="177164" y="156210"/>
                  </a:cubicBezTo>
                  <a:cubicBezTo>
                    <a:pt x="177164" y="170815"/>
                    <a:pt x="165100" y="183515"/>
                    <a:pt x="149860" y="183515"/>
                  </a:cubicBezTo>
                  <a:cubicBezTo>
                    <a:pt x="134620" y="183515"/>
                    <a:pt x="122555" y="171450"/>
                    <a:pt x="122555" y="156210"/>
                  </a:cubicBezTo>
                  <a:cubicBezTo>
                    <a:pt x="122555" y="140970"/>
                    <a:pt x="134620" y="128905"/>
                    <a:pt x="149860" y="12890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39700" lIns="79400" spcFirstLastPara="1" rIns="79400" wrap="square" tIns="39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30586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g3f723343625_0_416"/>
            <p:cNvSpPr/>
            <p:nvPr/>
          </p:nvSpPr>
          <p:spPr>
            <a:xfrm>
              <a:off x="6995850" y="3052650"/>
              <a:ext cx="701700" cy="622500"/>
            </a:xfrm>
            <a:prstGeom prst="roundRect">
              <a:avLst>
                <a:gd fmla="val 20286" name="adj"/>
              </a:avLst>
            </a:prstGeom>
            <a:solidFill>
              <a:srgbClr val="5555F9"/>
            </a:solidFill>
            <a:ln>
              <a:noFill/>
            </a:ln>
          </p:spPr>
          <p:txBody>
            <a:bodyPr anchorCtr="0" anchor="ctr" bIns="105900" lIns="105900" spcFirstLastPara="1" rIns="105900" wrap="square" tIns="1059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13"/>
                <a:buFont typeface="Arial"/>
                <a:buNone/>
              </a:pPr>
              <a:r>
                <a:t/>
              </a:r>
              <a:endParaRPr b="0" i="0" sz="1613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51" name="Google Shape;951;g3f723343625_0_416"/>
            <p:cNvSpPr txBox="1"/>
            <p:nvPr/>
          </p:nvSpPr>
          <p:spPr>
            <a:xfrm>
              <a:off x="6902700" y="3274888"/>
              <a:ext cx="888000" cy="4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5900" lIns="105900" spcFirstLastPara="1" rIns="105900" wrap="square" tIns="1059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Cloudera </a:t>
              </a:r>
              <a:endParaRPr b="0" i="0" sz="839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39"/>
                <a:buFont typeface="Arial"/>
                <a:buNone/>
              </a:pPr>
              <a:r>
                <a:rPr b="0" i="0" lang="en" sz="839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AI助手</a:t>
              </a:r>
              <a:endParaRPr b="0" i="0" sz="839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952" name="Google Shape;952;g3f723343625_0_416"/>
            <p:cNvGrpSpPr/>
            <p:nvPr/>
          </p:nvGrpSpPr>
          <p:grpSpPr>
            <a:xfrm>
              <a:off x="7217311" y="3140675"/>
              <a:ext cx="258770" cy="179195"/>
              <a:chOff x="4087495" y="4131309"/>
              <a:chExt cx="541020" cy="374649"/>
            </a:xfrm>
          </p:grpSpPr>
          <p:sp>
            <p:nvSpPr>
              <p:cNvPr id="953" name="Google Shape;953;g3f723343625_0_416"/>
              <p:cNvSpPr/>
              <p:nvPr/>
            </p:nvSpPr>
            <p:spPr>
              <a:xfrm>
                <a:off x="4379595" y="4131309"/>
                <a:ext cx="139700" cy="139700"/>
              </a:xfrm>
              <a:custGeom>
                <a:rect b="b" l="l" r="r" t="t"/>
                <a:pathLst>
                  <a:path extrusionOk="0" h="139700" w="139700">
                    <a:moveTo>
                      <a:pt x="69850" y="139700"/>
                    </a:moveTo>
                    <a:cubicBezTo>
                      <a:pt x="108585" y="139700"/>
                      <a:pt x="139700" y="108585"/>
                      <a:pt x="139700" y="69850"/>
                    </a:cubicBezTo>
                    <a:cubicBezTo>
                      <a:pt x="139700" y="31115"/>
                      <a:pt x="108585" y="0"/>
                      <a:pt x="69850" y="0"/>
                    </a:cubicBezTo>
                    <a:cubicBezTo>
                      <a:pt x="31115" y="0"/>
                      <a:pt x="0" y="31115"/>
                      <a:pt x="0" y="69850"/>
                    </a:cubicBezTo>
                    <a:cubicBezTo>
                      <a:pt x="0" y="108585"/>
                      <a:pt x="31115" y="139700"/>
                      <a:pt x="69850" y="139700"/>
                    </a:cubicBezTo>
                    <a:close/>
                    <a:moveTo>
                      <a:pt x="69850" y="13970"/>
                    </a:moveTo>
                    <a:cubicBezTo>
                      <a:pt x="100965" y="13970"/>
                      <a:pt x="125730" y="39370"/>
                      <a:pt x="125730" y="69850"/>
                    </a:cubicBezTo>
                    <a:cubicBezTo>
                      <a:pt x="125730" y="100965"/>
                      <a:pt x="100330" y="125730"/>
                      <a:pt x="69850" y="125730"/>
                    </a:cubicBezTo>
                    <a:cubicBezTo>
                      <a:pt x="39370" y="125730"/>
                      <a:pt x="13970" y="100330"/>
                      <a:pt x="13970" y="69850"/>
                    </a:cubicBezTo>
                    <a:cubicBezTo>
                      <a:pt x="13335" y="39370"/>
                      <a:pt x="38735" y="13970"/>
                      <a:pt x="69850" y="139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g3f723343625_0_416"/>
              <p:cNvSpPr/>
              <p:nvPr/>
            </p:nvSpPr>
            <p:spPr>
              <a:xfrm>
                <a:off x="4087495" y="4297679"/>
                <a:ext cx="541020" cy="208279"/>
              </a:xfrm>
              <a:custGeom>
                <a:rect b="b" l="l" r="r" t="t"/>
                <a:pathLst>
                  <a:path extrusionOk="0" h="208279" w="541020">
                    <a:moveTo>
                      <a:pt x="513715" y="141605"/>
                    </a:moveTo>
                    <a:cubicBezTo>
                      <a:pt x="508000" y="62865"/>
                      <a:pt x="441960" y="0"/>
                      <a:pt x="361950" y="0"/>
                    </a:cubicBezTo>
                    <a:cubicBezTo>
                      <a:pt x="327660" y="0"/>
                      <a:pt x="295910" y="11430"/>
                      <a:pt x="270510" y="30480"/>
                    </a:cubicBezTo>
                    <a:cubicBezTo>
                      <a:pt x="245110" y="11430"/>
                      <a:pt x="213360" y="0"/>
                      <a:pt x="179070" y="0"/>
                    </a:cubicBezTo>
                    <a:cubicBezTo>
                      <a:pt x="99060" y="0"/>
                      <a:pt x="33020" y="62865"/>
                      <a:pt x="27305" y="141605"/>
                    </a:cubicBezTo>
                    <a:cubicBezTo>
                      <a:pt x="11430" y="144780"/>
                      <a:pt x="0" y="158115"/>
                      <a:pt x="0" y="174625"/>
                    </a:cubicBezTo>
                    <a:cubicBezTo>
                      <a:pt x="0" y="193040"/>
                      <a:pt x="15240" y="208280"/>
                      <a:pt x="33655" y="208280"/>
                    </a:cubicBezTo>
                    <a:cubicBezTo>
                      <a:pt x="52070" y="208280"/>
                      <a:pt x="67310" y="193040"/>
                      <a:pt x="67310" y="174625"/>
                    </a:cubicBezTo>
                    <a:cubicBezTo>
                      <a:pt x="67310" y="158750"/>
                      <a:pt x="55880" y="144780"/>
                      <a:pt x="40640" y="141605"/>
                    </a:cubicBezTo>
                    <a:cubicBezTo>
                      <a:pt x="46355" y="69850"/>
                      <a:pt x="106045" y="13335"/>
                      <a:pt x="179070" y="13335"/>
                    </a:cubicBezTo>
                    <a:cubicBezTo>
                      <a:pt x="208915" y="13335"/>
                      <a:pt x="236855" y="22860"/>
                      <a:pt x="259715" y="39370"/>
                    </a:cubicBezTo>
                    <a:cubicBezTo>
                      <a:pt x="231775" y="64770"/>
                      <a:pt x="212725" y="100965"/>
                      <a:pt x="210185" y="141605"/>
                    </a:cubicBezTo>
                    <a:cubicBezTo>
                      <a:pt x="194310" y="144780"/>
                      <a:pt x="182880" y="158115"/>
                      <a:pt x="182880" y="174625"/>
                    </a:cubicBezTo>
                    <a:cubicBezTo>
                      <a:pt x="182880" y="193040"/>
                      <a:pt x="198120" y="208280"/>
                      <a:pt x="216535" y="208280"/>
                    </a:cubicBezTo>
                    <a:cubicBezTo>
                      <a:pt x="234950" y="208280"/>
                      <a:pt x="250190" y="193040"/>
                      <a:pt x="250190" y="174625"/>
                    </a:cubicBezTo>
                    <a:cubicBezTo>
                      <a:pt x="250190" y="158750"/>
                      <a:pt x="238760" y="144780"/>
                      <a:pt x="223520" y="141605"/>
                    </a:cubicBezTo>
                    <a:cubicBezTo>
                      <a:pt x="226060" y="104140"/>
                      <a:pt x="243840" y="71120"/>
                      <a:pt x="270510" y="48260"/>
                    </a:cubicBezTo>
                    <a:cubicBezTo>
                      <a:pt x="297180" y="71755"/>
                      <a:pt x="314325" y="104775"/>
                      <a:pt x="317500" y="141605"/>
                    </a:cubicBezTo>
                    <a:cubicBezTo>
                      <a:pt x="302260" y="144780"/>
                      <a:pt x="290830" y="158115"/>
                      <a:pt x="290830" y="174625"/>
                    </a:cubicBezTo>
                    <a:cubicBezTo>
                      <a:pt x="290830" y="193040"/>
                      <a:pt x="306070" y="208280"/>
                      <a:pt x="324485" y="208280"/>
                    </a:cubicBezTo>
                    <a:cubicBezTo>
                      <a:pt x="342900" y="208280"/>
                      <a:pt x="358140" y="193040"/>
                      <a:pt x="358140" y="174625"/>
                    </a:cubicBezTo>
                    <a:cubicBezTo>
                      <a:pt x="358140" y="158115"/>
                      <a:pt x="346075" y="144145"/>
                      <a:pt x="330835" y="141605"/>
                    </a:cubicBezTo>
                    <a:cubicBezTo>
                      <a:pt x="328295" y="100965"/>
                      <a:pt x="309245" y="65405"/>
                      <a:pt x="281305" y="39370"/>
                    </a:cubicBezTo>
                    <a:cubicBezTo>
                      <a:pt x="304165" y="22860"/>
                      <a:pt x="331470" y="13335"/>
                      <a:pt x="361950" y="13335"/>
                    </a:cubicBezTo>
                    <a:cubicBezTo>
                      <a:pt x="434975" y="13335"/>
                      <a:pt x="494665" y="69850"/>
                      <a:pt x="500380" y="141605"/>
                    </a:cubicBezTo>
                    <a:cubicBezTo>
                      <a:pt x="485140" y="144780"/>
                      <a:pt x="473710" y="158115"/>
                      <a:pt x="473710" y="174625"/>
                    </a:cubicBezTo>
                    <a:cubicBezTo>
                      <a:pt x="473710" y="193040"/>
                      <a:pt x="488950" y="208280"/>
                      <a:pt x="507365" y="208280"/>
                    </a:cubicBezTo>
                    <a:cubicBezTo>
                      <a:pt x="525780" y="208280"/>
                      <a:pt x="541020" y="193040"/>
                      <a:pt x="541020" y="174625"/>
                    </a:cubicBezTo>
                    <a:cubicBezTo>
                      <a:pt x="541020" y="158115"/>
                      <a:pt x="528955" y="144145"/>
                      <a:pt x="513715" y="141605"/>
                    </a:cubicBezTo>
                    <a:close/>
                    <a:moveTo>
                      <a:pt x="236855" y="174625"/>
                    </a:moveTo>
                    <a:cubicBezTo>
                      <a:pt x="236855" y="186055"/>
                      <a:pt x="227965" y="194945"/>
                      <a:pt x="216535" y="194945"/>
                    </a:cubicBezTo>
                    <a:cubicBezTo>
                      <a:pt x="205105" y="194945"/>
                      <a:pt x="196215" y="186055"/>
                      <a:pt x="196215" y="174625"/>
                    </a:cubicBezTo>
                    <a:cubicBezTo>
                      <a:pt x="196215" y="163195"/>
                      <a:pt x="205105" y="154305"/>
                      <a:pt x="216535" y="154305"/>
                    </a:cubicBezTo>
                    <a:cubicBezTo>
                      <a:pt x="227330" y="154305"/>
                      <a:pt x="236855" y="163195"/>
                      <a:pt x="236855" y="174625"/>
                    </a:cubicBezTo>
                    <a:close/>
                    <a:moveTo>
                      <a:pt x="507365" y="194945"/>
                    </a:moveTo>
                    <a:cubicBezTo>
                      <a:pt x="495935" y="194945"/>
                      <a:pt x="487045" y="186055"/>
                      <a:pt x="487045" y="174625"/>
                    </a:cubicBezTo>
                    <a:cubicBezTo>
                      <a:pt x="487045" y="163195"/>
                      <a:pt x="495935" y="154305"/>
                      <a:pt x="507365" y="154305"/>
                    </a:cubicBezTo>
                    <a:cubicBezTo>
                      <a:pt x="518795" y="154305"/>
                      <a:pt x="527685" y="163195"/>
                      <a:pt x="527685" y="174625"/>
                    </a:cubicBezTo>
                    <a:cubicBezTo>
                      <a:pt x="527685" y="186055"/>
                      <a:pt x="518160" y="194945"/>
                      <a:pt x="507365" y="1949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g3f723343625_0_416"/>
              <p:cNvSpPr/>
              <p:nvPr/>
            </p:nvSpPr>
            <p:spPr>
              <a:xfrm>
                <a:off x="4196715" y="4131309"/>
                <a:ext cx="139700" cy="139700"/>
              </a:xfrm>
              <a:custGeom>
                <a:rect b="b" l="l" r="r" t="t"/>
                <a:pathLst>
                  <a:path extrusionOk="0" h="139700" w="139700">
                    <a:moveTo>
                      <a:pt x="69850" y="139700"/>
                    </a:moveTo>
                    <a:cubicBezTo>
                      <a:pt x="108585" y="139700"/>
                      <a:pt x="139700" y="108585"/>
                      <a:pt x="139700" y="69850"/>
                    </a:cubicBezTo>
                    <a:cubicBezTo>
                      <a:pt x="139700" y="31115"/>
                      <a:pt x="108585" y="0"/>
                      <a:pt x="69850" y="0"/>
                    </a:cubicBezTo>
                    <a:cubicBezTo>
                      <a:pt x="31115" y="0"/>
                      <a:pt x="0" y="31115"/>
                      <a:pt x="0" y="69850"/>
                    </a:cubicBezTo>
                    <a:cubicBezTo>
                      <a:pt x="0" y="108585"/>
                      <a:pt x="31115" y="139700"/>
                      <a:pt x="69850" y="139700"/>
                    </a:cubicBezTo>
                    <a:close/>
                    <a:moveTo>
                      <a:pt x="69850" y="13970"/>
                    </a:moveTo>
                    <a:cubicBezTo>
                      <a:pt x="100965" y="13970"/>
                      <a:pt x="125730" y="39370"/>
                      <a:pt x="125730" y="69850"/>
                    </a:cubicBezTo>
                    <a:cubicBezTo>
                      <a:pt x="125730" y="100965"/>
                      <a:pt x="100330" y="125730"/>
                      <a:pt x="69850" y="125730"/>
                    </a:cubicBezTo>
                    <a:cubicBezTo>
                      <a:pt x="39370" y="125730"/>
                      <a:pt x="13970" y="100330"/>
                      <a:pt x="13970" y="69850"/>
                    </a:cubicBezTo>
                    <a:cubicBezTo>
                      <a:pt x="13970" y="39370"/>
                      <a:pt x="38735" y="13970"/>
                      <a:pt x="69850" y="1397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9700" lIns="79400" spcFirstLastPara="1" rIns="79400" wrap="square" tIns="39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13"/>
                  <a:buFont typeface="Arial"/>
                  <a:buNone/>
                </a:pPr>
                <a:r>
                  <a:t/>
                </a:r>
                <a:endParaRPr b="0" i="0" sz="1613" u="none" cap="none" strike="noStrike">
                  <a:solidFill>
                    <a:srgbClr val="30586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956" name="Google Shape;956;g3f723343625_0_416"/>
          <p:cNvCxnSpPr>
            <a:stCxn id="915" idx="2"/>
            <a:endCxn id="920" idx="2"/>
          </p:cNvCxnSpPr>
          <p:nvPr/>
        </p:nvCxnSpPr>
        <p:spPr>
          <a:xfrm flipH="1" rot="-5400000">
            <a:off x="4612592" y="2211084"/>
            <a:ext cx="959400" cy="2998500"/>
          </a:xfrm>
          <a:prstGeom prst="bentConnector3">
            <a:avLst>
              <a:gd fmla="val 143389" name="adj1"/>
            </a:avLst>
          </a:prstGeom>
          <a:noFill/>
          <a:ln cap="flat" cmpd="sng" w="21850">
            <a:solidFill>
              <a:schemeClr val="accent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7" name="Google Shape;957;g3f723343625_0_416"/>
          <p:cNvSpPr txBox="1"/>
          <p:nvPr>
            <p:ph type="title"/>
          </p:nvPr>
        </p:nvSpPr>
        <p:spPr>
          <a:xfrm>
            <a:off x="533400" y="284253"/>
            <a:ext cx="762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私有AI推理：企业级模型服务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58" name="Google Shape;958;g3f723343625_0_416"/>
          <p:cNvSpPr txBox="1"/>
          <p:nvPr>
            <p:ph idx="1" type="body"/>
          </p:nvPr>
        </p:nvSpPr>
        <p:spPr>
          <a:xfrm>
            <a:off x="533400" y="734274"/>
            <a:ext cx="6772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私有模型托管·低延迟服务·NIM/Triton/vLLM，几步点击部署SOTA开源模型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959" name="Google Shape;959;g3f723343625_0_416"/>
          <p:cNvSpPr/>
          <p:nvPr/>
        </p:nvSpPr>
        <p:spPr>
          <a:xfrm>
            <a:off x="2942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9"/>
          <p:cNvSpPr txBox="1"/>
          <p:nvPr>
            <p:ph type="title"/>
          </p:nvPr>
        </p:nvSpPr>
        <p:spPr>
          <a:xfrm>
            <a:off x="533400" y="284250"/>
            <a:ext cx="8018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AI注册库→CICD：模型无缝升级与切换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5" name="Google Shape;965;p9"/>
          <p:cNvSpPr/>
          <p:nvPr/>
        </p:nvSpPr>
        <p:spPr>
          <a:xfrm>
            <a:off x="746125" y="1485727"/>
            <a:ext cx="2286000" cy="271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6" name="Google Shape;966;p9"/>
          <p:cNvSpPr/>
          <p:nvPr/>
        </p:nvSpPr>
        <p:spPr>
          <a:xfrm>
            <a:off x="851275" y="2080690"/>
            <a:ext cx="20757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MLOps工程师与数据科学家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7" name="Google Shape;967;p9"/>
          <p:cNvSpPr/>
          <p:nvPr/>
        </p:nvSpPr>
        <p:spPr>
          <a:xfrm>
            <a:off x="851275" y="2888952"/>
            <a:ext cx="2075700" cy="373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实施 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68" name="Google Shape;968;p9"/>
          <p:cNvSpPr/>
          <p:nvPr/>
        </p:nvSpPr>
        <p:spPr>
          <a:xfrm>
            <a:off x="851275" y="3508913"/>
            <a:ext cx="2075700" cy="344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代码库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69" name="Google Shape;969;p9"/>
          <p:cNvCxnSpPr>
            <a:stCxn id="966" idx="2"/>
            <a:endCxn id="967" idx="0"/>
          </p:cNvCxnSpPr>
          <p:nvPr/>
        </p:nvCxnSpPr>
        <p:spPr>
          <a:xfrm>
            <a:off x="1889125" y="2428090"/>
            <a:ext cx="0" cy="46080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0" name="Google Shape;970;p9"/>
          <p:cNvCxnSpPr>
            <a:stCxn id="967" idx="1"/>
            <a:endCxn id="968" idx="1"/>
          </p:cNvCxnSpPr>
          <p:nvPr/>
        </p:nvCxnSpPr>
        <p:spPr>
          <a:xfrm>
            <a:off x="851275" y="3075852"/>
            <a:ext cx="600" cy="6054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1" name="Google Shape;971;p9"/>
          <p:cNvSpPr/>
          <p:nvPr/>
        </p:nvSpPr>
        <p:spPr>
          <a:xfrm>
            <a:off x="3428999" y="1510077"/>
            <a:ext cx="2286000" cy="271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2" name="Google Shape;972;p9"/>
          <p:cNvSpPr txBox="1"/>
          <p:nvPr/>
        </p:nvSpPr>
        <p:spPr>
          <a:xfrm>
            <a:off x="3605400" y="1506477"/>
            <a:ext cx="1877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CI/CD编排</a:t>
            </a:r>
            <a:endParaRPr b="1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3" name="Google Shape;973;p9"/>
          <p:cNvSpPr/>
          <p:nvPr/>
        </p:nvSpPr>
        <p:spPr>
          <a:xfrm>
            <a:off x="3535200" y="2080711"/>
            <a:ext cx="2073600" cy="605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 Action Webhook /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GitLab CICD Runner /</a:t>
            </a:r>
            <a:b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Jenkins CICD Pipeline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4" name="Google Shape;974;p9"/>
          <p:cNvSpPr/>
          <p:nvPr/>
        </p:nvSpPr>
        <p:spPr>
          <a:xfrm>
            <a:off x="3564599" y="3507563"/>
            <a:ext cx="20148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人工签核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75" name="Google Shape;975;p9"/>
          <p:cNvCxnSpPr>
            <a:stCxn id="974" idx="0"/>
            <a:endCxn id="973" idx="2"/>
          </p:cNvCxnSpPr>
          <p:nvPr/>
        </p:nvCxnSpPr>
        <p:spPr>
          <a:xfrm rot="10800000">
            <a:off x="4571999" y="2686163"/>
            <a:ext cx="0" cy="82140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6" name="Google Shape;976;p9"/>
          <p:cNvCxnSpPr>
            <a:stCxn id="968" idx="3"/>
            <a:endCxn id="974" idx="1"/>
          </p:cNvCxnSpPr>
          <p:nvPr/>
        </p:nvCxnSpPr>
        <p:spPr>
          <a:xfrm>
            <a:off x="2926975" y="3681263"/>
            <a:ext cx="637500" cy="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77" name="Google Shape;977;p9"/>
          <p:cNvSpPr txBox="1"/>
          <p:nvPr/>
        </p:nvSpPr>
        <p:spPr>
          <a:xfrm>
            <a:off x="2803525" y="3310002"/>
            <a:ext cx="884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GitOps </a:t>
            </a:r>
            <a:endParaRPr b="0" i="0" sz="6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触发</a:t>
            </a:r>
            <a:endParaRPr b="0" i="0" sz="6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8" name="Google Shape;978;p9"/>
          <p:cNvSpPr/>
          <p:nvPr/>
        </p:nvSpPr>
        <p:spPr>
          <a:xfrm>
            <a:off x="6217024" y="1543602"/>
            <a:ext cx="2286000" cy="2719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FF55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79" name="Google Shape;979;p9"/>
          <p:cNvSpPr txBox="1"/>
          <p:nvPr/>
        </p:nvSpPr>
        <p:spPr>
          <a:xfrm>
            <a:off x="6393425" y="1540002"/>
            <a:ext cx="1877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生产环境</a:t>
            </a:r>
            <a:endParaRPr b="1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0" name="Google Shape;980;p9"/>
          <p:cNvSpPr/>
          <p:nvPr/>
        </p:nvSpPr>
        <p:spPr>
          <a:xfrm>
            <a:off x="6323224" y="2209690"/>
            <a:ext cx="20736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CAI实例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1" name="Google Shape;981;p9"/>
          <p:cNvSpPr/>
          <p:nvPr/>
        </p:nvSpPr>
        <p:spPr>
          <a:xfrm>
            <a:off x="6352624" y="3541088"/>
            <a:ext cx="2014800" cy="3474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5555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接口与监控</a:t>
            </a:r>
            <a:endParaRPr b="0" i="0" sz="10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82" name="Google Shape;982;p9"/>
          <p:cNvSpPr txBox="1"/>
          <p:nvPr/>
        </p:nvSpPr>
        <p:spPr>
          <a:xfrm>
            <a:off x="950425" y="1511827"/>
            <a:ext cx="1877400" cy="3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开发环境</a:t>
            </a:r>
            <a:endParaRPr b="1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83" name="Google Shape;983;p9"/>
          <p:cNvCxnSpPr>
            <a:stCxn id="973" idx="3"/>
            <a:endCxn id="980" idx="1"/>
          </p:cNvCxnSpPr>
          <p:nvPr/>
        </p:nvCxnSpPr>
        <p:spPr>
          <a:xfrm>
            <a:off x="5608800" y="2383411"/>
            <a:ext cx="714300" cy="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4" name="Google Shape;984;p9"/>
          <p:cNvSpPr txBox="1"/>
          <p:nvPr/>
        </p:nvSpPr>
        <p:spPr>
          <a:xfrm>
            <a:off x="5523738" y="2152415"/>
            <a:ext cx="884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通过API</a:t>
            </a:r>
            <a:endParaRPr b="0" i="0" sz="6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cxnSp>
        <p:nvCxnSpPr>
          <p:cNvPr id="985" name="Google Shape;985;p9"/>
          <p:cNvCxnSpPr>
            <a:stCxn id="980" idx="2"/>
            <a:endCxn id="981" idx="0"/>
          </p:cNvCxnSpPr>
          <p:nvPr/>
        </p:nvCxnSpPr>
        <p:spPr>
          <a:xfrm>
            <a:off x="7360024" y="2557090"/>
            <a:ext cx="0" cy="984000"/>
          </a:xfrm>
          <a:prstGeom prst="straightConnector1">
            <a:avLst/>
          </a:prstGeom>
          <a:noFill/>
          <a:ln cap="flat" cmpd="sng" w="9525">
            <a:solidFill>
              <a:srgbClr val="10004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6" name="Google Shape;986;p9"/>
          <p:cNvSpPr txBox="1"/>
          <p:nvPr>
            <p:ph idx="1" type="body"/>
          </p:nvPr>
        </p:nvSpPr>
        <p:spPr>
          <a:xfrm>
            <a:off x="533400" y="734285"/>
            <a:ext cx="50292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>
                <a:solidFill>
                  <a:srgbClr val="4F4FF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</a:t>
            </a: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将权重推送至注册库；通过CICD部署至CAII/Workbench生产环境，环境隔离并人工签核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987" name="Google Shape;987;p9"/>
          <p:cNvSpPr/>
          <p:nvPr/>
        </p:nvSpPr>
        <p:spPr>
          <a:xfrm>
            <a:off x="2942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0"/>
          <p:cNvSpPr/>
          <p:nvPr/>
        </p:nvSpPr>
        <p:spPr>
          <a:xfrm>
            <a:off x="56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10"/>
          <p:cNvSpPr/>
          <p:nvPr/>
        </p:nvSpPr>
        <p:spPr>
          <a:xfrm>
            <a:off x="566925" y="155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10"/>
          <p:cNvSpPr/>
          <p:nvPr/>
        </p:nvSpPr>
        <p:spPr>
          <a:xfrm>
            <a:off x="72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智能体工作流构建器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10"/>
          <p:cNvSpPr/>
          <p:nvPr/>
        </p:nvSpPr>
        <p:spPr>
          <a:xfrm>
            <a:off x="72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智能体含任务、工具与角色；AI辅助编排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10"/>
          <p:cNvSpPr/>
          <p:nvPr/>
        </p:nvSpPr>
        <p:spPr>
          <a:xfrm>
            <a:off x="250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10"/>
          <p:cNvSpPr/>
          <p:nvPr/>
        </p:nvSpPr>
        <p:spPr>
          <a:xfrm>
            <a:off x="2506925" y="155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10"/>
          <p:cNvSpPr/>
          <p:nvPr/>
        </p:nvSpPr>
        <p:spPr>
          <a:xfrm>
            <a:off x="266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工具目录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10"/>
          <p:cNvSpPr/>
          <p:nvPr/>
        </p:nvSpPr>
        <p:spPr>
          <a:xfrm>
            <a:off x="266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内置+自定义Python+MCP工具，可跨工作流复用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10"/>
          <p:cNvSpPr/>
          <p:nvPr/>
        </p:nvSpPr>
        <p:spPr>
          <a:xfrm>
            <a:off x="444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10"/>
          <p:cNvSpPr/>
          <p:nvPr/>
        </p:nvSpPr>
        <p:spPr>
          <a:xfrm>
            <a:off x="4446925" y="155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10"/>
          <p:cNvSpPr/>
          <p:nvPr/>
        </p:nvSpPr>
        <p:spPr>
          <a:xfrm>
            <a:off x="460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多LLM支持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10"/>
          <p:cNvSpPr/>
          <p:nvPr/>
        </p:nvSpPr>
        <p:spPr>
          <a:xfrm>
            <a:off x="460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CAII·Azure OpenAI·Gemini·Anthropic·任何兼容OpenAI的模型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10"/>
          <p:cNvSpPr/>
          <p:nvPr/>
        </p:nvSpPr>
        <p:spPr>
          <a:xfrm>
            <a:off x="6386925" y="155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10"/>
          <p:cNvSpPr/>
          <p:nvPr/>
        </p:nvSpPr>
        <p:spPr>
          <a:xfrm>
            <a:off x="6386925" y="155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10"/>
          <p:cNvSpPr/>
          <p:nvPr/>
        </p:nvSpPr>
        <p:spPr>
          <a:xfrm>
            <a:off x="6546925" y="163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测试与调试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10"/>
          <p:cNvSpPr/>
          <p:nvPr/>
        </p:nvSpPr>
        <p:spPr>
          <a:xfrm>
            <a:off x="6546925" y="195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测试面板内含日志、回放与可视化调试器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10"/>
          <p:cNvSpPr/>
          <p:nvPr/>
        </p:nvSpPr>
        <p:spPr>
          <a:xfrm>
            <a:off x="56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10"/>
          <p:cNvSpPr/>
          <p:nvPr/>
        </p:nvSpPr>
        <p:spPr>
          <a:xfrm>
            <a:off x="566925" y="298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10"/>
          <p:cNvSpPr/>
          <p:nvPr/>
        </p:nvSpPr>
        <p:spPr>
          <a:xfrm>
            <a:off x="72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部署为端点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10"/>
          <p:cNvSpPr/>
          <p:nvPr/>
        </p:nvSpPr>
        <p:spPr>
          <a:xfrm>
            <a:off x="72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一键→受管控API，市场化基础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10"/>
          <p:cNvSpPr/>
          <p:nvPr/>
        </p:nvSpPr>
        <p:spPr>
          <a:xfrm>
            <a:off x="250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10"/>
          <p:cNvSpPr/>
          <p:nvPr/>
        </p:nvSpPr>
        <p:spPr>
          <a:xfrm>
            <a:off x="2506925" y="298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10"/>
          <p:cNvSpPr/>
          <p:nvPr/>
        </p:nvSpPr>
        <p:spPr>
          <a:xfrm>
            <a:off x="266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内置可观测性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10"/>
          <p:cNvSpPr/>
          <p:nvPr/>
        </p:nvSpPr>
        <p:spPr>
          <a:xfrm>
            <a:off x="266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每次运行均由Phoenix（Arize）追踪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"/>
          <p:cNvSpPr/>
          <p:nvPr/>
        </p:nvSpPr>
        <p:spPr>
          <a:xfrm>
            <a:off x="444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10"/>
          <p:cNvSpPr/>
          <p:nvPr/>
        </p:nvSpPr>
        <p:spPr>
          <a:xfrm>
            <a:off x="4446925" y="2980000"/>
            <a:ext cx="54900" cy="125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10"/>
          <p:cNvSpPr/>
          <p:nvPr/>
        </p:nvSpPr>
        <p:spPr>
          <a:xfrm>
            <a:off x="460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护栏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10"/>
          <p:cNvSpPr/>
          <p:nvPr/>
        </p:nvSpPr>
        <p:spPr>
          <a:xfrm>
            <a:off x="460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内容过滤·LLM评判·自定义护栏，内置且集中托管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10"/>
          <p:cNvSpPr/>
          <p:nvPr/>
        </p:nvSpPr>
        <p:spPr>
          <a:xfrm>
            <a:off x="6386925" y="2980000"/>
            <a:ext cx="1900000" cy="125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10"/>
          <p:cNvSpPr/>
          <p:nvPr/>
        </p:nvSpPr>
        <p:spPr>
          <a:xfrm>
            <a:off x="6386925" y="2980000"/>
            <a:ext cx="54900" cy="125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10"/>
          <p:cNvSpPr/>
          <p:nvPr/>
        </p:nvSpPr>
        <p:spPr>
          <a:xfrm>
            <a:off x="6546925" y="3060000"/>
            <a:ext cx="162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已验证案例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10"/>
          <p:cNvSpPr/>
          <p:nvPr/>
        </p:nvSpPr>
        <p:spPr>
          <a:xfrm>
            <a:off x="6546925" y="3380000"/>
            <a:ext cx="1600000" cy="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财富来源：10天→不到1小时 （银行业）</a:t>
            </a:r>
            <a:endParaRPr b="0" i="0" sz="820" u="none" cap="none" strike="noStrike">
              <a:solidFill>
                <a:srgbClr val="5A5A72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故障检测：基于知识库（制造业）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4" name="Google Shape;1024;p10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智能体框架产品化，业务部门搭建积木式方案；IT监控每次运行。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10"/>
          <p:cNvSpPr/>
          <p:nvPr/>
        </p:nvSpPr>
        <p:spPr>
          <a:xfrm>
            <a:off x="292608" y="290000"/>
            <a:ext cx="90000" cy="3399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10"/>
          <p:cNvSpPr txBox="1"/>
          <p:nvPr>
            <p:ph type="title"/>
          </p:nvPr>
        </p:nvSpPr>
        <p:spPr>
          <a:xfrm>
            <a:off x="530352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Cloudera Agent Studio 3.0（GA）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27" name="Google Shape;1027;p10"/>
          <p:cNvSpPr txBox="1"/>
          <p:nvPr>
            <p:ph idx="2" type="subTitle"/>
          </p:nvPr>
        </p:nvSpPr>
        <p:spPr>
          <a:xfrm>
            <a:off x="530349" y="731525"/>
            <a:ext cx="69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低代码到高代码：业务部门可视化构建智能体；IT掌控治理、可观测性与控制权。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11"/>
          <p:cNvSpPr/>
          <p:nvPr/>
        </p:nvSpPr>
        <p:spPr>
          <a:xfrm>
            <a:off x="457200" y="1263532"/>
            <a:ext cx="3450000" cy="2907600"/>
          </a:xfrm>
          <a:prstGeom prst="roundRect">
            <a:avLst>
              <a:gd fmla="val 8000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1"/>
          <p:cNvSpPr txBox="1"/>
          <p:nvPr/>
        </p:nvSpPr>
        <p:spPr>
          <a:xfrm>
            <a:off x="501900" y="972307"/>
            <a:ext cx="345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智能体框架解析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1"/>
          <p:cNvSpPr/>
          <p:nvPr/>
        </p:nvSpPr>
        <p:spPr>
          <a:xfrm>
            <a:off x="1132200" y="1392307"/>
            <a:ext cx="1100100" cy="339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系统提示词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1"/>
          <p:cNvSpPr/>
          <p:nvPr/>
        </p:nvSpPr>
        <p:spPr>
          <a:xfrm>
            <a:off x="567200" y="2112307"/>
            <a:ext cx="819900" cy="380100"/>
          </a:xfrm>
          <a:prstGeom prst="roundRect">
            <a:avLst>
              <a:gd fmla="val 12000" name="adj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1"/>
          <p:cNvSpPr/>
          <p:nvPr/>
        </p:nvSpPr>
        <p:spPr>
          <a:xfrm>
            <a:off x="1532200" y="2112307"/>
            <a:ext cx="1299900" cy="380100"/>
          </a:xfrm>
          <a:prstGeom prst="roundRect">
            <a:avLst>
              <a:gd fmla="val 12000" name="adj"/>
            </a:avLst>
          </a:prstGeom>
          <a:solidFill>
            <a:srgbClr val="5347D6"/>
          </a:solidFill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智能体循环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1"/>
          <p:cNvSpPr/>
          <p:nvPr/>
        </p:nvSpPr>
        <p:spPr>
          <a:xfrm>
            <a:off x="2977200" y="2112307"/>
            <a:ext cx="819900" cy="3801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1"/>
          <p:cNvSpPr/>
          <p:nvPr/>
        </p:nvSpPr>
        <p:spPr>
          <a:xfrm>
            <a:off x="1132200" y="2832307"/>
            <a:ext cx="1100100" cy="339900"/>
          </a:xfrm>
          <a:prstGeom prst="roundRect">
            <a:avLst>
              <a:gd fmla="val 12000" name="adj"/>
            </a:avLst>
          </a:prstGeom>
          <a:solidFill>
            <a:srgbClr val="FFFFFF"/>
          </a:solidFill>
          <a:ln cap="flat" cmpd="sng" w="254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会话/上下文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9" name="Google Shape;1039;p11"/>
          <p:cNvCxnSpPr/>
          <p:nvPr/>
        </p:nvCxnSpPr>
        <p:spPr>
          <a:xfrm>
            <a:off x="1387200" y="2302307"/>
            <a:ext cx="144900" cy="0"/>
          </a:xfrm>
          <a:prstGeom prst="straightConnector1">
            <a:avLst/>
          </a:prstGeom>
          <a:noFill/>
          <a:ln cap="flat" cmpd="sng" w="280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0" name="Google Shape;1040;p11"/>
          <p:cNvCxnSpPr/>
          <p:nvPr/>
        </p:nvCxnSpPr>
        <p:spPr>
          <a:xfrm>
            <a:off x="2832200" y="2302307"/>
            <a:ext cx="144900" cy="0"/>
          </a:xfrm>
          <a:prstGeom prst="straightConnector1">
            <a:avLst/>
          </a:prstGeom>
          <a:noFill/>
          <a:ln cap="flat" cmpd="sng" w="280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1" name="Google Shape;1041;p11"/>
          <p:cNvCxnSpPr/>
          <p:nvPr/>
        </p:nvCxnSpPr>
        <p:spPr>
          <a:xfrm>
            <a:off x="1682200" y="1732307"/>
            <a:ext cx="0" cy="380100"/>
          </a:xfrm>
          <a:prstGeom prst="straightConnector1">
            <a:avLst/>
          </a:prstGeom>
          <a:noFill/>
          <a:ln cap="flat" cmpd="sng" w="28000">
            <a:solidFill>
              <a:srgbClr val="5347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2" name="Google Shape;1042;p11"/>
          <p:cNvCxnSpPr/>
          <p:nvPr/>
        </p:nvCxnSpPr>
        <p:spPr>
          <a:xfrm>
            <a:off x="1682200" y="2492307"/>
            <a:ext cx="0" cy="339900"/>
          </a:xfrm>
          <a:prstGeom prst="straightConnector1">
            <a:avLst/>
          </a:prstGeom>
          <a:noFill/>
          <a:ln cap="flat" cmpd="sng" w="280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3" name="Google Shape;1043;p11"/>
          <p:cNvSpPr txBox="1"/>
          <p:nvPr/>
        </p:nvSpPr>
        <p:spPr>
          <a:xfrm>
            <a:off x="567200" y="2512307"/>
            <a:ext cx="81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推理核心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11"/>
          <p:cNvSpPr txBox="1"/>
          <p:nvPr/>
        </p:nvSpPr>
        <p:spPr>
          <a:xfrm>
            <a:off x="2977200" y="2512307"/>
            <a:ext cx="81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内置+MCP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11"/>
          <p:cNvSpPr txBox="1"/>
          <p:nvPr/>
        </p:nvSpPr>
        <p:spPr>
          <a:xfrm>
            <a:off x="507200" y="3372307"/>
            <a:ext cx="33501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 GA  </a:t>
            </a:r>
            <a:r>
              <a:rPr b="0" i="0" lang="en" sz="8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■ 联合构建  </a:t>
            </a:r>
            <a:r>
              <a:rPr b="0" i="0" lang="en" sz="8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虚线边框=联合构建范围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11"/>
          <p:cNvSpPr/>
          <p:nvPr/>
        </p:nvSpPr>
        <p:spPr>
          <a:xfrm>
            <a:off x="4002000" y="872307"/>
            <a:ext cx="14100" cy="3819900"/>
          </a:xfrm>
          <a:prstGeom prst="rect">
            <a:avLst/>
          </a:prstGeom>
          <a:solidFill>
            <a:srgbClr val="E0DF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11"/>
          <p:cNvSpPr txBox="1"/>
          <p:nvPr/>
        </p:nvSpPr>
        <p:spPr>
          <a:xfrm>
            <a:off x="4066200" y="972307"/>
            <a:ext cx="46206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Studio覆盖范围</a:t>
            </a:r>
            <a:endParaRPr b="0" i="0" sz="1400" u="none" cap="none" strike="noStrike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11"/>
          <p:cNvSpPr/>
          <p:nvPr/>
        </p:nvSpPr>
        <p:spPr>
          <a:xfrm>
            <a:off x="4086200" y="119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11"/>
          <p:cNvSpPr txBox="1"/>
          <p:nvPr/>
        </p:nvSpPr>
        <p:spPr>
          <a:xfrm>
            <a:off x="4130200" y="119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LLM（推理核心）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多LLM：CAII本地部署·Azure OpenAI·Gemini·Anthropic·任何兼容OpenAI的模型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1"/>
          <p:cNvSpPr/>
          <p:nvPr/>
        </p:nvSpPr>
        <p:spPr>
          <a:xfrm>
            <a:off x="4086200" y="165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11"/>
          <p:cNvSpPr txBox="1"/>
          <p:nvPr/>
        </p:nvSpPr>
        <p:spPr>
          <a:xfrm>
            <a:off x="4130200" y="165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系统提示词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按智能体设定角色/目标/背景；Studio内AI辅助编写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11"/>
          <p:cNvSpPr/>
          <p:nvPr/>
        </p:nvSpPr>
        <p:spPr>
          <a:xfrm>
            <a:off x="4086200" y="211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11"/>
          <p:cNvSpPr txBox="1"/>
          <p:nvPr/>
        </p:nvSpPr>
        <p:spPr>
          <a:xfrm>
            <a:off x="4130200" y="211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工具，核心优势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内置+自定义Python+MCP工具；可跨工作流复用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11"/>
          <p:cNvSpPr/>
          <p:nvPr/>
        </p:nvSpPr>
        <p:spPr>
          <a:xfrm>
            <a:off x="4086200" y="2572307"/>
            <a:ext cx="24000" cy="39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11"/>
          <p:cNvSpPr txBox="1"/>
          <p:nvPr/>
        </p:nvSpPr>
        <p:spPr>
          <a:xfrm>
            <a:off x="4130200" y="257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智能体循环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顺序式+分层式（管理者路由）多智能体工作流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11"/>
          <p:cNvSpPr/>
          <p:nvPr/>
        </p:nvSpPr>
        <p:spPr>
          <a:xfrm>
            <a:off x="4086200" y="303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11"/>
          <p:cNvSpPr txBox="1"/>
          <p:nvPr/>
        </p:nvSpPr>
        <p:spPr>
          <a:xfrm>
            <a:off x="4130200" y="303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🟡 会话/上下文记忆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LightMem/Qdrant按工作流独立；企业级集中记忆=联合构建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11"/>
          <p:cNvSpPr/>
          <p:nvPr/>
        </p:nvSpPr>
        <p:spPr>
          <a:xfrm>
            <a:off x="4086200" y="349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11"/>
          <p:cNvSpPr txBox="1"/>
          <p:nvPr/>
        </p:nvSpPr>
        <p:spPr>
          <a:xfrm>
            <a:off x="4130200" y="349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🟡 企业/网络检索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RAG Studio·Iceberg MCP；集中共享向量索引=联合构建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0" name="Google Shape;1060;p11"/>
          <p:cNvSpPr/>
          <p:nvPr/>
        </p:nvSpPr>
        <p:spPr>
          <a:xfrm>
            <a:off x="4086200" y="395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11"/>
          <p:cNvSpPr txBox="1"/>
          <p:nvPr/>
        </p:nvSpPr>
        <p:spPr>
          <a:xfrm>
            <a:off x="4130200" y="395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✅ 护栏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内置：内容过滤+LLM评判（输入·输出·工具调用）+自定义，集中托管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11"/>
          <p:cNvSpPr/>
          <p:nvPr/>
        </p:nvSpPr>
        <p:spPr>
          <a:xfrm>
            <a:off x="4086200" y="4412307"/>
            <a:ext cx="24000" cy="39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11"/>
          <p:cNvSpPr txBox="1"/>
          <p:nvPr/>
        </p:nvSpPr>
        <p:spPr>
          <a:xfrm>
            <a:off x="4130200" y="4412307"/>
            <a:ext cx="45567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🟡 市场层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"/>
              <a:buFont typeface="Arial"/>
              <a:buNone/>
            </a:pPr>
            <a:r>
              <a:rPr b="0" i="0" lang="en" sz="82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一键部署为端点；目录+治理体验=应用AI联合构建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11"/>
          <p:cNvSpPr txBox="1"/>
          <p:nvPr/>
        </p:nvSpPr>
        <p:spPr>
          <a:xfrm>
            <a:off x="457200" y="4412307"/>
            <a:ext cx="380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绿色=Agent Studio现已GA·黄色=按工作流已有或需应用AI联合构建以达企业级规模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11"/>
          <p:cNvSpPr/>
          <p:nvPr/>
        </p:nvSpPr>
        <p:spPr>
          <a:xfrm>
            <a:off x="294200" y="292608"/>
            <a:ext cx="90000" cy="339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11"/>
          <p:cNvSpPr txBox="1"/>
          <p:nvPr>
            <p:ph type="title"/>
          </p:nvPr>
        </p:nvSpPr>
        <p:spPr>
          <a:xfrm>
            <a:off x="530352" y="284250"/>
            <a:ext cx="85482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智能体市场需求：Agent Studio覆盖范围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67" name="Google Shape;1067;p11"/>
          <p:cNvSpPr txBox="1"/>
          <p:nvPr>
            <p:ph idx="2" type="subTitle"/>
          </p:nvPr>
        </p:nvSpPr>
        <p:spPr>
          <a:xfrm>
            <a:off x="530350" y="731520"/>
            <a:ext cx="7969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框架解析对照Agent Studio：绿色为现已GA，黄色为联合构建以达企业规模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2"/>
          <p:cNvSpPr/>
          <p:nvPr/>
        </p:nvSpPr>
        <p:spPr>
          <a:xfrm rot="-5400000">
            <a:off x="4542000" y="539200"/>
            <a:ext cx="73500" cy="9157500"/>
          </a:xfrm>
          <a:prstGeom prst="rect">
            <a:avLst/>
          </a:prstGeom>
          <a:solidFill>
            <a:srgbClr val="FF550D"/>
          </a:solidFill>
          <a:ln>
            <a:noFill/>
          </a:ln>
        </p:spPr>
        <p:txBody>
          <a:bodyPr anchorCtr="0" anchor="t" bIns="45675" lIns="91400" spcFirstLastPara="1" rIns="91400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3" name="Google Shape;107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5075" y="0"/>
            <a:ext cx="1532425" cy="32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12"/>
          <p:cNvSpPr/>
          <p:nvPr/>
        </p:nvSpPr>
        <p:spPr>
          <a:xfrm>
            <a:off x="370400" y="290000"/>
            <a:ext cx="90000" cy="3399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2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00" spcFirstLastPara="1" rIns="9140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0" lang="en" sz="1955">
                <a:solidFill>
                  <a:srgbClr val="1200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评估与监控：内置而非外加</a:t>
            </a:r>
            <a:endParaRPr b="0" sz="1955">
              <a:solidFill>
                <a:srgbClr val="12004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76" name="Google Shape;1076;p12"/>
          <p:cNvSpPr/>
          <p:nvPr/>
        </p:nvSpPr>
        <p:spPr>
          <a:xfrm>
            <a:off x="45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12"/>
          <p:cNvSpPr/>
          <p:nvPr/>
        </p:nvSpPr>
        <p:spPr>
          <a:xfrm>
            <a:off x="45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12"/>
          <p:cNvSpPr/>
          <p:nvPr/>
        </p:nvSpPr>
        <p:spPr>
          <a:xfrm>
            <a:off x="53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数据集与真实标注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2"/>
          <p:cNvSpPr/>
          <p:nvPr/>
        </p:nvSpPr>
        <p:spPr>
          <a:xfrm>
            <a:off x="53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版本化评估数据集 · 标准问答集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12"/>
          <p:cNvSpPr/>
          <p:nvPr/>
        </p:nvSpPr>
        <p:spPr>
          <a:xfrm>
            <a:off x="181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2"/>
          <p:cNvSpPr/>
          <p:nvPr/>
        </p:nvSpPr>
        <p:spPr>
          <a:xfrm>
            <a:off x="211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12"/>
          <p:cNvSpPr/>
          <p:nvPr/>
        </p:nvSpPr>
        <p:spPr>
          <a:xfrm>
            <a:off x="211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12"/>
          <p:cNvSpPr/>
          <p:nvPr/>
        </p:nvSpPr>
        <p:spPr>
          <a:xfrm>
            <a:off x="219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候选对象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2"/>
          <p:cNvSpPr/>
          <p:nvPr/>
        </p:nvSpPr>
        <p:spPr>
          <a:xfrm>
            <a:off x="219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被测模型或智能体工作流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2"/>
          <p:cNvSpPr/>
          <p:nvPr/>
        </p:nvSpPr>
        <p:spPr>
          <a:xfrm>
            <a:off x="347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12"/>
          <p:cNvSpPr/>
          <p:nvPr/>
        </p:nvSpPr>
        <p:spPr>
          <a:xfrm>
            <a:off x="377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12"/>
          <p:cNvSpPr/>
          <p:nvPr/>
        </p:nvSpPr>
        <p:spPr>
          <a:xfrm>
            <a:off x="377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12"/>
          <p:cNvSpPr/>
          <p:nvPr/>
        </p:nvSpPr>
        <p:spPr>
          <a:xfrm>
            <a:off x="385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12"/>
          <p:cNvSpPr/>
          <p:nvPr/>
        </p:nvSpPr>
        <p:spPr>
          <a:xfrm>
            <a:off x="385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Ragas 指标 · LLM 评判 · 任务检查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12"/>
          <p:cNvSpPr/>
          <p:nvPr/>
        </p:nvSpPr>
        <p:spPr>
          <a:xfrm>
            <a:off x="513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12"/>
          <p:cNvSpPr/>
          <p:nvPr/>
        </p:nvSpPr>
        <p:spPr>
          <a:xfrm>
            <a:off x="543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12"/>
          <p:cNvSpPr/>
          <p:nvPr/>
        </p:nvSpPr>
        <p:spPr>
          <a:xfrm>
            <a:off x="5437203" y="1500006"/>
            <a:ext cx="1359900" cy="399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2"/>
          <p:cNvSpPr/>
          <p:nvPr/>
        </p:nvSpPr>
        <p:spPr>
          <a:xfrm>
            <a:off x="551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评分与报告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12"/>
          <p:cNvSpPr/>
          <p:nvPr/>
        </p:nvSpPr>
        <p:spPr>
          <a:xfrm>
            <a:off x="551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可重复、可比较，按版本记录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12"/>
          <p:cNvSpPr/>
          <p:nvPr/>
        </p:nvSpPr>
        <p:spPr>
          <a:xfrm>
            <a:off x="6797200" y="195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12"/>
          <p:cNvSpPr/>
          <p:nvPr/>
        </p:nvSpPr>
        <p:spPr>
          <a:xfrm>
            <a:off x="7097200" y="1500000"/>
            <a:ext cx="1359900" cy="1200000"/>
          </a:xfrm>
          <a:prstGeom prst="roundRect">
            <a:avLst>
              <a:gd fmla="val 6000" name="adj"/>
            </a:avLst>
          </a:prstGeom>
          <a:solidFill>
            <a:srgbClr val="FFF3EE"/>
          </a:solidFill>
          <a:ln cap="flat" cmpd="sng" w="2800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12"/>
          <p:cNvSpPr/>
          <p:nvPr/>
        </p:nvSpPr>
        <p:spPr>
          <a:xfrm>
            <a:off x="7177200" y="1600000"/>
            <a:ext cx="120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人工把关 → 发布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12"/>
          <p:cNvSpPr/>
          <p:nvPr/>
        </p:nvSpPr>
        <p:spPr>
          <a:xfrm>
            <a:off x="7177200" y="2000000"/>
            <a:ext cx="1200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审批签字，再通过 CI/CD 上线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12"/>
          <p:cNvSpPr/>
          <p:nvPr/>
        </p:nvSpPr>
        <p:spPr>
          <a:xfrm>
            <a:off x="457200" y="3099997"/>
            <a:ext cx="8010000" cy="950100"/>
          </a:xfrm>
          <a:prstGeom prst="roundRect">
            <a:avLst>
              <a:gd fmla="val 8000" name="adj"/>
            </a:avLst>
          </a:prstGeom>
          <a:solidFill>
            <a:srgbClr val="F6F6FB"/>
          </a:solidFill>
          <a:ln>
            <a:noFill/>
          </a:ln>
        </p:spPr>
        <p:txBody>
          <a:bodyPr anchorCtr="0" anchor="ctr" bIns="0" lIns="914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生产环境中</a:t>
            </a:r>
            <a:endParaRPr b="1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Phoenix（Arize）+ OpenTelemetry 对每次智能体运行进行追踪（记录每步跨度、延迟、工具调用与 token 成本），并全程接受 SDX 治理。</a:t>
            </a:r>
            <a:endParaRPr b="1" i="0" sz="1000" u="none" cap="none" strike="noStrike">
              <a:solidFill>
                <a:srgbClr val="15154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0" name="Google Shape;1100;p12"/>
          <p:cNvSpPr/>
          <p:nvPr/>
        </p:nvSpPr>
        <p:spPr>
          <a:xfrm>
            <a:off x="566928" y="4249998"/>
            <a:ext cx="8010000" cy="30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 https://ferdinandzhong.github.io/cai-eval-platform/</a:t>
            </a: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，即面向 LLM 与智能体工作流的 CAI 评估平台</a:t>
            </a:r>
            <a:endParaRPr b="1" i="0" sz="1100" u="none" cap="none" strike="noStrike">
              <a:solidFill>
                <a:srgbClr val="4F4FF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1" name="Google Shape;1101;p12"/>
          <p:cNvSpPr txBox="1"/>
          <p:nvPr>
            <p:ph idx="2" type="subTitle"/>
          </p:nvPr>
        </p:nvSpPr>
        <p:spPr>
          <a:xfrm>
            <a:off x="530349" y="731525"/>
            <a:ext cx="6760500" cy="34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en">
                <a:solidFill>
                  <a:srgbClr val="5555F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先评估，再信任。CAI 评估平台为每个候选打分；Phoenix / OTEL 追踪每次生产运行。</a:t>
            </a:r>
            <a:endParaRPr b="0">
              <a:solidFill>
                <a:srgbClr val="110046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6"/>
          <p:cNvSpPr/>
          <p:nvPr/>
        </p:nvSpPr>
        <p:spPr>
          <a:xfrm>
            <a:off x="3704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6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治理始于三个问题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8" name="Google Shape;1108;p6"/>
          <p:cNvSpPr/>
          <p:nvPr/>
        </p:nvSpPr>
        <p:spPr>
          <a:xfrm>
            <a:off x="566928" y="42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并非空谈，如今已通过 SDX、Agent Studio 防护工具与 Galileo.AI 给出答案。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6"/>
          <p:cNvSpPr txBox="1"/>
          <p:nvPr>
            <p:ph idx="2" type="subTitle"/>
          </p:nvPr>
        </p:nvSpPr>
        <p:spPr>
          <a:xfrm>
            <a:off x="530349" y="731520"/>
            <a:ext cx="6369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AI 若无法回答，将带来法律、合规与声誉风险；接下来两页将逐一解答。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10" name="Google Shape;1110;p6"/>
          <p:cNvSpPr/>
          <p:nvPr/>
        </p:nvSpPr>
        <p:spPr>
          <a:xfrm>
            <a:off x="566865" y="1302008"/>
            <a:ext cx="2487300" cy="2743200"/>
          </a:xfrm>
          <a:prstGeom prst="roundRect">
            <a:avLst>
              <a:gd fmla="val 6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6"/>
          <p:cNvSpPr txBox="1"/>
          <p:nvPr/>
        </p:nvSpPr>
        <p:spPr>
          <a:xfrm>
            <a:off x="768033" y="1530607"/>
            <a:ext cx="13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6"/>
          <p:cNvSpPr txBox="1"/>
          <p:nvPr/>
        </p:nvSpPr>
        <p:spPr>
          <a:xfrm>
            <a:off x="768033" y="2051816"/>
            <a:ext cx="21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如何正确使用 AI？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6"/>
          <p:cNvSpPr txBox="1"/>
          <p:nvPr/>
        </p:nvSpPr>
        <p:spPr>
          <a:xfrm>
            <a:off x="768033" y="2856488"/>
            <a:ext cx="210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经批准的工具、经批准的数据、 经批准的输入。你看不到的东西，无法治理。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6"/>
          <p:cNvSpPr/>
          <p:nvPr/>
        </p:nvSpPr>
        <p:spPr>
          <a:xfrm>
            <a:off x="3328354" y="1302008"/>
            <a:ext cx="2487300" cy="2743200"/>
          </a:xfrm>
          <a:prstGeom prst="roundRect">
            <a:avLst>
              <a:gd fmla="val 6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6"/>
          <p:cNvSpPr txBox="1"/>
          <p:nvPr/>
        </p:nvSpPr>
        <p:spPr>
          <a:xfrm>
            <a:off x="3529521" y="1530607"/>
            <a:ext cx="13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6"/>
          <p:cNvSpPr txBox="1"/>
          <p:nvPr/>
        </p:nvSpPr>
        <p:spPr>
          <a:xfrm>
            <a:off x="3529521" y="2051816"/>
            <a:ext cx="2103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你的 AI 被允许说什么？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6"/>
          <p:cNvSpPr txBox="1"/>
          <p:nvPr/>
        </p:nvSpPr>
        <p:spPr>
          <a:xfrm>
            <a:off x="3529521" y="2856488"/>
            <a:ext cx="210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在有害、虚假或不合规的回答触达客户之前予以拦截的防护机制。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6"/>
          <p:cNvSpPr/>
          <p:nvPr/>
        </p:nvSpPr>
        <p:spPr>
          <a:xfrm>
            <a:off x="6089842" y="1302008"/>
            <a:ext cx="2487300" cy="2743200"/>
          </a:xfrm>
          <a:prstGeom prst="roundRect">
            <a:avLst>
              <a:gd fmla="val 6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6"/>
          <p:cNvSpPr txBox="1"/>
          <p:nvPr/>
        </p:nvSpPr>
        <p:spPr>
          <a:xfrm>
            <a:off x="6291010" y="1530607"/>
            <a:ext cx="137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6"/>
          <p:cNvSpPr txBox="1"/>
          <p:nvPr/>
        </p:nvSpPr>
        <p:spPr>
          <a:xfrm>
            <a:off x="6291010" y="2051816"/>
            <a:ext cx="2103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0014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你能证明你的 AI 做了什么吗？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6"/>
          <p:cNvSpPr txBox="1"/>
          <p:nvPr/>
        </p:nvSpPr>
        <p:spPr>
          <a:xfrm>
            <a:off x="6291010" y="2856488"/>
            <a:ext cx="2103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审计轨迹与证据。监管机构、董事会和客户都会追问，你需要有答案。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13"/>
          <p:cNvSpPr/>
          <p:nvPr/>
        </p:nvSpPr>
        <p:spPr>
          <a:xfrm>
            <a:off x="3704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13"/>
          <p:cNvSpPr txBox="1"/>
          <p:nvPr>
            <p:ph type="title"/>
          </p:nvPr>
        </p:nvSpPr>
        <p:spPr>
          <a:xfrm>
            <a:off x="530352" y="292608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AI 治理：技术栈，而非口号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28" name="Google Shape;1128;p13"/>
          <p:cNvSpPr/>
          <p:nvPr/>
        </p:nvSpPr>
        <p:spPr>
          <a:xfrm>
            <a:off x="457200" y="12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3"/>
          <p:cNvSpPr/>
          <p:nvPr/>
        </p:nvSpPr>
        <p:spPr>
          <a:xfrm>
            <a:off x="457200" y="1250000"/>
            <a:ext cx="90000" cy="6800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3"/>
          <p:cNvSpPr/>
          <p:nvPr/>
        </p:nvSpPr>
        <p:spPr>
          <a:xfrm>
            <a:off x="700000" y="13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评估与证明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13"/>
          <p:cNvSpPr/>
          <p:nvPr/>
        </p:nvSpPr>
        <p:spPr>
          <a:xfrm>
            <a:off x="700000" y="15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Galileo 20 余项智能体指标，为每个智能体的言行提供可审计证据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13"/>
          <p:cNvSpPr/>
          <p:nvPr/>
        </p:nvSpPr>
        <p:spPr>
          <a:xfrm>
            <a:off x="6400000" y="13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证明其行为，即证据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13"/>
          <p:cNvSpPr/>
          <p:nvPr/>
        </p:nvSpPr>
        <p:spPr>
          <a:xfrm>
            <a:off x="457200" y="20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3"/>
          <p:cNvSpPr/>
          <p:nvPr/>
        </p:nvSpPr>
        <p:spPr>
          <a:xfrm>
            <a:off x="457200" y="2050000"/>
            <a:ext cx="90000" cy="68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3"/>
          <p:cNvSpPr/>
          <p:nvPr/>
        </p:nvSpPr>
        <p:spPr>
          <a:xfrm>
            <a:off x="700000" y="21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防护机制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13"/>
          <p:cNvSpPr/>
          <p:nvPr/>
        </p:nvSpPr>
        <p:spPr>
          <a:xfrm>
            <a:off x="700000" y="23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内置于 Agent Studio：内容过滤 · LLM 评判 · 自定义防护，集中托管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13"/>
          <p:cNvSpPr/>
          <p:nvPr/>
        </p:nvSpPr>
        <p:spPr>
          <a:xfrm>
            <a:off x="6400000" y="21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可以说什么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3"/>
          <p:cNvSpPr/>
          <p:nvPr/>
        </p:nvSpPr>
        <p:spPr>
          <a:xfrm>
            <a:off x="457200" y="28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13"/>
          <p:cNvSpPr/>
          <p:nvPr/>
        </p:nvSpPr>
        <p:spPr>
          <a:xfrm>
            <a:off x="457200" y="2850000"/>
            <a:ext cx="90000" cy="68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13"/>
          <p:cNvSpPr/>
          <p:nvPr/>
        </p:nvSpPr>
        <p:spPr>
          <a:xfrm>
            <a:off x="700000" y="29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可观测性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13"/>
          <p:cNvSpPr/>
          <p:nvPr/>
        </p:nvSpPr>
        <p:spPr>
          <a:xfrm>
            <a:off x="700000" y="31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每次智能体运行的 Phoenix / OTEL 跨度，由 CAI 评估平台导出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3"/>
          <p:cNvSpPr/>
          <p:nvPr/>
        </p:nvSpPr>
        <p:spPr>
          <a:xfrm>
            <a:off x="6400000" y="29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证明其行为，即追踪记录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13"/>
          <p:cNvSpPr/>
          <p:nvPr/>
        </p:nvSpPr>
        <p:spPr>
          <a:xfrm>
            <a:off x="457200" y="3650000"/>
            <a:ext cx="5600000" cy="680000"/>
          </a:xfrm>
          <a:prstGeom prst="roundRect">
            <a:avLst>
              <a:gd fmla="val 8000" name="adj"/>
            </a:avLst>
          </a:prstGeom>
          <a:solidFill>
            <a:schemeClr val="lt1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13"/>
          <p:cNvSpPr/>
          <p:nvPr/>
        </p:nvSpPr>
        <p:spPr>
          <a:xfrm>
            <a:off x="457200" y="3650000"/>
            <a:ext cx="90000" cy="680000"/>
          </a:xfrm>
          <a:prstGeom prst="rect">
            <a:avLst/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13"/>
          <p:cNvSpPr/>
          <p:nvPr/>
        </p:nvSpPr>
        <p:spPr>
          <a:xfrm>
            <a:off x="700000" y="3730000"/>
            <a:ext cx="530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SDX 基础层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3"/>
          <p:cNvSpPr/>
          <p:nvPr/>
        </p:nvSpPr>
        <p:spPr>
          <a:xfrm>
            <a:off x="700000" y="3990000"/>
            <a:ext cx="5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Ranger 访问控制 · Atlas 数据血缘 · 审计日志：谁调用了哪个模型和数据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3"/>
          <p:cNvSpPr/>
          <p:nvPr/>
        </p:nvSpPr>
        <p:spPr>
          <a:xfrm>
            <a:off x="6400000" y="3730000"/>
            <a:ext cx="17372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回答 Q1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谁能使用 AI，以及如何使用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13"/>
          <p:cNvSpPr/>
          <p:nvPr/>
        </p:nvSpPr>
        <p:spPr>
          <a:xfrm>
            <a:off x="566928" y="4450000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SDX + 可观测性 + 防护机制 + 评估：有证据支撑的规模化负责任 AI。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13"/>
          <p:cNvSpPr txBox="1"/>
          <p:nvPr>
            <p:ph idx="2" type="subTitle"/>
          </p:nvPr>
        </p:nvSpPr>
        <p:spPr>
          <a:xfrm>
            <a:off x="530352" y="73152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三个问题，逐层解答；每一层如今都已在 CAI 或搭配 Galileo 中落地。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1"/>
          <p:cNvSpPr/>
          <p:nvPr/>
        </p:nvSpPr>
        <p:spPr>
          <a:xfrm>
            <a:off x="370400" y="290000"/>
            <a:ext cx="90000" cy="340000"/>
          </a:xfrm>
          <a:prstGeom prst="roundRect">
            <a:avLst>
              <a:gd fmla="val 5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21"/>
          <p:cNvSpPr txBox="1"/>
          <p:nvPr>
            <p:ph type="title"/>
          </p:nvPr>
        </p:nvSpPr>
        <p:spPr>
          <a:xfrm>
            <a:off x="530352" y="284251"/>
            <a:ext cx="76200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平台级防护机制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6" name="Google Shape;1156;p21"/>
          <p:cNvSpPr/>
          <p:nvPr/>
        </p:nvSpPr>
        <p:spPr>
          <a:xfrm>
            <a:off x="457200" y="1250000"/>
            <a:ext cx="110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用户请求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57" name="Google Shape;1157;p21"/>
          <p:cNvSpPr/>
          <p:nvPr/>
        </p:nvSpPr>
        <p:spPr>
          <a:xfrm>
            <a:off x="153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21"/>
          <p:cNvSpPr/>
          <p:nvPr/>
        </p:nvSpPr>
        <p:spPr>
          <a:xfrm>
            <a:off x="1807200" y="1250000"/>
            <a:ext cx="2100000" cy="720000"/>
          </a:xfrm>
          <a:prstGeom prst="roundRect">
            <a:avLst>
              <a:gd fmla="val 8000" name="adj"/>
            </a:avLst>
          </a:prstGeom>
          <a:solidFill>
            <a:srgbClr val="FFF3EE"/>
          </a:solidFill>
          <a:ln cap="flat" cmpd="sng" w="28000">
            <a:solidFill>
              <a:srgbClr val="EE5A2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59" name="Google Shape;1159;p21"/>
          <p:cNvSpPr/>
          <p:nvPr/>
        </p:nvSpPr>
        <p:spPr>
          <a:xfrm>
            <a:off x="1867200" y="1390000"/>
            <a:ext cx="198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Studio 防护机制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0" name="Google Shape;1160;p21"/>
          <p:cNvSpPr/>
          <p:nvPr/>
        </p:nvSpPr>
        <p:spPr>
          <a:xfrm>
            <a:off x="1867200" y="1760000"/>
            <a:ext cx="198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T1 → T2 → T3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1" name="Google Shape;1161;p21"/>
          <p:cNvSpPr/>
          <p:nvPr/>
        </p:nvSpPr>
        <p:spPr>
          <a:xfrm>
            <a:off x="388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1"/>
          <p:cNvSpPr/>
          <p:nvPr/>
        </p:nvSpPr>
        <p:spPr>
          <a:xfrm>
            <a:off x="4157200" y="1250000"/>
            <a:ext cx="130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智能体工作流 · LLM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3" name="Google Shape;1163;p21"/>
          <p:cNvSpPr/>
          <p:nvPr/>
        </p:nvSpPr>
        <p:spPr>
          <a:xfrm>
            <a:off x="543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1"/>
          <p:cNvSpPr/>
          <p:nvPr/>
        </p:nvSpPr>
        <p:spPr>
          <a:xfrm>
            <a:off x="5707200" y="1250000"/>
            <a:ext cx="125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输出校验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5" name="Google Shape;1165;p21"/>
          <p:cNvSpPr/>
          <p:nvPr/>
        </p:nvSpPr>
        <p:spPr>
          <a:xfrm>
            <a:off x="6932200" y="146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1"/>
          <p:cNvSpPr/>
          <p:nvPr/>
        </p:nvSpPr>
        <p:spPr>
          <a:xfrm>
            <a:off x="7207200" y="1250000"/>
            <a:ext cx="830000" cy="72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" sz="95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用户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67" name="Google Shape;1167;p21"/>
          <p:cNvSpPr/>
          <p:nvPr/>
        </p:nvSpPr>
        <p:spPr>
          <a:xfrm>
            <a:off x="457200" y="2250000"/>
            <a:ext cx="2440000" cy="15500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1"/>
          <p:cNvSpPr/>
          <p:nvPr/>
        </p:nvSpPr>
        <p:spPr>
          <a:xfrm>
            <a:off x="457203" y="2250006"/>
            <a:ext cx="2440000" cy="456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21"/>
          <p:cNvSpPr/>
          <p:nvPr/>
        </p:nvSpPr>
        <p:spPr>
          <a:xfrm>
            <a:off x="617200" y="24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T1 · 确定性规则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70" name="Google Shape;1170;p21"/>
          <p:cNvSpPr/>
          <p:nvPr/>
        </p:nvSpPr>
        <p:spPr>
          <a:xfrm>
            <a:off x="2257200" y="2415000"/>
            <a:ext cx="540000" cy="260000"/>
          </a:xfrm>
          <a:prstGeom prst="roundRect">
            <a:avLst>
              <a:gd fmla="val 50000" name="adj"/>
            </a:avLst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~2ms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1" name="Google Shape;1171;p21"/>
          <p:cNvSpPr/>
          <p:nvPr/>
        </p:nvSpPr>
        <p:spPr>
          <a:xfrm>
            <a:off x="617200" y="2760000"/>
            <a:ext cx="212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正则表达式 · 关键词列表 · PII 模式 · 领域黑名单，零模型延迟。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172" name="Google Shape;1172;p21"/>
          <p:cNvSpPr/>
          <p:nvPr/>
        </p:nvSpPr>
        <p:spPr>
          <a:xfrm>
            <a:off x="617200" y="3480000"/>
            <a:ext cx="21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E844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约 80% 的拦截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73" name="Google Shape;1173;p21"/>
          <p:cNvSpPr/>
          <p:nvPr/>
        </p:nvSpPr>
        <p:spPr>
          <a:xfrm>
            <a:off x="3077200" y="2250000"/>
            <a:ext cx="2440000" cy="15500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21"/>
          <p:cNvSpPr/>
          <p:nvPr/>
        </p:nvSpPr>
        <p:spPr>
          <a:xfrm>
            <a:off x="3077203" y="2250006"/>
            <a:ext cx="2440000" cy="456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1"/>
          <p:cNvSpPr/>
          <p:nvPr/>
        </p:nvSpPr>
        <p:spPr>
          <a:xfrm>
            <a:off x="3237200" y="24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T2 · 传统机器学习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76" name="Google Shape;1176;p21"/>
          <p:cNvSpPr/>
          <p:nvPr/>
        </p:nvSpPr>
        <p:spPr>
          <a:xfrm>
            <a:off x="4877200" y="2415000"/>
            <a:ext cx="540000" cy="260000"/>
          </a:xfrm>
          <a:prstGeom prst="roundRect">
            <a:avLst>
              <a:gd fmla="val 50000" name="adj"/>
            </a:avLst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~35ms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77" name="Google Shape;1177;p21"/>
          <p:cNvSpPr/>
          <p:nvPr/>
        </p:nvSpPr>
        <p:spPr>
          <a:xfrm>
            <a:off x="3237200" y="2760000"/>
            <a:ext cx="212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毒性分类器 · 话题偏离检测 · 敏感类别评分，基于快速 SLM 推理。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178" name="Google Shape;1178;p21"/>
          <p:cNvSpPr/>
          <p:nvPr/>
        </p:nvSpPr>
        <p:spPr>
          <a:xfrm>
            <a:off x="3237200" y="3480000"/>
            <a:ext cx="21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B7791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约 15% 的情况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79" name="Google Shape;1179;p21"/>
          <p:cNvSpPr/>
          <p:nvPr/>
        </p:nvSpPr>
        <p:spPr>
          <a:xfrm>
            <a:off x="5697200" y="2250000"/>
            <a:ext cx="2440000" cy="15500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21"/>
          <p:cNvSpPr/>
          <p:nvPr/>
        </p:nvSpPr>
        <p:spPr>
          <a:xfrm>
            <a:off x="5697203" y="2250006"/>
            <a:ext cx="2440000" cy="456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21"/>
          <p:cNvSpPr/>
          <p:nvPr/>
        </p:nvSpPr>
        <p:spPr>
          <a:xfrm>
            <a:off x="5857200" y="2400000"/>
            <a:ext cx="17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T3 · LLM 评判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82" name="Google Shape;1182;p21"/>
          <p:cNvSpPr/>
          <p:nvPr/>
        </p:nvSpPr>
        <p:spPr>
          <a:xfrm>
            <a:off x="7397200" y="2415000"/>
            <a:ext cx="639900" cy="260100"/>
          </a:xfrm>
          <a:prstGeom prst="roundRect">
            <a:avLst>
              <a:gd fmla="val 50000" name="adj"/>
            </a:avLst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" sz="8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最智能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83" name="Google Shape;1183;p21"/>
          <p:cNvSpPr/>
          <p:nvPr/>
        </p:nvSpPr>
        <p:spPr>
          <a:xfrm>
            <a:off x="5857200" y="2760000"/>
            <a:ext cx="2120000" cy="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复杂策略评估 · 上下文感知审查，基于 Galileo Luna SLM，成本低于第三方评判方案。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184" name="Google Shape;1184;p21"/>
          <p:cNvSpPr/>
          <p:nvPr/>
        </p:nvSpPr>
        <p:spPr>
          <a:xfrm>
            <a:off x="5857200" y="3480000"/>
            <a:ext cx="212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约 5% 的情况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185" name="Google Shape;1185;p21"/>
          <p:cNvSpPr/>
          <p:nvPr/>
        </p:nvSpPr>
        <p:spPr>
          <a:xfrm>
            <a:off x="457200" y="4050000"/>
            <a:ext cx="3750000" cy="720000"/>
          </a:xfrm>
          <a:prstGeom prst="roundRect">
            <a:avLst>
              <a:gd fmla="val 8000" name="adj"/>
            </a:avLst>
          </a:prstGeom>
          <a:solidFill>
            <a:srgbClr val="F6F6FB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现在：Agent Studio 内置防护机制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内容过滤 · LLM 评判 · 自定义防护，集中托管，应用于每个工作流。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21"/>
          <p:cNvSpPr/>
          <p:nvPr/>
        </p:nvSpPr>
        <p:spPr>
          <a:xfrm>
            <a:off x="4387200" y="4050000"/>
            <a:ext cx="3750000" cy="720000"/>
          </a:xfrm>
          <a:prstGeom prst="roundRect">
            <a:avLst>
              <a:gd fmla="val 8000" name="adj"/>
            </a:avLst>
          </a:prstGeom>
          <a:solidFill>
            <a:srgbClr val="FFF3EE"/>
          </a:solidFill>
          <a:ln>
            <a:noFill/>
          </a:ln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EE5A29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合作伙伴：Galileo Protect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面向高级需求的实时防火墙，延迟低于 200ms；同一策略平面，可通过 SDX 审计。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21"/>
          <p:cNvSpPr txBox="1"/>
          <p:nvPr>
            <p:ph idx="2" type="subTitle"/>
          </p:nvPr>
        </p:nvSpPr>
        <p:spPr>
          <a:xfrm>
            <a:off x="530350" y="731525"/>
            <a:ext cx="75069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防护机制集中托管于 Agent Studio，每个模型所需的防护均在每个工作流中强制执行。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15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构建于平台之上：两个成熟案例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3" name="Google Shape;1193;p15"/>
          <p:cNvSpPr txBox="1"/>
          <p:nvPr>
            <p:ph idx="1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b="0" i="0" lang="en" sz="1100" u="none" cap="none" strike="noStrike">
                <a:solidFill>
                  <a:srgbClr val="4F4FF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来自 DBS 之外的 Cloudera 客户：一旦生成式 AI 平台就位，业务团队能构建什么。平台本身才是目标。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grpSp>
        <p:nvGrpSpPr>
          <p:cNvPr id="1194" name="Google Shape;1194;p15"/>
          <p:cNvGrpSpPr/>
          <p:nvPr/>
        </p:nvGrpSpPr>
        <p:grpSpPr>
          <a:xfrm>
            <a:off x="484630" y="1300000"/>
            <a:ext cx="7680003" cy="2380000"/>
            <a:chOff x="457200" y="1300000"/>
            <a:chExt cx="7680003" cy="2380000"/>
          </a:xfrm>
        </p:grpSpPr>
        <p:sp>
          <p:nvSpPr>
            <p:cNvPr id="1195" name="Google Shape;1195;p15"/>
            <p:cNvSpPr/>
            <p:nvPr/>
          </p:nvSpPr>
          <p:spPr>
            <a:xfrm>
              <a:off x="457200" y="1300000"/>
              <a:ext cx="3750000" cy="2050000"/>
            </a:xfrm>
            <a:prstGeom prst="roundRect">
              <a:avLst>
                <a:gd fmla="val 35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57203" y="1300006"/>
              <a:ext cx="3750000" cy="45600"/>
            </a:xfrm>
            <a:prstGeom prst="rect">
              <a:avLst/>
            </a:prstGeom>
            <a:solidFill>
              <a:srgbClr val="4F4F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5"/>
            <p:cNvSpPr/>
            <p:nvPr/>
          </p:nvSpPr>
          <p:spPr>
            <a:xfrm>
              <a:off x="657200" y="1470000"/>
              <a:ext cx="335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" sz="1250" u="none" cap="none" strike="noStrike">
                  <a:solidFill>
                    <a:srgbClr val="15154A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金融犯罪检测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198" name="Google Shape;1198;p15"/>
            <p:cNvSpPr/>
            <p:nvPr/>
          </p:nvSpPr>
          <p:spPr>
            <a:xfrm>
              <a:off x="657200" y="1780000"/>
              <a:ext cx="3350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4F4FF5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平台主线：数据 → AI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199" name="Google Shape;1199;p15"/>
            <p:cNvSpPr/>
            <p:nvPr/>
          </p:nvSpPr>
          <p:spPr>
            <a:xfrm>
              <a:off x="657200" y="2080000"/>
              <a:ext cx="3350000" cy="11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原始交易数据（ISO 20022、SWIFT、LEI）→ 在 Lakehouse 中统一整合 → Workbench 中的图数据科学 → GNN 特征 → Agent Studio 中的反洗钱/反欺诈智能体。全程基于 Private AI，数据不出域。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0" name="Google Shape;1200;p15"/>
            <p:cNvSpPr/>
            <p:nvPr/>
          </p:nvSpPr>
          <p:spPr>
            <a:xfrm>
              <a:off x="2182200" y="3380000"/>
              <a:ext cx="30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↓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5"/>
            <p:cNvSpPr/>
            <p:nvPr/>
          </p:nvSpPr>
          <p:spPr>
            <a:xfrm>
              <a:off x="4387200" y="1300000"/>
              <a:ext cx="3750000" cy="2050000"/>
            </a:xfrm>
            <a:prstGeom prst="roundRect">
              <a:avLst>
                <a:gd fmla="val 3500" name="adj"/>
              </a:avLst>
            </a:prstGeom>
            <a:solidFill>
              <a:srgbClr val="FFFFFF"/>
            </a:solidFill>
            <a:ln cap="flat" cmpd="sng" w="12700">
              <a:solidFill>
                <a:srgbClr val="E2E2E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889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15"/>
            <p:cNvSpPr/>
            <p:nvPr/>
          </p:nvSpPr>
          <p:spPr>
            <a:xfrm>
              <a:off x="4387203" y="1300006"/>
              <a:ext cx="3750000" cy="45600"/>
            </a:xfrm>
            <a:prstGeom prst="rect">
              <a:avLst/>
            </a:prstGeom>
            <a:solidFill>
              <a:srgbClr val="EE5A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15"/>
            <p:cNvSpPr/>
            <p:nvPr/>
          </p:nvSpPr>
          <p:spPr>
            <a:xfrm>
              <a:off x="4587200" y="1470000"/>
              <a:ext cx="335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50"/>
                <a:buFont typeface="Arial"/>
                <a:buNone/>
              </a:pPr>
              <a:r>
                <a:rPr b="0" i="0" lang="en" sz="1250" u="none" cap="none" strike="noStrike">
                  <a:solidFill>
                    <a:srgbClr val="15154A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SoW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4587200" y="1780000"/>
              <a:ext cx="3350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0" i="0" lang="en" sz="900" u="none" cap="none" strike="noStrike">
                  <a:solidFill>
                    <a:srgbClr val="EE5A29"/>
                  </a:solidFill>
                  <a:latin typeface="Plus Jakarta Sans Medium"/>
                  <a:ea typeface="Plus Jakarta Sans Medium"/>
                  <a:cs typeface="Plus Jakarta Sans Medium"/>
                  <a:sym typeface="Plus Jakarta Sans Medium"/>
                </a:rPr>
                <a:t>智能体主线：市场化模块</a:t>
              </a:r>
              <a:endParaRPr b="0" i="0" sz="1400" u="none" cap="none" strike="noStrike">
                <a:solidFill>
                  <a:srgbClr val="000000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endParaRPr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4587200" y="2080000"/>
              <a:ext cx="3350000" cy="115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b="0" i="0" lang="en" sz="95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智能体自动生成资金来源（SoW）报告，供客户经理审核，10 天缩短至 1 小时以内。 </a:t>
              </a:r>
              <a:endParaRPr b="0" i="0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6112200" y="3380000"/>
              <a:ext cx="3000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5A5A72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↓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7" name="Google Shape;1207;p15"/>
          <p:cNvSpPr/>
          <p:nvPr/>
        </p:nvSpPr>
        <p:spPr>
          <a:xfrm>
            <a:off x="484631" y="3720000"/>
            <a:ext cx="7680000" cy="720000"/>
          </a:xfrm>
          <a:prstGeom prst="roundRect">
            <a:avLst>
              <a:gd fmla="val 10000" name="adj"/>
            </a:avLst>
          </a:prstGeom>
          <a:solidFill>
            <a:srgbClr val="1515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生成式 AI 平台</a:t>
            </a:r>
            <a:r>
              <a:rPr b="0" i="0" lang="en" sz="1000" u="none" cap="none" strike="noStrike">
                <a:solidFill>
                  <a:srgbClr val="C9C9E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Open Lakehouse  ·  AI Inference（CAII）  ·  Agent Studio  ·  SDX 治理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15"/>
          <p:cNvSpPr/>
          <p:nvPr/>
        </p:nvSpPr>
        <p:spPr>
          <a:xfrm>
            <a:off x="484631" y="4520000"/>
            <a:ext cx="768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" sz="115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两者都因平台已存在而快速上线；最难的 20% 并不在标准功能范围内 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f9b3f86724_0_953"/>
          <p:cNvSpPr txBox="1"/>
          <p:nvPr>
            <p:ph type="title"/>
          </p:nvPr>
        </p:nvSpPr>
        <p:spPr>
          <a:xfrm>
            <a:off x="0" y="1809750"/>
            <a:ext cx="914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n">
                <a:latin typeface="Plus Jakarta Sans"/>
                <a:ea typeface="Plus Jakarta Sans"/>
                <a:cs typeface="Plus Jakarta Sans"/>
                <a:sym typeface="Plus Jakarta Sans"/>
              </a:rPr>
              <a:t>与 Applied AI 共建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f723343625_0_364"/>
          <p:cNvSpPr txBox="1"/>
          <p:nvPr/>
        </p:nvSpPr>
        <p:spPr>
          <a:xfrm>
            <a:off x="530352" y="1264925"/>
            <a:ext cx="4651500" cy="3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91425" spcFirstLastPara="1" rIns="91425" wrap="square" tIns="45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将所有数据汇聚到一个平台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数据库、文档、图像、日志与通讯记录集中一处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解决「我的数据在哪里」的问题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知识孤岛：真正的挑战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数据汇聚 ≠ 知识互联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缺乏语义关联与上下文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团队仍无法发现跨领域洞察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accent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知识图谱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实体 + 关系 + 语义上下文 = 互联知识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将数据湖转化为智能知识网络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Plus Jakarta Sans"/>
              <a:buChar char="●"/>
            </a:pPr>
            <a:r>
              <a:rPr b="0" i="0" lang="en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成为让 AI 更智能、更贴合实际的上下文层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t/>
            </a:r>
            <a:endParaRPr b="0" i="0" sz="975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20" name="Google Shape;1220;g3f723343625_0_364"/>
          <p:cNvSpPr txBox="1"/>
          <p:nvPr>
            <p:ph type="title"/>
          </p:nvPr>
        </p:nvSpPr>
        <p:spPr>
          <a:xfrm>
            <a:off x="530350" y="292598"/>
            <a:ext cx="76200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数据汇聚不等于知识互联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300"/>
          </a:p>
        </p:txBody>
      </p:sp>
      <p:sp>
        <p:nvSpPr>
          <p:cNvPr id="1221" name="Google Shape;1221;g3f723343625_0_364"/>
          <p:cNvSpPr txBox="1"/>
          <p:nvPr>
            <p:ph idx="3" type="subTitle"/>
          </p:nvPr>
        </p:nvSpPr>
        <p:spPr>
          <a:xfrm>
            <a:off x="530352" y="731520"/>
            <a:ext cx="47076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平台承载数据；将其连接为知识，才是共建的核心。</a:t>
            </a:r>
            <a:endParaRPr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grpSp>
        <p:nvGrpSpPr>
          <p:cNvPr id="1222" name="Google Shape;1222;g3f723343625_0_364"/>
          <p:cNvGrpSpPr/>
          <p:nvPr/>
        </p:nvGrpSpPr>
        <p:grpSpPr>
          <a:xfrm>
            <a:off x="5237948" y="837120"/>
            <a:ext cx="3600000" cy="3690000"/>
            <a:chOff x="5227148" y="732920"/>
            <a:chExt cx="3600000" cy="3690000"/>
          </a:xfrm>
        </p:grpSpPr>
        <p:sp>
          <p:nvSpPr>
            <p:cNvPr id="1223" name="Google Shape;1223;g3f723343625_0_364"/>
            <p:cNvSpPr/>
            <p:nvPr/>
          </p:nvSpPr>
          <p:spPr>
            <a:xfrm>
              <a:off x="5227148" y="732920"/>
              <a:ext cx="3600000" cy="3690000"/>
            </a:xfrm>
            <a:prstGeom prst="roundRect">
              <a:avLst>
                <a:gd fmla="val 4558" name="adj"/>
              </a:avLst>
            </a:prstGeom>
            <a:solidFill>
              <a:srgbClr val="EBF1F4"/>
            </a:solidFill>
            <a:ln>
              <a:noFill/>
            </a:ln>
          </p:spPr>
          <p:txBody>
            <a:bodyPr anchorCtr="0" anchor="ctr" bIns="122400" lIns="122400" spcFirstLastPara="1" rIns="122400" wrap="square" tIns="1224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75"/>
                <a:buFont typeface="Arial"/>
                <a:buNone/>
              </a:pPr>
              <a:r>
                <a:t/>
              </a:r>
              <a:endParaRPr b="0" i="0" sz="18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4" name="Google Shape;1224;g3f723343625_0_364"/>
            <p:cNvSpPr txBox="1"/>
            <p:nvPr/>
          </p:nvSpPr>
          <p:spPr>
            <a:xfrm>
              <a:off x="5881298" y="851860"/>
              <a:ext cx="2291700" cy="26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25"/>
                <a:buFont typeface="Arial"/>
                <a:buNone/>
              </a:pPr>
              <a:r>
                <a:rPr b="1" i="0" lang="en" sz="1425" u="none" cap="none" strike="noStrike">
                  <a:solidFill>
                    <a:schemeClr val="accent3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上下文层</a:t>
              </a:r>
              <a:endParaRPr b="1" i="0" sz="1425" u="none" cap="none" strike="noStrike">
                <a:solidFill>
                  <a:schemeClr val="accent3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5" name="Google Shape;1225;g3f723343625_0_364"/>
            <p:cNvSpPr/>
            <p:nvPr/>
          </p:nvSpPr>
          <p:spPr>
            <a:xfrm>
              <a:off x="5856458" y="1558085"/>
              <a:ext cx="557700" cy="5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真实世界数据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6" name="Google Shape;1226;g3f723343625_0_364"/>
            <p:cNvSpPr/>
            <p:nvPr/>
          </p:nvSpPr>
          <p:spPr>
            <a:xfrm>
              <a:off x="7622003" y="1558085"/>
              <a:ext cx="557700" cy="5556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交易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7" name="Google Shape;1227;g3f723343625_0_364"/>
            <p:cNvSpPr/>
            <p:nvPr/>
          </p:nvSpPr>
          <p:spPr>
            <a:xfrm>
              <a:off x="5507787" y="2423445"/>
              <a:ext cx="557700" cy="555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临床试验 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8" name="Google Shape;1228;g3f723343625_0_364"/>
            <p:cNvSpPr/>
            <p:nvPr/>
          </p:nvSpPr>
          <p:spPr>
            <a:xfrm>
              <a:off x="5856458" y="3315077"/>
              <a:ext cx="557700" cy="55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传感器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29" name="Google Shape;1229;g3f723343625_0_364"/>
            <p:cNvSpPr/>
            <p:nvPr/>
          </p:nvSpPr>
          <p:spPr>
            <a:xfrm>
              <a:off x="6752309" y="3723540"/>
              <a:ext cx="557700" cy="555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供应链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0" name="Google Shape;1230;g3f723343625_0_364"/>
            <p:cNvSpPr/>
            <p:nvPr/>
          </p:nvSpPr>
          <p:spPr>
            <a:xfrm>
              <a:off x="7621456" y="3314532"/>
              <a:ext cx="558300" cy="55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制造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31" name="Google Shape;1231;g3f723343625_0_364"/>
            <p:cNvSpPr/>
            <p:nvPr/>
          </p:nvSpPr>
          <p:spPr>
            <a:xfrm>
              <a:off x="7988210" y="2422899"/>
              <a:ext cx="558300" cy="5562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审计与合规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grpSp>
          <p:nvGrpSpPr>
            <p:cNvPr id="1232" name="Google Shape;1232;g3f723343625_0_364"/>
            <p:cNvGrpSpPr/>
            <p:nvPr/>
          </p:nvGrpSpPr>
          <p:grpSpPr>
            <a:xfrm>
              <a:off x="7025044" y="1692360"/>
              <a:ext cx="0" cy="2031055"/>
              <a:chOff x="7064547" y="1551805"/>
              <a:chExt cx="0" cy="2232910"/>
            </a:xfrm>
          </p:grpSpPr>
          <p:grpSp>
            <p:nvGrpSpPr>
              <p:cNvPr id="1233" name="Google Shape;1233;g3f723343625_0_364"/>
              <p:cNvGrpSpPr/>
              <p:nvPr/>
            </p:nvGrpSpPr>
            <p:grpSpPr>
              <a:xfrm>
                <a:off x="7064547" y="1551805"/>
                <a:ext cx="0" cy="2232900"/>
                <a:chOff x="7064551" y="1551800"/>
                <a:chExt cx="0" cy="2232900"/>
              </a:xfrm>
            </p:grpSpPr>
            <p:cxnSp>
              <p:nvCxnSpPr>
                <p:cNvPr id="1234" name="Google Shape;1234;g3f723343625_0_364"/>
                <p:cNvCxnSpPr/>
                <p:nvPr/>
              </p:nvCxnSpPr>
              <p:spPr>
                <a:xfrm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CEDBE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35" name="Google Shape;1235;g3f723343625_0_364"/>
                <p:cNvCxnSpPr/>
                <p:nvPr/>
              </p:nvCxnSpPr>
              <p:spPr>
                <a:xfrm rot="10800000">
                  <a:off x="7064551" y="1551800"/>
                  <a:ext cx="0" cy="2232900"/>
                </a:xfrm>
                <a:prstGeom prst="straightConnector1">
                  <a:avLst/>
                </a:prstGeom>
                <a:noFill/>
                <a:ln cap="flat" cmpd="sng" w="50800">
                  <a:solidFill>
                    <a:srgbClr val="CEDBE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236" name="Google Shape;1236;g3f723343625_0_364"/>
              <p:cNvCxnSpPr/>
              <p:nvPr/>
            </p:nvCxnSpPr>
            <p:spPr>
              <a:xfrm>
                <a:off x="7064547" y="1551815"/>
                <a:ext cx="0" cy="2232900"/>
              </a:xfrm>
              <a:prstGeom prst="straightConnector1">
                <a:avLst/>
              </a:prstGeom>
              <a:noFill/>
              <a:ln cap="flat" cmpd="sng" w="50800">
                <a:solidFill>
                  <a:srgbClr val="CEDBE4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237" name="Google Shape;1237;g3f723343625_0_364"/>
            <p:cNvCxnSpPr>
              <a:stCxn id="1226" idx="3"/>
              <a:endCxn id="1228" idx="7"/>
            </p:cNvCxnSpPr>
            <p:nvPr/>
          </p:nvCxnSpPr>
          <p:spPr>
            <a:xfrm flipH="1">
              <a:off x="6332376" y="2032319"/>
              <a:ext cx="1371300" cy="1364100"/>
            </a:xfrm>
            <a:prstGeom prst="straightConnector1">
              <a:avLst/>
            </a:prstGeom>
            <a:noFill/>
            <a:ln cap="flat" cmpd="sng" w="50800">
              <a:solidFill>
                <a:srgbClr val="CEDBE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8" name="Google Shape;1238;g3f723343625_0_364"/>
            <p:cNvCxnSpPr>
              <a:stCxn id="1230" idx="1"/>
              <a:endCxn id="1225" idx="5"/>
            </p:cNvCxnSpPr>
            <p:nvPr/>
          </p:nvCxnSpPr>
          <p:spPr>
            <a:xfrm rot="10800000">
              <a:off x="6332517" y="2032186"/>
              <a:ext cx="1370700" cy="1363800"/>
            </a:xfrm>
            <a:prstGeom prst="straightConnector1">
              <a:avLst/>
            </a:prstGeom>
            <a:noFill/>
            <a:ln cap="flat" cmpd="sng" w="50800">
              <a:solidFill>
                <a:srgbClr val="CEDBE4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9" name="Google Shape;1239;g3f723343625_0_364"/>
            <p:cNvCxnSpPr>
              <a:stCxn id="1231" idx="2"/>
              <a:endCxn id="1227" idx="6"/>
            </p:cNvCxnSpPr>
            <p:nvPr/>
          </p:nvCxnSpPr>
          <p:spPr>
            <a:xfrm flipH="1">
              <a:off x="6065510" y="2700999"/>
              <a:ext cx="1922700" cy="300"/>
            </a:xfrm>
            <a:prstGeom prst="straightConnector1">
              <a:avLst/>
            </a:prstGeom>
            <a:noFill/>
            <a:ln cap="flat" cmpd="sng" w="50800">
              <a:solidFill>
                <a:srgbClr val="CEDBE4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0" name="Google Shape;1240;g3f723343625_0_364"/>
            <p:cNvSpPr/>
            <p:nvPr/>
          </p:nvSpPr>
          <p:spPr>
            <a:xfrm>
              <a:off x="6429387" y="2107983"/>
              <a:ext cx="1199700" cy="1197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86600" lIns="86600" spcFirstLastPara="1" rIns="86600" wrap="square" tIns="86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"/>
                <a:buFont typeface="Arial"/>
                <a:buNone/>
              </a:pPr>
              <a:r>
                <a:t/>
              </a:r>
              <a:endParaRPr b="1" i="0" sz="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pic>
          <p:nvPicPr>
            <p:cNvPr id="1241" name="Google Shape;1241;g3f723343625_0_3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621254" y="2305463"/>
              <a:ext cx="791904" cy="790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g3f723343625_0_364"/>
            <p:cNvSpPr/>
            <p:nvPr/>
          </p:nvSpPr>
          <p:spPr>
            <a:xfrm>
              <a:off x="6748295" y="1156422"/>
              <a:ext cx="557700" cy="555600"/>
            </a:xfrm>
            <a:prstGeom prst="ellipse">
              <a:avLst/>
            </a:prstGeom>
            <a:solidFill>
              <a:srgbClr val="9999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5"/>
                <a:buFont typeface="Arial"/>
                <a:buNone/>
              </a:pPr>
              <a:r>
                <a:rPr b="1" i="0" lang="en" sz="675" u="none" cap="none" strike="noStrike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客户</a:t>
              </a:r>
              <a:endParaRPr b="1" i="0" sz="6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f723343625_0_501"/>
          <p:cNvSpPr/>
          <p:nvPr/>
        </p:nvSpPr>
        <p:spPr>
          <a:xfrm>
            <a:off x="4550465" y="3832974"/>
            <a:ext cx="3456900" cy="4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8" name="Google Shape;1248;g3f723343625_0_501"/>
          <p:cNvSpPr/>
          <p:nvPr/>
        </p:nvSpPr>
        <p:spPr>
          <a:xfrm>
            <a:off x="4613350" y="3884874"/>
            <a:ext cx="11883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3600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</a:t>
            </a:r>
            <a:b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工程</a:t>
            </a:r>
            <a:endParaRPr b="0" i="0" sz="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9" name="Google Shape;1249;g3f723343625_0_501"/>
          <p:cNvSpPr/>
          <p:nvPr/>
        </p:nvSpPr>
        <p:spPr>
          <a:xfrm>
            <a:off x="1010276" y="4320909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开放数据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0" name="Google Shape;1250;g3f723343625_0_501"/>
          <p:cNvSpPr/>
          <p:nvPr/>
        </p:nvSpPr>
        <p:spPr>
          <a:xfrm>
            <a:off x="2789039" y="4320909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授权数据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1" name="Google Shape;1251;g3f723343625_0_501"/>
          <p:cNvSpPr/>
          <p:nvPr/>
        </p:nvSpPr>
        <p:spPr>
          <a:xfrm>
            <a:off x="4550465" y="4320909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内部数据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2" name="Google Shape;1252;g3f723343625_0_501"/>
          <p:cNvSpPr/>
          <p:nvPr/>
        </p:nvSpPr>
        <p:spPr>
          <a:xfrm>
            <a:off x="6311892" y="4320910"/>
            <a:ext cx="1691400" cy="2721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6"/>
              <a:buFont typeface="Arial"/>
              <a:buNone/>
            </a:pPr>
            <a:r>
              <a:rPr b="1" i="0" lang="en" sz="976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多模态数据</a:t>
            </a:r>
            <a:endParaRPr b="1" i="0" sz="976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3" name="Google Shape;1253;g3f723343625_0_501"/>
          <p:cNvSpPr/>
          <p:nvPr/>
        </p:nvSpPr>
        <p:spPr>
          <a:xfrm>
            <a:off x="1010276" y="3832974"/>
            <a:ext cx="3456900" cy="4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4" name="Google Shape;1254;g3f723343625_0_501"/>
          <p:cNvSpPr/>
          <p:nvPr/>
        </p:nvSpPr>
        <p:spPr>
          <a:xfrm>
            <a:off x="1090125" y="3884874"/>
            <a:ext cx="11883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3960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数据流</a:t>
            </a:r>
            <a:b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&amp; 流处理</a:t>
            </a:r>
            <a:endParaRPr b="0" i="0" sz="7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55" name="Google Shape;1255;g3f723343625_0_5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975" y="3919636"/>
            <a:ext cx="309600" cy="3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g3f723343625_0_5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5046" y="3935861"/>
            <a:ext cx="226800" cy="22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7" name="Google Shape;1257;g3f723343625_0_501"/>
          <p:cNvSpPr/>
          <p:nvPr/>
        </p:nvSpPr>
        <p:spPr>
          <a:xfrm>
            <a:off x="1010276" y="2819147"/>
            <a:ext cx="6983700" cy="43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8" name="Google Shape;1258;g3f723343625_0_501"/>
          <p:cNvSpPr/>
          <p:nvPr/>
        </p:nvSpPr>
        <p:spPr>
          <a:xfrm>
            <a:off x="1090125" y="2878350"/>
            <a:ext cx="9123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ISO 20022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9" name="Google Shape;1259;g3f723343625_0_501"/>
          <p:cNvSpPr/>
          <p:nvPr/>
        </p:nvSpPr>
        <p:spPr>
          <a:xfrm>
            <a:off x="2067125" y="2878350"/>
            <a:ext cx="7422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LEI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0" name="Google Shape;1260;g3f723343625_0_501"/>
          <p:cNvSpPr/>
          <p:nvPr/>
        </p:nvSpPr>
        <p:spPr>
          <a:xfrm>
            <a:off x="2913101" y="2878350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SWIFT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1" name="Google Shape;1261;g3f723343625_0_501"/>
          <p:cNvSpPr/>
          <p:nvPr/>
        </p:nvSpPr>
        <p:spPr>
          <a:xfrm>
            <a:off x="3824583" y="2878350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MCC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2" name="Google Shape;1262;g3f723343625_0_501"/>
          <p:cNvSpPr/>
          <p:nvPr/>
        </p:nvSpPr>
        <p:spPr>
          <a:xfrm>
            <a:off x="4736065" y="2882757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OFAC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3" name="Google Shape;1263;g3f723343625_0_501"/>
          <p:cNvSpPr/>
          <p:nvPr/>
        </p:nvSpPr>
        <p:spPr>
          <a:xfrm>
            <a:off x="5647547" y="2886836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FIBO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4" name="Google Shape;1264;g3f723343625_0_501"/>
          <p:cNvSpPr/>
          <p:nvPr/>
        </p:nvSpPr>
        <p:spPr>
          <a:xfrm>
            <a:off x="6559028" y="2882756"/>
            <a:ext cx="807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6800" spcFirstLastPara="1" rIns="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" sz="7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自定义</a:t>
            </a:r>
            <a:endParaRPr b="1" i="0" sz="75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5" name="Google Shape;1265;g3f723343625_0_501"/>
          <p:cNvSpPr/>
          <p:nvPr/>
        </p:nvSpPr>
        <p:spPr>
          <a:xfrm>
            <a:off x="1010276" y="3326074"/>
            <a:ext cx="6983700" cy="432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6" name="Google Shape;1266;g3f723343625_0_501"/>
          <p:cNvSpPr/>
          <p:nvPr/>
        </p:nvSpPr>
        <p:spPr>
          <a:xfrm>
            <a:off x="1090125" y="3383800"/>
            <a:ext cx="1725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32000" spcFirstLastPara="1" rIns="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标准化表</a:t>
            </a:r>
            <a:endParaRPr b="1" i="0" sz="821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67" name="Google Shape;1267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4155" y="3402427"/>
            <a:ext cx="299242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g3f723343625_0_501"/>
          <p:cNvSpPr/>
          <p:nvPr/>
        </p:nvSpPr>
        <p:spPr>
          <a:xfrm>
            <a:off x="2910118" y="3383800"/>
            <a:ext cx="1725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32000" spcFirstLastPara="1" rIns="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实体解析表</a:t>
            </a:r>
            <a:endParaRPr b="1" i="0" sz="821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69" name="Google Shape;1269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1228" y="3402427"/>
            <a:ext cx="299242" cy="29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2667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g3f723343625_0_5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7128" y="2903750"/>
            <a:ext cx="263188" cy="262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15405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32350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4" name="Google Shape;1274;g3f723343625_0_5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1682" y="2912375"/>
            <a:ext cx="263188" cy="262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5" name="Google Shape;1275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53323" y="2912373"/>
            <a:ext cx="263188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6" name="Google Shape;1276;g3f723343625_0_50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3098" y="2912386"/>
            <a:ext cx="263188" cy="262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g3f723343625_0_501"/>
          <p:cNvSpPr/>
          <p:nvPr/>
        </p:nvSpPr>
        <p:spPr>
          <a:xfrm>
            <a:off x="4730110" y="3383800"/>
            <a:ext cx="1725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432000" spcFirstLastPara="1" rIns="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1"/>
              <a:buFont typeface="Arial"/>
              <a:buNone/>
            </a:pPr>
            <a:r>
              <a:rPr b="1" i="0" lang="en" sz="821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暂存表 </a:t>
            </a:r>
            <a:endParaRPr b="1" i="0" sz="821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78" name="Google Shape;1278;g3f723343625_0_5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8200" y="3402427"/>
            <a:ext cx="299242" cy="29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9" name="Google Shape;1279;g3f723343625_0_501"/>
          <p:cNvSpPr/>
          <p:nvPr/>
        </p:nvSpPr>
        <p:spPr>
          <a:xfrm>
            <a:off x="1010276" y="738700"/>
            <a:ext cx="6984000" cy="432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2"/>
              <a:buFont typeface="Arial"/>
              <a:buNone/>
            </a:pPr>
            <a:r>
              <a:t/>
            </a:r>
            <a:endParaRPr b="0" i="0" sz="1242" u="none" cap="none" strike="noStrike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0" name="Google Shape;1280;g3f723343625_0_501"/>
          <p:cNvSpPr/>
          <p:nvPr/>
        </p:nvSpPr>
        <p:spPr>
          <a:xfrm>
            <a:off x="1090137" y="792046"/>
            <a:ext cx="1530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图数据科学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图神经网络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81" name="Google Shape;1281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19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g3f723343625_0_501"/>
          <p:cNvSpPr/>
          <p:nvPr/>
        </p:nvSpPr>
        <p:spPr>
          <a:xfrm>
            <a:off x="2851208" y="792046"/>
            <a:ext cx="1530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28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语义搜索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 Graph-RAG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3" name="Google Shape;1283;g3f723343625_0_501"/>
          <p:cNvSpPr/>
          <p:nvPr/>
        </p:nvSpPr>
        <p:spPr>
          <a:xfrm>
            <a:off x="4612280" y="792046"/>
            <a:ext cx="1530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1188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智能体工作流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Agent Studio    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4" name="Google Shape;1284;g3f723343625_0_501"/>
          <p:cNvSpPr/>
          <p:nvPr/>
        </p:nvSpPr>
        <p:spPr>
          <a:xfrm>
            <a:off x="6373951" y="792046"/>
            <a:ext cx="15306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118800" spcFirstLastPara="1" rIns="81100" wrap="square" tIns="81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欺诈团伙检测</a:t>
            </a:r>
            <a:b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</a:br>
            <a:r>
              <a:rPr b="1" i="0" lang="en" sz="71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     AML筛查  </a:t>
            </a:r>
            <a:endParaRPr b="1" i="0" sz="71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5" name="Google Shape;1285;g3f723343625_0_501"/>
          <p:cNvSpPr/>
          <p:nvPr/>
        </p:nvSpPr>
        <p:spPr>
          <a:xfrm>
            <a:off x="2368099" y="3884874"/>
            <a:ext cx="20130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Arial"/>
              <a:buNone/>
            </a:pPr>
            <a:r>
              <a:t/>
            </a:r>
            <a:endParaRPr b="1" i="0" sz="621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86" name="Google Shape;1286;g3f723343625_0_50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93383" y="3935643"/>
            <a:ext cx="227100" cy="22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g3f723343625_0_50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48029" y="3970509"/>
            <a:ext cx="374774" cy="157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g3f723343625_0_501"/>
          <p:cNvPicPr preferRelativeResize="0"/>
          <p:nvPr/>
        </p:nvPicPr>
        <p:blipFill rotWithShape="1">
          <a:blip r:embed="rId11">
            <a:alphaModFix/>
          </a:blip>
          <a:srcRect b="0" l="-1393" r="-254" t="-2596"/>
          <a:stretch/>
        </p:blipFill>
        <p:spPr>
          <a:xfrm>
            <a:off x="3209465" y="3943127"/>
            <a:ext cx="453904" cy="212131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g3f723343625_0_501"/>
          <p:cNvSpPr/>
          <p:nvPr/>
        </p:nvSpPr>
        <p:spPr>
          <a:xfrm>
            <a:off x="5893975" y="3884875"/>
            <a:ext cx="2045700" cy="32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81100" lIns="81100" spcFirstLastPara="1" rIns="81100" wrap="square" tIns="81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1"/>
              <a:buFont typeface="Arial"/>
              <a:buNone/>
            </a:pPr>
            <a:r>
              <a:t/>
            </a:r>
            <a:endParaRPr b="1" i="0" sz="621" u="none" cap="none" strike="noStrike">
              <a:solidFill>
                <a:schemeClr val="accen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90" name="Google Shape;1290;g3f723343625_0_501"/>
          <p:cNvPicPr preferRelativeResize="0"/>
          <p:nvPr/>
        </p:nvPicPr>
        <p:blipFill rotWithShape="1">
          <a:blip r:embed="rId12">
            <a:alphaModFix/>
          </a:blip>
          <a:srcRect b="130" l="0" r="0" t="130"/>
          <a:stretch/>
        </p:blipFill>
        <p:spPr>
          <a:xfrm>
            <a:off x="6241315" y="3952892"/>
            <a:ext cx="418077" cy="216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1" name="Google Shape;1291;g3f723343625_0_50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99077" y="3951515"/>
            <a:ext cx="570372" cy="219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2" name="Google Shape;1292;g3f723343625_0_501"/>
          <p:cNvCxnSpPr>
            <a:stCxn id="1253" idx="1"/>
          </p:cNvCxnSpPr>
          <p:nvPr/>
        </p:nvCxnSpPr>
        <p:spPr>
          <a:xfrm flipH="1" rot="10800000">
            <a:off x="1010276" y="2401374"/>
            <a:ext cx="1874400" cy="1647600"/>
          </a:xfrm>
          <a:prstGeom prst="bentConnector3">
            <a:avLst>
              <a:gd fmla="val -12704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3" name="Google Shape;1293;g3f723343625_0_501"/>
          <p:cNvSpPr txBox="1"/>
          <p:nvPr>
            <p:ph idx="4294967295" type="title"/>
          </p:nvPr>
        </p:nvSpPr>
        <p:spPr>
          <a:xfrm>
            <a:off x="530350" y="292608"/>
            <a:ext cx="80982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从原始数据到AI赋能的金融犯罪检测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4" name="Google Shape;1294;g3f723343625_0_501"/>
          <p:cNvSpPr txBox="1"/>
          <p:nvPr/>
        </p:nvSpPr>
        <p:spPr>
          <a:xfrm>
            <a:off x="872545" y="2105719"/>
            <a:ext cx="19050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图数据接入处理器</a:t>
            </a:r>
            <a:endParaRPr b="1" i="0" sz="900" u="none" cap="none" strike="noStrike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295" name="Google Shape;1295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8792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65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g3f723343625_0_50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3886" y="803050"/>
            <a:ext cx="306200" cy="3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g3f723343625_0_501" title="Asset 1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49775" y="2888685"/>
            <a:ext cx="306199" cy="3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9" name="Google Shape;1299;g3f723343625_0_501" title="Asset 1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549775" y="3390697"/>
            <a:ext cx="306199" cy="3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0" name="Google Shape;1300;g3f723343625_0_501" title="Asset 5.png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05149" y="3447435"/>
            <a:ext cx="378076" cy="21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1" name="Google Shape;1301;g3f723343625_0_501" title="Data lineage@2x.png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122132" y="3428393"/>
            <a:ext cx="288729" cy="2566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2" name="Google Shape;1302;g3f723343625_0_501"/>
          <p:cNvGrpSpPr/>
          <p:nvPr/>
        </p:nvGrpSpPr>
        <p:grpSpPr>
          <a:xfrm>
            <a:off x="3905501" y="1391621"/>
            <a:ext cx="1328350" cy="1236075"/>
            <a:chOff x="3900850" y="1375650"/>
            <a:chExt cx="1328350" cy="1236075"/>
          </a:xfrm>
        </p:grpSpPr>
        <p:cxnSp>
          <p:nvCxnSpPr>
            <p:cNvPr id="1303" name="Google Shape;1303;g3f723343625_0_501"/>
            <p:cNvCxnSpPr/>
            <p:nvPr/>
          </p:nvCxnSpPr>
          <p:spPr>
            <a:xfrm flipH="1">
              <a:off x="4250825" y="1375650"/>
              <a:ext cx="291300" cy="32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4" name="Google Shape;1304;g3f723343625_0_501"/>
            <p:cNvCxnSpPr/>
            <p:nvPr/>
          </p:nvCxnSpPr>
          <p:spPr>
            <a:xfrm flipH="1">
              <a:off x="3900850" y="1718775"/>
              <a:ext cx="329100" cy="254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5" name="Google Shape;1305;g3f723343625_0_501"/>
            <p:cNvCxnSpPr/>
            <p:nvPr/>
          </p:nvCxnSpPr>
          <p:spPr>
            <a:xfrm>
              <a:off x="4058125" y="1521875"/>
              <a:ext cx="315300" cy="56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6" name="Google Shape;1306;g3f723343625_0_501"/>
            <p:cNvCxnSpPr/>
            <p:nvPr/>
          </p:nvCxnSpPr>
          <p:spPr>
            <a:xfrm>
              <a:off x="4071850" y="1558150"/>
              <a:ext cx="47100" cy="251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7" name="Google Shape;1307;g3f723343625_0_501"/>
            <p:cNvCxnSpPr/>
            <p:nvPr/>
          </p:nvCxnSpPr>
          <p:spPr>
            <a:xfrm>
              <a:off x="4095400" y="1545175"/>
              <a:ext cx="167400" cy="175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8" name="Google Shape;1308;g3f723343625_0_501"/>
            <p:cNvCxnSpPr/>
            <p:nvPr/>
          </p:nvCxnSpPr>
          <p:spPr>
            <a:xfrm>
              <a:off x="4293575" y="1751925"/>
              <a:ext cx="205800" cy="188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9" name="Google Shape;1309;g3f723343625_0_501"/>
            <p:cNvCxnSpPr/>
            <p:nvPr/>
          </p:nvCxnSpPr>
          <p:spPr>
            <a:xfrm>
              <a:off x="4646575" y="2072625"/>
              <a:ext cx="205800" cy="188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0" name="Google Shape;1310;g3f723343625_0_501"/>
            <p:cNvCxnSpPr/>
            <p:nvPr/>
          </p:nvCxnSpPr>
          <p:spPr>
            <a:xfrm>
              <a:off x="4923625" y="2329450"/>
              <a:ext cx="110100" cy="117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1" name="Google Shape;1311;g3f723343625_0_501"/>
            <p:cNvCxnSpPr/>
            <p:nvPr/>
          </p:nvCxnSpPr>
          <p:spPr>
            <a:xfrm>
              <a:off x="4124525" y="1841850"/>
              <a:ext cx="111300" cy="403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2" name="Google Shape;1312;g3f723343625_0_501"/>
            <p:cNvCxnSpPr/>
            <p:nvPr/>
          </p:nvCxnSpPr>
          <p:spPr>
            <a:xfrm rot="10800000">
              <a:off x="4140025" y="1822450"/>
              <a:ext cx="346800" cy="14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3" name="Google Shape;1313;g3f723343625_0_501"/>
            <p:cNvCxnSpPr/>
            <p:nvPr/>
          </p:nvCxnSpPr>
          <p:spPr>
            <a:xfrm flipH="1" rot="10800000">
              <a:off x="3923350" y="1879775"/>
              <a:ext cx="284100" cy="102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4" name="Google Shape;1314;g3f723343625_0_501"/>
            <p:cNvCxnSpPr/>
            <p:nvPr/>
          </p:nvCxnSpPr>
          <p:spPr>
            <a:xfrm flipH="1">
              <a:off x="4124950" y="1775625"/>
              <a:ext cx="108900" cy="409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5" name="Google Shape;1315;g3f723343625_0_501"/>
            <p:cNvCxnSpPr/>
            <p:nvPr/>
          </p:nvCxnSpPr>
          <p:spPr>
            <a:xfrm>
              <a:off x="3917125" y="2040275"/>
              <a:ext cx="517800" cy="183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6" name="Google Shape;1316;g3f723343625_0_501"/>
            <p:cNvCxnSpPr/>
            <p:nvPr/>
          </p:nvCxnSpPr>
          <p:spPr>
            <a:xfrm>
              <a:off x="4428849" y="2220640"/>
              <a:ext cx="331200" cy="205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7" name="Google Shape;1317;g3f723343625_0_501"/>
            <p:cNvCxnSpPr/>
            <p:nvPr/>
          </p:nvCxnSpPr>
          <p:spPr>
            <a:xfrm flipH="1">
              <a:off x="4155150" y="1610025"/>
              <a:ext cx="583800" cy="456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8" name="Google Shape;1318;g3f723343625_0_501"/>
            <p:cNvCxnSpPr/>
            <p:nvPr/>
          </p:nvCxnSpPr>
          <p:spPr>
            <a:xfrm>
              <a:off x="4404025" y="1592625"/>
              <a:ext cx="308400" cy="201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9" name="Google Shape;1319;g3f723343625_0_501"/>
            <p:cNvCxnSpPr/>
            <p:nvPr/>
          </p:nvCxnSpPr>
          <p:spPr>
            <a:xfrm>
              <a:off x="4709025" y="1792625"/>
              <a:ext cx="511800" cy="179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0" name="Google Shape;1320;g3f723343625_0_501"/>
            <p:cNvCxnSpPr/>
            <p:nvPr/>
          </p:nvCxnSpPr>
          <p:spPr>
            <a:xfrm>
              <a:off x="3919325" y="2048425"/>
              <a:ext cx="195000" cy="152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1" name="Google Shape;1321;g3f723343625_0_501"/>
            <p:cNvCxnSpPr/>
            <p:nvPr/>
          </p:nvCxnSpPr>
          <p:spPr>
            <a:xfrm flipH="1">
              <a:off x="4083350" y="2229475"/>
              <a:ext cx="26700" cy="208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2" name="Google Shape;1322;g3f723343625_0_501"/>
            <p:cNvCxnSpPr/>
            <p:nvPr/>
          </p:nvCxnSpPr>
          <p:spPr>
            <a:xfrm flipH="1" rot="10800000">
              <a:off x="4283150" y="2074275"/>
              <a:ext cx="201900" cy="19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3" name="Google Shape;1323;g3f723343625_0_501"/>
            <p:cNvCxnSpPr/>
            <p:nvPr/>
          </p:nvCxnSpPr>
          <p:spPr>
            <a:xfrm flipH="1" rot="10800000">
              <a:off x="4106425" y="2337350"/>
              <a:ext cx="116100" cy="1146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4" name="Google Shape;1324;g3f723343625_0_501"/>
            <p:cNvCxnSpPr/>
            <p:nvPr/>
          </p:nvCxnSpPr>
          <p:spPr>
            <a:xfrm flipH="1" rot="10800000">
              <a:off x="4654413" y="1734150"/>
              <a:ext cx="201900" cy="19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5" name="Google Shape;1325;g3f723343625_0_501"/>
            <p:cNvCxnSpPr/>
            <p:nvPr/>
          </p:nvCxnSpPr>
          <p:spPr>
            <a:xfrm flipH="1" rot="10800000">
              <a:off x="4919400" y="1544075"/>
              <a:ext cx="113400" cy="120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6" name="Google Shape;1326;g3f723343625_0_501"/>
            <p:cNvCxnSpPr/>
            <p:nvPr/>
          </p:nvCxnSpPr>
          <p:spPr>
            <a:xfrm flipH="1">
              <a:off x="4308250" y="1525850"/>
              <a:ext cx="723300" cy="172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7" name="Google Shape;1327;g3f723343625_0_501"/>
            <p:cNvCxnSpPr/>
            <p:nvPr/>
          </p:nvCxnSpPr>
          <p:spPr>
            <a:xfrm rot="10800000">
              <a:off x="4571100" y="1405925"/>
              <a:ext cx="0" cy="1193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8" name="Google Shape;1328;g3f723343625_0_501"/>
            <p:cNvCxnSpPr/>
            <p:nvPr/>
          </p:nvCxnSpPr>
          <p:spPr>
            <a:xfrm flipH="1">
              <a:off x="4404000" y="1962550"/>
              <a:ext cx="561900" cy="432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9" name="Google Shape;1329;g3f723343625_0_501"/>
            <p:cNvCxnSpPr/>
            <p:nvPr/>
          </p:nvCxnSpPr>
          <p:spPr>
            <a:xfrm flipH="1" rot="10800000">
              <a:off x="4124950" y="2304525"/>
              <a:ext cx="698100" cy="166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0" name="Google Shape;1330;g3f723343625_0_501"/>
            <p:cNvCxnSpPr/>
            <p:nvPr/>
          </p:nvCxnSpPr>
          <p:spPr>
            <a:xfrm flipH="1" rot="10800000">
              <a:off x="4613625" y="2349300"/>
              <a:ext cx="224400" cy="260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1" name="Google Shape;1331;g3f723343625_0_501"/>
            <p:cNvCxnSpPr/>
            <p:nvPr/>
          </p:nvCxnSpPr>
          <p:spPr>
            <a:xfrm rot="10800000">
              <a:off x="4392725" y="2441925"/>
              <a:ext cx="130200" cy="169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2" name="Google Shape;1332;g3f723343625_0_501"/>
            <p:cNvCxnSpPr/>
            <p:nvPr/>
          </p:nvCxnSpPr>
          <p:spPr>
            <a:xfrm rot="10800000">
              <a:off x="4283100" y="2338925"/>
              <a:ext cx="73500" cy="77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3" name="Google Shape;1333;g3f723343625_0_501"/>
            <p:cNvCxnSpPr/>
            <p:nvPr/>
          </p:nvCxnSpPr>
          <p:spPr>
            <a:xfrm rot="10800000">
              <a:off x="4136150" y="2212800"/>
              <a:ext cx="66000" cy="47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4" name="Google Shape;1334;g3f723343625_0_501"/>
            <p:cNvCxnSpPr/>
            <p:nvPr/>
          </p:nvCxnSpPr>
          <p:spPr>
            <a:xfrm>
              <a:off x="4677225" y="2042050"/>
              <a:ext cx="347100" cy="126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5" name="Google Shape;1335;g3f723343625_0_501"/>
            <p:cNvCxnSpPr/>
            <p:nvPr/>
          </p:nvCxnSpPr>
          <p:spPr>
            <a:xfrm flipH="1" rot="10800000">
              <a:off x="4941400" y="2034025"/>
              <a:ext cx="262500" cy="1032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6" name="Google Shape;1336;g3f723343625_0_501"/>
            <p:cNvCxnSpPr/>
            <p:nvPr/>
          </p:nvCxnSpPr>
          <p:spPr>
            <a:xfrm flipH="1" rot="10800000">
              <a:off x="5064575" y="2052325"/>
              <a:ext cx="147300" cy="112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7" name="Google Shape;1337;g3f723343625_0_501"/>
            <p:cNvCxnSpPr/>
            <p:nvPr/>
          </p:nvCxnSpPr>
          <p:spPr>
            <a:xfrm flipH="1" rot="10800000">
              <a:off x="4940050" y="2209350"/>
              <a:ext cx="59700" cy="42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8" name="Google Shape;1338;g3f723343625_0_501"/>
            <p:cNvCxnSpPr/>
            <p:nvPr/>
          </p:nvCxnSpPr>
          <p:spPr>
            <a:xfrm rot="10800000">
              <a:off x="4907875" y="1767075"/>
              <a:ext cx="109800" cy="3897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9" name="Google Shape;1339;g3f723343625_0_501"/>
            <p:cNvCxnSpPr/>
            <p:nvPr/>
          </p:nvCxnSpPr>
          <p:spPr>
            <a:xfrm rot="10800000">
              <a:off x="5029650" y="2230525"/>
              <a:ext cx="31500" cy="204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0" name="Google Shape;1340;g3f723343625_0_501"/>
            <p:cNvCxnSpPr/>
            <p:nvPr/>
          </p:nvCxnSpPr>
          <p:spPr>
            <a:xfrm>
              <a:off x="4930400" y="1741350"/>
              <a:ext cx="298800" cy="222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1" name="Google Shape;1341;g3f723343625_0_501"/>
            <p:cNvCxnSpPr/>
            <p:nvPr/>
          </p:nvCxnSpPr>
          <p:spPr>
            <a:xfrm flipH="1">
              <a:off x="5022500" y="1566175"/>
              <a:ext cx="32700" cy="223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2" name="Google Shape;1342;g3f723343625_0_501"/>
            <p:cNvCxnSpPr/>
            <p:nvPr/>
          </p:nvCxnSpPr>
          <p:spPr>
            <a:xfrm flipH="1">
              <a:off x="4906175" y="1850175"/>
              <a:ext cx="104400" cy="378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3" name="Google Shape;1343;g3f723343625_0_501"/>
            <p:cNvCxnSpPr/>
            <p:nvPr/>
          </p:nvCxnSpPr>
          <p:spPr>
            <a:xfrm>
              <a:off x="4626050" y="1408400"/>
              <a:ext cx="219900" cy="252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4" name="Google Shape;1344;g3f723343625_0_501"/>
            <p:cNvCxnSpPr/>
            <p:nvPr/>
          </p:nvCxnSpPr>
          <p:spPr>
            <a:xfrm>
              <a:off x="4610500" y="1408900"/>
              <a:ext cx="116100" cy="2139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5" name="Google Shape;1345;g3f723343625_0_501"/>
            <p:cNvCxnSpPr/>
            <p:nvPr/>
          </p:nvCxnSpPr>
          <p:spPr>
            <a:xfrm>
              <a:off x="4717600" y="1624700"/>
              <a:ext cx="149400" cy="602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6" name="Google Shape;1346;g3f723343625_0_501"/>
          <p:cNvSpPr/>
          <p:nvPr/>
        </p:nvSpPr>
        <p:spPr>
          <a:xfrm>
            <a:off x="4489534" y="1270560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7" name="Google Shape;1347;g3f723343625_0_501"/>
          <p:cNvSpPr/>
          <p:nvPr/>
        </p:nvSpPr>
        <p:spPr>
          <a:xfrm>
            <a:off x="5186839" y="1924122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8" name="Google Shape;1348;g3f723343625_0_501"/>
          <p:cNvSpPr/>
          <p:nvPr/>
        </p:nvSpPr>
        <p:spPr>
          <a:xfrm>
            <a:off x="4486559" y="2575060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49" name="Google Shape;1349;g3f723343625_0_501"/>
          <p:cNvSpPr/>
          <p:nvPr/>
        </p:nvSpPr>
        <p:spPr>
          <a:xfrm>
            <a:off x="3783951" y="1924122"/>
            <a:ext cx="180300" cy="180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0" name="Google Shape;1350;g3f723343625_0_501"/>
          <p:cNvSpPr/>
          <p:nvPr/>
        </p:nvSpPr>
        <p:spPr>
          <a:xfrm>
            <a:off x="4007584" y="1464372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1" name="Google Shape;1351;g3f723343625_0_501"/>
          <p:cNvSpPr/>
          <p:nvPr/>
        </p:nvSpPr>
        <p:spPr>
          <a:xfrm>
            <a:off x="4997341" y="1464372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2" name="Google Shape;1352;g3f723343625_0_501"/>
          <p:cNvSpPr/>
          <p:nvPr/>
        </p:nvSpPr>
        <p:spPr>
          <a:xfrm>
            <a:off x="4013709" y="2429222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3" name="Google Shape;1353;g3f723343625_0_501"/>
          <p:cNvSpPr/>
          <p:nvPr/>
        </p:nvSpPr>
        <p:spPr>
          <a:xfrm>
            <a:off x="4998109" y="2427735"/>
            <a:ext cx="136800" cy="136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4" name="Google Shape;1354;g3f723343625_0_501"/>
          <p:cNvSpPr/>
          <p:nvPr/>
        </p:nvSpPr>
        <p:spPr>
          <a:xfrm>
            <a:off x="4173634" y="1638635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5" name="Google Shape;1355;g3f723343625_0_501"/>
          <p:cNvSpPr/>
          <p:nvPr/>
        </p:nvSpPr>
        <p:spPr>
          <a:xfrm>
            <a:off x="4805959" y="2223797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6" name="Google Shape;1356;g3f723343625_0_501"/>
          <p:cNvSpPr/>
          <p:nvPr/>
        </p:nvSpPr>
        <p:spPr>
          <a:xfrm rot="-5400000">
            <a:off x="4173639" y="2223700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7" name="Google Shape;1357;g3f723343625_0_501"/>
          <p:cNvSpPr/>
          <p:nvPr/>
        </p:nvSpPr>
        <p:spPr>
          <a:xfrm rot="-5400000">
            <a:off x="4805952" y="1631807"/>
            <a:ext cx="172800" cy="172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8" name="Google Shape;1358;g3f723343625_0_501"/>
          <p:cNvSpPr/>
          <p:nvPr/>
        </p:nvSpPr>
        <p:spPr>
          <a:xfrm rot="-5400000">
            <a:off x="4436301" y="1872550"/>
            <a:ext cx="280800" cy="28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59" name="Google Shape;1359;g3f723343625_0_501"/>
          <p:cNvSpPr/>
          <p:nvPr/>
        </p:nvSpPr>
        <p:spPr>
          <a:xfrm>
            <a:off x="4327729" y="1536736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0" name="Google Shape;1360;g3f723343625_0_501"/>
          <p:cNvSpPr/>
          <p:nvPr/>
        </p:nvSpPr>
        <p:spPr>
          <a:xfrm>
            <a:off x="4333969" y="2375383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1" name="Google Shape;1361;g3f723343625_0_501"/>
          <p:cNvSpPr/>
          <p:nvPr/>
        </p:nvSpPr>
        <p:spPr>
          <a:xfrm>
            <a:off x="4068181" y="1770998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2" name="Google Shape;1362;g3f723343625_0_501"/>
          <p:cNvSpPr/>
          <p:nvPr/>
        </p:nvSpPr>
        <p:spPr>
          <a:xfrm>
            <a:off x="4064848" y="2164893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3" name="Google Shape;1363;g3f723343625_0_501"/>
          <p:cNvSpPr/>
          <p:nvPr/>
        </p:nvSpPr>
        <p:spPr>
          <a:xfrm>
            <a:off x="4982587" y="1780420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4" name="Google Shape;1364;g3f723343625_0_501"/>
          <p:cNvSpPr/>
          <p:nvPr/>
        </p:nvSpPr>
        <p:spPr>
          <a:xfrm>
            <a:off x="4987175" y="2153367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5" name="Google Shape;1365;g3f723343625_0_501"/>
          <p:cNvSpPr/>
          <p:nvPr/>
        </p:nvSpPr>
        <p:spPr>
          <a:xfrm>
            <a:off x="4717100" y="1555344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66" name="Google Shape;1366;g3f723343625_0_501"/>
          <p:cNvSpPr/>
          <p:nvPr/>
        </p:nvSpPr>
        <p:spPr>
          <a:xfrm>
            <a:off x="4724150" y="2391466"/>
            <a:ext cx="100800" cy="1008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367" name="Google Shape;1367;g3f723343625_0_501"/>
          <p:cNvGrpSpPr/>
          <p:nvPr/>
        </p:nvGrpSpPr>
        <p:grpSpPr>
          <a:xfrm>
            <a:off x="3231875" y="1274174"/>
            <a:ext cx="3010125" cy="1461126"/>
            <a:chOff x="3231875" y="1260063"/>
            <a:chExt cx="3010125" cy="1461126"/>
          </a:xfrm>
        </p:grpSpPr>
        <p:sp>
          <p:nvSpPr>
            <p:cNvPr id="1368" name="Google Shape;1368;g3f723343625_0_501"/>
            <p:cNvSpPr txBox="1"/>
            <p:nvPr/>
          </p:nvSpPr>
          <p:spPr>
            <a:xfrm>
              <a:off x="5403200" y="1944514"/>
              <a:ext cx="8388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交易对手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9" name="Google Shape;1369;g3f723343625_0_501"/>
            <p:cNvSpPr txBox="1"/>
            <p:nvPr/>
          </p:nvSpPr>
          <p:spPr>
            <a:xfrm>
              <a:off x="5161637" y="2436115"/>
              <a:ext cx="4539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预警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0" name="Google Shape;1370;g3f723343625_0_501"/>
            <p:cNvSpPr txBox="1"/>
            <p:nvPr/>
          </p:nvSpPr>
          <p:spPr>
            <a:xfrm>
              <a:off x="5175183" y="1468463"/>
              <a:ext cx="7188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交易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1" name="Google Shape;1371;g3f723343625_0_501"/>
            <p:cNvSpPr txBox="1"/>
            <p:nvPr/>
          </p:nvSpPr>
          <p:spPr>
            <a:xfrm>
              <a:off x="4705033" y="2620389"/>
              <a:ext cx="3063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关联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2" name="Google Shape;1372;g3f723343625_0_501"/>
            <p:cNvSpPr txBox="1"/>
            <p:nvPr/>
          </p:nvSpPr>
          <p:spPr>
            <a:xfrm>
              <a:off x="3525850" y="1464901"/>
              <a:ext cx="513300" cy="13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账户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3" name="Google Shape;1373;g3f723343625_0_501"/>
            <p:cNvSpPr txBox="1"/>
            <p:nvPr/>
          </p:nvSpPr>
          <p:spPr>
            <a:xfrm>
              <a:off x="3231875" y="1944514"/>
              <a:ext cx="5133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商户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4" name="Google Shape;1374;g3f723343625_0_501"/>
            <p:cNvSpPr txBox="1"/>
            <p:nvPr/>
          </p:nvSpPr>
          <p:spPr>
            <a:xfrm>
              <a:off x="3616651" y="2433912"/>
              <a:ext cx="3747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设备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75" name="Google Shape;1375;g3f723343625_0_501"/>
            <p:cNvSpPr txBox="1"/>
            <p:nvPr/>
          </p:nvSpPr>
          <p:spPr>
            <a:xfrm>
              <a:off x="4705025" y="1260063"/>
              <a:ext cx="570300" cy="10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n" sz="700" u="none" cap="none" strike="noStrike">
                  <a:solidFill>
                    <a:schemeClr val="dk1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客户</a:t>
              </a:r>
              <a:endParaRPr b="1" i="0" sz="7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1376" name="Google Shape;1376;g3f723343625_0_501"/>
          <p:cNvSpPr/>
          <p:nvPr/>
        </p:nvSpPr>
        <p:spPr>
          <a:xfrm>
            <a:off x="1002325" y="4684675"/>
            <a:ext cx="699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" sz="11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 + Applied AI协同：从原始数据 → 生产级金融犯罪检测AI 实际所需的一切。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20"/>
          <p:cNvSpPr txBox="1"/>
          <p:nvPr>
            <p:ph type="title"/>
          </p:nvPr>
        </p:nvSpPr>
        <p:spPr>
          <a:xfrm>
            <a:off x="533400" y="292608"/>
            <a:ext cx="81978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Applied AI：共建平台，而非仅交付方案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83" name="Google Shape;1383;p20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前沿部署工程：Applied AI工程师与您的集中式AI团队并肩作战，聚焦两大方向。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384" name="Google Shape;1384;p20"/>
          <p:cNvSpPr/>
          <p:nvPr/>
        </p:nvSpPr>
        <p:spPr>
          <a:xfrm>
            <a:off x="566925" y="1580000"/>
            <a:ext cx="3905000" cy="220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20"/>
          <p:cNvSpPr/>
          <p:nvPr/>
        </p:nvSpPr>
        <p:spPr>
          <a:xfrm>
            <a:off x="566928" y="1580006"/>
            <a:ext cx="3905000" cy="456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20"/>
          <p:cNvSpPr/>
          <p:nvPr/>
        </p:nvSpPr>
        <p:spPr>
          <a:xfrm>
            <a:off x="786925" y="1760000"/>
            <a:ext cx="3465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基于您数据的业务解决方案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20"/>
          <p:cNvSpPr/>
          <p:nvPr/>
        </p:nvSpPr>
        <p:spPr>
          <a:xfrm>
            <a:off x="786925" y="2200000"/>
            <a:ext cx="3465000" cy="1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金融犯罪检测：图 + 智能体，运行于Lakehouse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资金来源报告：10天 → 缩短至1小时以内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具备记忆能力的银行聊天机器人：本地部署，数据自主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EE5A2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高ROI问题 → 落地私有AI解决方案。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20"/>
          <p:cNvSpPr/>
          <p:nvPr/>
        </p:nvSpPr>
        <p:spPr>
          <a:xfrm>
            <a:off x="4670925" y="1580000"/>
            <a:ext cx="3905000" cy="220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9" name="Google Shape;1389;p20"/>
          <p:cNvSpPr/>
          <p:nvPr/>
        </p:nvSpPr>
        <p:spPr>
          <a:xfrm>
            <a:off x="4670928" y="1580006"/>
            <a:ext cx="3905000" cy="456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20"/>
          <p:cNvSpPr/>
          <p:nvPr/>
        </p:nvSpPr>
        <p:spPr>
          <a:xfrm>
            <a:off x="4890925" y="1760000"/>
            <a:ext cx="3465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平台工具共建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1" name="Google Shape;1391;p20"/>
          <p:cNvSpPr/>
          <p:nvPr/>
        </p:nvSpPr>
        <p:spPr>
          <a:xfrm>
            <a:off x="4890925" y="2200000"/>
            <a:ext cx="3465000" cy="14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 &amp; 本体层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集中式VectorDB &amp; 智能体记忆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MCP网关 &amp; 新MCP服务器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智能体自我演进工具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" sz="950" u="none" cap="none" strike="noStrike">
                <a:solidFill>
                  <a:srgbClr val="4F4FF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DBS IT希望自主掌控的前沿模块。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20"/>
          <p:cNvSpPr/>
          <p:nvPr/>
        </p:nvSpPr>
        <p:spPr>
          <a:xfrm>
            <a:off x="566928" y="430334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当方案基于您的数据，当基础设施本身需要演进时，Applied AI与您共建。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7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共建1：知识 &amp; 本体层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98" name="Google Shape;1398;p17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现状：CAI尚无内置本体、知识图谱或领域推理层。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399" name="Google Shape;1399;p17"/>
          <p:cNvSpPr/>
          <p:nvPr/>
        </p:nvSpPr>
        <p:spPr>
          <a:xfrm>
            <a:off x="566925" y="162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CAI现状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17"/>
          <p:cNvSpPr/>
          <p:nvPr/>
        </p:nvSpPr>
        <p:spPr>
          <a:xfrm>
            <a:off x="566925" y="19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6F6F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智能体仅能基于非结构化文本推理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01" name="Google Shape;1401;p17"/>
          <p:cNvSpPr/>
          <p:nvPr/>
        </p:nvSpPr>
        <p:spPr>
          <a:xfrm>
            <a:off x="1697900" y="2900000"/>
            <a:ext cx="240000" cy="24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7"/>
          <p:cNvSpPr/>
          <p:nvPr/>
        </p:nvSpPr>
        <p:spPr>
          <a:xfrm>
            <a:off x="566925" y="32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DED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实体关联靠猜测 · 监管精度不足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03" name="Google Shape;1403;p17"/>
          <p:cNvSpPr/>
          <p:nvPr/>
        </p:nvSpPr>
        <p:spPr>
          <a:xfrm>
            <a:off x="3220000" y="2650000"/>
            <a:ext cx="4800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17"/>
          <p:cNvSpPr/>
          <p:nvPr/>
        </p:nvSpPr>
        <p:spPr>
          <a:xfrm>
            <a:off x="3860000" y="162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17"/>
          <p:cNvSpPr/>
          <p:nvPr/>
        </p:nvSpPr>
        <p:spPr>
          <a:xfrm>
            <a:off x="3860000" y="162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7"/>
          <p:cNvSpPr/>
          <p:nvPr/>
        </p:nvSpPr>
        <p:spPr>
          <a:xfrm>
            <a:off x="4020000" y="170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实体解析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07" name="Google Shape;1407;p17"/>
          <p:cNvSpPr/>
          <p:nvPr/>
        </p:nvSpPr>
        <p:spPr>
          <a:xfrm>
            <a:off x="4020000" y="202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在Lakehouse中消除同名账户 &amp; 交易对手的歧义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08" name="Google Shape;1408;p17"/>
          <p:cNvSpPr/>
          <p:nvPr/>
        </p:nvSpPr>
        <p:spPr>
          <a:xfrm>
            <a:off x="3860000" y="258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9" name="Google Shape;1409;p17"/>
          <p:cNvSpPr/>
          <p:nvPr/>
        </p:nvSpPr>
        <p:spPr>
          <a:xfrm>
            <a:off x="3860000" y="2580000"/>
            <a:ext cx="54900" cy="83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0" name="Google Shape;1410;p17"/>
          <p:cNvSpPr/>
          <p:nvPr/>
        </p:nvSpPr>
        <p:spPr>
          <a:xfrm>
            <a:off x="4020000" y="266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知识图谱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11" name="Google Shape;1411;p17"/>
          <p:cNvSpPr/>
          <p:nvPr/>
        </p:nvSpPr>
        <p:spPr>
          <a:xfrm>
            <a:off x="4020000" y="298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映射交易、实体与预警之间的关系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12" name="Google Shape;1412;p17"/>
          <p:cNvSpPr/>
          <p:nvPr/>
        </p:nvSpPr>
        <p:spPr>
          <a:xfrm>
            <a:off x="3860000" y="354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17"/>
          <p:cNvSpPr/>
          <p:nvPr/>
        </p:nvSpPr>
        <p:spPr>
          <a:xfrm>
            <a:off x="3860000" y="354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17"/>
          <p:cNvSpPr/>
          <p:nvPr/>
        </p:nvSpPr>
        <p:spPr>
          <a:xfrm>
            <a:off x="4020000" y="362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领域本体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15" name="Google Shape;1415;p17"/>
          <p:cNvSpPr/>
          <p:nvPr/>
        </p:nvSpPr>
        <p:spPr>
          <a:xfrm>
            <a:off x="4020000" y="394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银行/监管分类体系，供智能体推理时查询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p18"/>
          <p:cNvSpPr txBox="1"/>
          <p:nvPr>
            <p:ph type="title"/>
          </p:nvPr>
        </p:nvSpPr>
        <p:spPr>
          <a:xfrm>
            <a:off x="533400" y="284250"/>
            <a:ext cx="84687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共建2：集中式VectorDB &amp; 多模态搜索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21" name="Google Shape;1421;p18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现状：各项目间无集中式向量索引或多模态元数据存储。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22" name="Google Shape;1422;p18"/>
          <p:cNvSpPr/>
          <p:nvPr/>
        </p:nvSpPr>
        <p:spPr>
          <a:xfrm>
            <a:off x="566925" y="162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CAI现状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18"/>
          <p:cNvSpPr/>
          <p:nvPr/>
        </p:nvSpPr>
        <p:spPr>
          <a:xfrm>
            <a:off x="566925" y="19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6F6F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每个项目各自孤立搭建RAG存储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24" name="Google Shape;1424;p18"/>
          <p:cNvSpPr/>
          <p:nvPr/>
        </p:nvSpPr>
        <p:spPr>
          <a:xfrm>
            <a:off x="1697900" y="2900000"/>
            <a:ext cx="240000" cy="24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5" name="Google Shape;1425;p18"/>
          <p:cNvSpPr/>
          <p:nvPr/>
        </p:nvSpPr>
        <p:spPr>
          <a:xfrm>
            <a:off x="566925" y="32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DED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嵌入向量不共享 · 会话间上下文丢失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26" name="Google Shape;1426;p18"/>
          <p:cNvSpPr/>
          <p:nvPr/>
        </p:nvSpPr>
        <p:spPr>
          <a:xfrm>
            <a:off x="3220000" y="2650000"/>
            <a:ext cx="4800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7" name="Google Shape;1427;p18"/>
          <p:cNvSpPr/>
          <p:nvPr/>
        </p:nvSpPr>
        <p:spPr>
          <a:xfrm>
            <a:off x="3860000" y="162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8" name="Google Shape;1428;p18"/>
          <p:cNvSpPr/>
          <p:nvPr/>
        </p:nvSpPr>
        <p:spPr>
          <a:xfrm>
            <a:off x="3860000" y="162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18"/>
          <p:cNvSpPr/>
          <p:nvPr/>
        </p:nvSpPr>
        <p:spPr>
          <a:xfrm>
            <a:off x="4020000" y="170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集中式向量索引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30" name="Google Shape;1430;p18"/>
          <p:cNvSpPr/>
          <p:nvPr/>
        </p:nvSpPr>
        <p:spPr>
          <a:xfrm>
            <a:off x="4020000" y="202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类LanceDB存储，跨所有项目共享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31" name="Google Shape;1431;p18"/>
          <p:cNvSpPr/>
          <p:nvPr/>
        </p:nvSpPr>
        <p:spPr>
          <a:xfrm>
            <a:off x="3860000" y="258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18"/>
          <p:cNvSpPr/>
          <p:nvPr/>
        </p:nvSpPr>
        <p:spPr>
          <a:xfrm>
            <a:off x="3860000" y="2580000"/>
            <a:ext cx="54900" cy="83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18"/>
          <p:cNvSpPr/>
          <p:nvPr/>
        </p:nvSpPr>
        <p:spPr>
          <a:xfrm>
            <a:off x="4020000" y="266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多模态嵌入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34" name="Google Shape;1434;p18"/>
          <p:cNvSpPr/>
          <p:nvPr/>
        </p:nvSpPr>
        <p:spPr>
          <a:xfrm>
            <a:off x="4020000" y="298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文本、图像 &amp; 结构化元数据统一可查询索引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35" name="Google Shape;1435;p18"/>
          <p:cNvSpPr/>
          <p:nvPr/>
        </p:nvSpPr>
        <p:spPr>
          <a:xfrm>
            <a:off x="3860000" y="354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6" name="Google Shape;1436;p18"/>
          <p:cNvSpPr/>
          <p:nvPr/>
        </p:nvSpPr>
        <p:spPr>
          <a:xfrm>
            <a:off x="3860000" y="354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18"/>
          <p:cNvSpPr/>
          <p:nvPr/>
        </p:nvSpPr>
        <p:spPr>
          <a:xfrm>
            <a:off x="4020000" y="362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共享检索API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38" name="Google Shape;1438;p18"/>
          <p:cNvSpPr/>
          <p:nvPr/>
        </p:nvSpPr>
        <p:spPr>
          <a:xfrm>
            <a:off x="4020000" y="394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所有Agent Studio工作流调用同一受治理端点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39" name="Google Shape;1439;p18"/>
          <p:cNvSpPr/>
          <p:nvPr/>
        </p:nvSpPr>
        <p:spPr>
          <a:xfrm>
            <a:off x="567003" y="441879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AI共建：集中索引 + 嵌入流水线 + 检索API，无需再逐项目重建RAG。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19"/>
          <p:cNvSpPr txBox="1"/>
          <p:nvPr>
            <p:ph type="title"/>
          </p:nvPr>
        </p:nvSpPr>
        <p:spPr>
          <a:xfrm>
            <a:off x="533400" y="284250"/>
            <a:ext cx="82353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共建3：MCP生态 &amp; 智能体上下文记忆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45" name="Google Shape;1445;p19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已交付：Iceberg MCP（预览版）· Workbench MCP（约105个工具）· CDV MCP，但尚无中央网关或企业级记忆。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46" name="Google Shape;1446;p19"/>
          <p:cNvSpPr/>
          <p:nvPr/>
        </p:nvSpPr>
        <p:spPr>
          <a:xfrm>
            <a:off x="566925" y="1620000"/>
            <a:ext cx="2500000" cy="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5A5A7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CAI现状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7" name="Google Shape;1447;p19"/>
          <p:cNvSpPr/>
          <p:nvPr/>
        </p:nvSpPr>
        <p:spPr>
          <a:xfrm>
            <a:off x="566925" y="19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6F6F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5154A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3个MCP服务器；无中央网关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48" name="Google Shape;1448;p19"/>
          <p:cNvSpPr/>
          <p:nvPr/>
        </p:nvSpPr>
        <p:spPr>
          <a:xfrm>
            <a:off x="1697900" y="2900000"/>
            <a:ext cx="240000" cy="24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19"/>
          <p:cNvSpPr/>
          <p:nvPr/>
        </p:nvSpPr>
        <p:spPr>
          <a:xfrm>
            <a:off x="566925" y="3250000"/>
            <a:ext cx="2500000" cy="850000"/>
          </a:xfrm>
          <a:prstGeom prst="roundRect">
            <a:avLst>
              <a:gd fmla="val 5000" name="adj"/>
            </a:avLst>
          </a:prstGeom>
          <a:solidFill>
            <a:srgbClr val="FDEDE8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6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LightMem仅限单工作流，无受治理的企业级记忆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50" name="Google Shape;1450;p19"/>
          <p:cNvSpPr/>
          <p:nvPr/>
        </p:nvSpPr>
        <p:spPr>
          <a:xfrm>
            <a:off x="3220000" y="2650000"/>
            <a:ext cx="480000" cy="4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19"/>
          <p:cNvSpPr/>
          <p:nvPr/>
        </p:nvSpPr>
        <p:spPr>
          <a:xfrm>
            <a:off x="3860000" y="162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9"/>
          <p:cNvSpPr/>
          <p:nvPr/>
        </p:nvSpPr>
        <p:spPr>
          <a:xfrm>
            <a:off x="3860000" y="162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19"/>
          <p:cNvSpPr/>
          <p:nvPr/>
        </p:nvSpPr>
        <p:spPr>
          <a:xfrm>
            <a:off x="4020000" y="170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新增MCP服务器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54" name="Google Shape;1454;p19"/>
          <p:cNvSpPr/>
          <p:nvPr/>
        </p:nvSpPr>
        <p:spPr>
          <a:xfrm>
            <a:off x="4020000" y="202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对象存储、Kafka、模型注册表，扩大受治理工具覆盖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55" name="Google Shape;1455;p19"/>
          <p:cNvSpPr/>
          <p:nvPr/>
        </p:nvSpPr>
        <p:spPr>
          <a:xfrm>
            <a:off x="3860000" y="258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19"/>
          <p:cNvSpPr/>
          <p:nvPr/>
        </p:nvSpPr>
        <p:spPr>
          <a:xfrm>
            <a:off x="3860000" y="2580000"/>
            <a:ext cx="54900" cy="830000"/>
          </a:xfrm>
          <a:prstGeom prst="rect">
            <a:avLst/>
          </a:prstGeom>
          <a:solidFill>
            <a:srgbClr val="4F4FF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19"/>
          <p:cNvSpPr/>
          <p:nvPr/>
        </p:nvSpPr>
        <p:spPr>
          <a:xfrm>
            <a:off x="4020000" y="266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MCP网关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58" name="Google Shape;1458;p19"/>
          <p:cNvSpPr/>
          <p:nvPr/>
        </p:nvSpPr>
        <p:spPr>
          <a:xfrm>
            <a:off x="4020000" y="298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为每次工具调用提供集中鉴权、限流 &amp; 审计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59" name="Google Shape;1459;p19"/>
          <p:cNvSpPr/>
          <p:nvPr/>
        </p:nvSpPr>
        <p:spPr>
          <a:xfrm>
            <a:off x="3860000" y="3540000"/>
            <a:ext cx="4717000" cy="8300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19"/>
          <p:cNvSpPr/>
          <p:nvPr/>
        </p:nvSpPr>
        <p:spPr>
          <a:xfrm>
            <a:off x="3860000" y="3540000"/>
            <a:ext cx="54900" cy="830000"/>
          </a:xfrm>
          <a:prstGeom prst="rect">
            <a:avLst/>
          </a:prstGeom>
          <a:solidFill>
            <a:srgbClr val="EE5A2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19"/>
          <p:cNvSpPr/>
          <p:nvPr/>
        </p:nvSpPr>
        <p:spPr>
          <a:xfrm>
            <a:off x="4020000" y="3620000"/>
            <a:ext cx="4437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智能体记忆层</a:t>
            </a:r>
            <a:endParaRPr b="0" i="0" sz="1400" u="none" cap="none" strike="noStrike">
              <a:solidFill>
                <a:srgbClr val="000000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462" name="Google Shape;1462;p19"/>
          <p:cNvSpPr/>
          <p:nvPr/>
        </p:nvSpPr>
        <p:spPr>
          <a:xfrm>
            <a:off x="4020000" y="3940000"/>
            <a:ext cx="4417000" cy="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5A5A72"/>
                </a:solidFill>
                <a:latin typeface="Plus Jakarta Sans Light"/>
                <a:ea typeface="Plus Jakarta Sans Light"/>
                <a:cs typeface="Plus Jakarta Sans Light"/>
                <a:sym typeface="Plus Jakarta Sans Light"/>
              </a:rPr>
              <a:t>会话状态跨工作流运行、智能体与团队持久保存</a:t>
            </a:r>
            <a:endParaRPr b="0" i="0" sz="1400" u="none" cap="none" strike="noStrike">
              <a:solidFill>
                <a:srgbClr val="000000"/>
              </a:solidFill>
              <a:latin typeface="Plus Jakarta Sans Light"/>
              <a:ea typeface="Plus Jakarta Sans Light"/>
              <a:cs typeface="Plus Jakarta Sans Light"/>
              <a:sym typeface="Plus Jakarta Sans Light"/>
            </a:endParaRPr>
          </a:p>
        </p:txBody>
      </p:sp>
      <p:sp>
        <p:nvSpPr>
          <p:cNvPr id="1463" name="Google Shape;1463;p19"/>
          <p:cNvSpPr/>
          <p:nvPr/>
        </p:nvSpPr>
        <p:spPr>
          <a:xfrm>
            <a:off x="567003" y="4369999"/>
            <a:ext cx="801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1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AI共建：新MCP服务器 + 网关 + 企业记忆层，与SDX治理集成。</a:t>
            </a:r>
            <a:endParaRPr b="0" i="0" sz="11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22"/>
          <p:cNvSpPr txBox="1"/>
          <p:nvPr>
            <p:ph type="title"/>
          </p:nvPr>
        </p:nvSpPr>
        <p:spPr>
          <a:xfrm>
            <a:off x="533400" y="284253"/>
            <a:ext cx="7080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 sz="2300">
                <a:latin typeface="Plus Jakarta Sans"/>
                <a:ea typeface="Plus Jakarta Sans"/>
                <a:cs typeface="Plus Jakarta Sans"/>
                <a:sym typeface="Plus Jakarta Sans"/>
              </a:rPr>
              <a:t>全局蓝图，全面覆盖</a:t>
            </a:r>
            <a:endParaRPr sz="23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69" name="Google Shape;1469;p22"/>
          <p:cNvSpPr txBox="1"/>
          <p:nvPr>
            <p:ph idx="4294967295" type="body"/>
          </p:nvPr>
        </p:nvSpPr>
        <p:spPr>
          <a:xfrm>
            <a:off x="533400" y="734285"/>
            <a:ext cx="70800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SzPts val="1100"/>
              <a:buFont typeface="Plus Jakarta Sans SemiBold"/>
              <a:buNone/>
            </a:pPr>
            <a:r>
              <a:rPr b="0" i="0" lang="en" sz="1100" u="none" cap="none" strike="noStrike">
                <a:solidFill>
                  <a:schemeClr val="accent2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由Cloudera AI交付 · 合作伙伴路线图 · 与Applied AI共建，打造面向IT与AI基础设施负责人的完整智能体就绪平台。</a:t>
            </a:r>
            <a:endParaRPr b="0" i="0" sz="1100" u="none" cap="none" strike="noStrike">
              <a:solidFill>
                <a:schemeClr val="accent2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70" name="Google Shape;1470;p22"/>
          <p:cNvSpPr/>
          <p:nvPr/>
        </p:nvSpPr>
        <p:spPr>
          <a:xfrm>
            <a:off x="1322000" y="1389775"/>
            <a:ext cx="21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1E844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✅  已交付：今日GA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71" name="Google Shape;1471;p22"/>
          <p:cNvSpPr/>
          <p:nvPr/>
        </p:nvSpPr>
        <p:spPr>
          <a:xfrm>
            <a:off x="3522000" y="1389775"/>
            <a:ext cx="21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B7791F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🟡  路线图 &amp; 合作伙伴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72" name="Google Shape;1472;p22"/>
          <p:cNvSpPr/>
          <p:nvPr/>
        </p:nvSpPr>
        <p:spPr>
          <a:xfrm>
            <a:off x="5722000" y="1389775"/>
            <a:ext cx="21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C23A17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🔴  与Applied AI共建</a:t>
            </a:r>
            <a:endParaRPr b="0" i="0" sz="1400" u="none" cap="none" strike="noStrike">
              <a:solidFill>
                <a:srgbClr val="000000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473" name="Google Shape;1473;p22"/>
          <p:cNvSpPr/>
          <p:nvPr/>
        </p:nvSpPr>
        <p:spPr>
          <a:xfrm>
            <a:off x="1322000" y="178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22"/>
          <p:cNvSpPr/>
          <p:nvPr/>
        </p:nvSpPr>
        <p:spPr>
          <a:xfrm>
            <a:off x="1322000" y="1789775"/>
            <a:ext cx="54900" cy="87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22"/>
          <p:cNvSpPr/>
          <p:nvPr/>
        </p:nvSpPr>
        <p:spPr>
          <a:xfrm>
            <a:off x="1462000" y="186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AI推理：CAII · NIM · vLLM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开放Lakehouse：Iceberg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Registry → CICD晋级发布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76" name="Google Shape;1476;p22"/>
          <p:cNvSpPr/>
          <p:nvPr/>
        </p:nvSpPr>
        <p:spPr>
          <a:xfrm>
            <a:off x="3522000" y="178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22"/>
          <p:cNvSpPr/>
          <p:nvPr/>
        </p:nvSpPr>
        <p:spPr>
          <a:xfrm>
            <a:off x="3522000" y="1789775"/>
            <a:ext cx="54900" cy="87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8" name="Google Shape;1478;p22"/>
          <p:cNvSpPr/>
          <p:nvPr/>
        </p:nvSpPr>
        <p:spPr>
          <a:xfrm>
            <a:off x="3662000" y="186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NVIDIA联合工程（36×推理性能）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Iceberg MCP：预览版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79" name="Google Shape;1479;p22"/>
          <p:cNvSpPr/>
          <p:nvPr/>
        </p:nvSpPr>
        <p:spPr>
          <a:xfrm>
            <a:off x="5722000" y="178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22"/>
          <p:cNvSpPr/>
          <p:nvPr/>
        </p:nvSpPr>
        <p:spPr>
          <a:xfrm>
            <a:off x="5722000" y="1789775"/>
            <a:ext cx="54900" cy="8799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22"/>
          <p:cNvSpPr/>
          <p:nvPr/>
        </p:nvSpPr>
        <p:spPr>
          <a:xfrm>
            <a:off x="5862000" y="186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自定义模型接入 &amp; 服务封装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2" name="Google Shape;1482;p22"/>
          <p:cNvSpPr/>
          <p:nvPr/>
        </p:nvSpPr>
        <p:spPr>
          <a:xfrm>
            <a:off x="1322000" y="276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22"/>
          <p:cNvSpPr/>
          <p:nvPr/>
        </p:nvSpPr>
        <p:spPr>
          <a:xfrm>
            <a:off x="1322000" y="2769775"/>
            <a:ext cx="54900" cy="87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22"/>
          <p:cNvSpPr/>
          <p:nvPr/>
        </p:nvSpPr>
        <p:spPr>
          <a:xfrm>
            <a:off x="1462000" y="2849775"/>
            <a:ext cx="1937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Studio 3.0：低代码构建器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Studios：RAG · 合成数据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一键部署为端点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5" name="Google Shape;1485;p22"/>
          <p:cNvSpPr/>
          <p:nvPr/>
        </p:nvSpPr>
        <p:spPr>
          <a:xfrm>
            <a:off x="3522000" y="276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22"/>
          <p:cNvSpPr/>
          <p:nvPr/>
        </p:nvSpPr>
        <p:spPr>
          <a:xfrm>
            <a:off x="3522000" y="2769775"/>
            <a:ext cx="54900" cy="87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22"/>
          <p:cNvSpPr/>
          <p:nvPr/>
        </p:nvSpPr>
        <p:spPr>
          <a:xfrm>
            <a:off x="3662000" y="284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平台MCP服务器：Workbench · CDV · Atlas · Taikun &amp; 更多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8" name="Google Shape;1488;p22"/>
          <p:cNvSpPr/>
          <p:nvPr/>
        </p:nvSpPr>
        <p:spPr>
          <a:xfrm>
            <a:off x="5722000" y="276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9" name="Google Shape;1489;p22"/>
          <p:cNvSpPr/>
          <p:nvPr/>
        </p:nvSpPr>
        <p:spPr>
          <a:xfrm>
            <a:off x="5722000" y="2769775"/>
            <a:ext cx="54900" cy="8799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22"/>
          <p:cNvSpPr/>
          <p:nvPr/>
        </p:nvSpPr>
        <p:spPr>
          <a:xfrm>
            <a:off x="5862000" y="284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知识 &amp; 本体层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集中式向量搜索 &amp; API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智能体市场体验 &amp; 治理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91" name="Google Shape;1491;p22"/>
          <p:cNvSpPr/>
          <p:nvPr/>
        </p:nvSpPr>
        <p:spPr>
          <a:xfrm>
            <a:off x="1322000" y="374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2" name="Google Shape;1492;p22"/>
          <p:cNvSpPr/>
          <p:nvPr/>
        </p:nvSpPr>
        <p:spPr>
          <a:xfrm>
            <a:off x="1322000" y="3749775"/>
            <a:ext cx="54900" cy="8799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3" name="Google Shape;1493;p22"/>
          <p:cNvSpPr/>
          <p:nvPr/>
        </p:nvSpPr>
        <p:spPr>
          <a:xfrm>
            <a:off x="1462000" y="382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SDX：Ranger访问控制 · Atlas血缘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CAI Eval · Phoenix / OTEL追踪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50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E844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Agent Studio护栏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94" name="Google Shape;1494;p22"/>
          <p:cNvSpPr/>
          <p:nvPr/>
        </p:nvSpPr>
        <p:spPr>
          <a:xfrm>
            <a:off x="3522000" y="374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5" name="Google Shape;1495;p22"/>
          <p:cNvSpPr/>
          <p:nvPr/>
        </p:nvSpPr>
        <p:spPr>
          <a:xfrm>
            <a:off x="3522000" y="3749775"/>
            <a:ext cx="54900" cy="8799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22"/>
          <p:cNvSpPr/>
          <p:nvPr/>
        </p:nvSpPr>
        <p:spPr>
          <a:xfrm>
            <a:off x="3662000" y="382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Galileo.AI：评估 · 观测 · 防护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B7791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Galileo Protect：实时防火墙</a:t>
            </a:r>
            <a:endParaRPr b="0" i="0" sz="900" u="none" cap="none" strike="noStrike">
              <a:solidFill>
                <a:srgbClr val="B7791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97" name="Google Shape;1497;p22"/>
          <p:cNvSpPr/>
          <p:nvPr/>
        </p:nvSpPr>
        <p:spPr>
          <a:xfrm>
            <a:off x="5722000" y="3749775"/>
            <a:ext cx="2100000" cy="879900"/>
          </a:xfrm>
          <a:prstGeom prst="roundRect">
            <a:avLst>
              <a:gd fmla="val 3600" name="adj"/>
            </a:avLst>
          </a:prstGeom>
          <a:solidFill>
            <a:srgbClr val="FFFFFF"/>
          </a:solidFill>
          <a:ln cap="flat" cmpd="sng" w="12700">
            <a:solidFill>
              <a:srgbClr val="E2E2EC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22"/>
          <p:cNvSpPr/>
          <p:nvPr/>
        </p:nvSpPr>
        <p:spPr>
          <a:xfrm>
            <a:off x="5722000" y="3749775"/>
            <a:ext cx="54900" cy="879900"/>
          </a:xfrm>
          <a:prstGeom prst="rect">
            <a:avLst/>
          </a:prstGeom>
          <a:solidFill>
            <a:srgbClr val="C23A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22"/>
          <p:cNvSpPr/>
          <p:nvPr/>
        </p:nvSpPr>
        <p:spPr>
          <a:xfrm>
            <a:off x="5862000" y="3829775"/>
            <a:ext cx="18600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MCP网关：鉴权 · 限流 · 审计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250"/>
              </a:spcBef>
              <a:spcAft>
                <a:spcPts val="25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23A1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· </a:t>
            </a:r>
            <a:r>
              <a:rPr b="0" i="0" lang="en" sz="900" u="none" cap="none" strike="noStrike">
                <a:solidFill>
                  <a:srgbClr val="1515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企业记忆 · 自我演进</a:t>
            </a:r>
            <a:endParaRPr b="0" i="0" sz="1400" u="none" cap="none" strike="noStrik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23"/>
          <p:cNvSpPr txBox="1"/>
          <p:nvPr>
            <p:ph idx="4294967295" type="title"/>
          </p:nvPr>
        </p:nvSpPr>
        <p:spPr>
          <a:xfrm>
            <a:off x="812500" y="1200000"/>
            <a:ext cx="7518900" cy="16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b="1" lang="en" sz="41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谢谢</a:t>
            </a:r>
            <a:endParaRPr b="1" sz="41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rPr b="0" lang="en" sz="16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Cloudera AI：面向您集中式私有AI平台的AI就绪数据底座 + Agent Studio框架。</a:t>
            </a:r>
            <a:endParaRPr b="0" sz="16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</a:pPr>
            <a:r>
              <a:rPr b="0" i="1" lang="en" sz="1200">
                <a:solidFill>
                  <a:srgbClr val="C9C9E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AI与您共建前沿模块：本体、智能体记忆、AI网关、智能体自我演进。</a:t>
            </a:r>
            <a:endParaRPr b="0" sz="1200">
              <a:solidFill>
                <a:srgbClr val="C9C9E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loudera Brand Theme">
  <a:themeElements>
    <a:clrScheme name="Cloudera Brand Template ">
      <a:dk1>
        <a:srgbClr val="100045"/>
      </a:dk1>
      <a:lt1>
        <a:srgbClr val="FFFFFF"/>
      </a:lt1>
      <a:dk2>
        <a:srgbClr val="A8AFB9"/>
      </a:dk2>
      <a:lt2>
        <a:srgbClr val="FFFFFF"/>
      </a:lt2>
      <a:accent1>
        <a:srgbClr val="FF550C"/>
      </a:accent1>
      <a:accent2>
        <a:srgbClr val="5555F9"/>
      </a:accent2>
      <a:accent3>
        <a:srgbClr val="110046"/>
      </a:accent3>
      <a:accent4>
        <a:srgbClr val="5555F9"/>
      </a:accent4>
      <a:accent5>
        <a:srgbClr val="FE773C"/>
      </a:accent5>
      <a:accent6>
        <a:srgbClr val="FE8756"/>
      </a:accent6>
      <a:hlink>
        <a:srgbClr val="8789FB"/>
      </a:hlink>
      <a:folHlink>
        <a:srgbClr val="26177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